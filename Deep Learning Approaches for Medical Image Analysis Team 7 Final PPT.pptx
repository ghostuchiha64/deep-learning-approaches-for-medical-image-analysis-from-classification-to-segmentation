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handoutMasterIdLst>
    <p:handoutMasterId r:id="rId23"/>
  </p:handoutMasterIdLst>
  <p:sldIdLst>
    <p:sldId id="256" r:id="rId2"/>
    <p:sldId id="257" r:id="rId3"/>
    <p:sldId id="258" r:id="rId4"/>
    <p:sldId id="259" r:id="rId5"/>
    <p:sldId id="260" r:id="rId6"/>
    <p:sldId id="305" r:id="rId7"/>
    <p:sldId id="261" r:id="rId8"/>
    <p:sldId id="262" r:id="rId9"/>
    <p:sldId id="300" r:id="rId10"/>
    <p:sldId id="299" r:id="rId11"/>
    <p:sldId id="301" r:id="rId12"/>
    <p:sldId id="263" r:id="rId13"/>
    <p:sldId id="302" r:id="rId14"/>
    <p:sldId id="303" r:id="rId15"/>
    <p:sldId id="306" r:id="rId16"/>
    <p:sldId id="307" r:id="rId17"/>
    <p:sldId id="264" r:id="rId18"/>
    <p:sldId id="265" r:id="rId19"/>
    <p:sldId id="304" r:id="rId20"/>
    <p:sldId id="266" r:id="rId21"/>
  </p:sldIdLst>
  <p:sldSz cx="18288000" cy="10287000"/>
  <p:notesSz cx="6858000" cy="9144000"/>
  <p:embeddedFontLst>
    <p:embeddedFont>
      <p:font typeface="Canva Sans" panose="020B0803050000020004" pitchFamily="34" charset="0"/>
      <p:regular r:id="rId24"/>
      <p:bold r:id="rId25"/>
    </p:embeddedFont>
    <p:embeddedFont>
      <p:font typeface="Fira Sans Bold" panose="020B0803050000020004" pitchFamily="34" charset="0"/>
      <p:regular r:id="rId24"/>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2588" autoAdjust="0"/>
  </p:normalViewPr>
  <p:slideViewPr>
    <p:cSldViewPr showGuides="1">
      <p:cViewPr>
        <p:scale>
          <a:sx n="78" d="100"/>
          <a:sy n="78" d="100"/>
        </p:scale>
        <p:origin x="576" y="3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artha Bandi" userId="8d37920aeeb680c2" providerId="LiveId" clId="{D2FF45DD-FCCF-569A-8C8E-D2E797523117}"/>
    <pc:docChg chg="modSld">
      <pc:chgData name="Siddartha Bandi" userId="8d37920aeeb680c2" providerId="LiveId" clId="{D2FF45DD-FCCF-569A-8C8E-D2E797523117}" dt="2025-10-16T20:41:46.204" v="6" actId="1036"/>
      <pc:docMkLst>
        <pc:docMk/>
      </pc:docMkLst>
      <pc:sldChg chg="modSp mod">
        <pc:chgData name="Siddartha Bandi" userId="8d37920aeeb680c2" providerId="LiveId" clId="{D2FF45DD-FCCF-569A-8C8E-D2E797523117}" dt="2025-10-12T17:16:36.867" v="4" actId="20577"/>
        <pc:sldMkLst>
          <pc:docMk/>
          <pc:sldMk cId="0" sldId="257"/>
        </pc:sldMkLst>
        <pc:spChg chg="mod">
          <ac:chgData name="Siddartha Bandi" userId="8d37920aeeb680c2" providerId="LiveId" clId="{D2FF45DD-FCCF-569A-8C8E-D2E797523117}" dt="2025-10-12T17:16:36.867" v="4" actId="20577"/>
          <ac:spMkLst>
            <pc:docMk/>
            <pc:sldMk cId="0" sldId="257"/>
            <ac:spMk id="20" creationId="{00000000-0000-0000-0000-000000000000}"/>
          </ac:spMkLst>
        </pc:spChg>
      </pc:sldChg>
      <pc:sldChg chg="modSp mod">
        <pc:chgData name="Siddartha Bandi" userId="8d37920aeeb680c2" providerId="LiveId" clId="{D2FF45DD-FCCF-569A-8C8E-D2E797523117}" dt="2025-10-16T20:41:46.204" v="6" actId="1036"/>
        <pc:sldMkLst>
          <pc:docMk/>
          <pc:sldMk cId="0" sldId="260"/>
        </pc:sldMkLst>
        <pc:picChg chg="mod">
          <ac:chgData name="Siddartha Bandi" userId="8d37920aeeb680c2" providerId="LiveId" clId="{D2FF45DD-FCCF-569A-8C8E-D2E797523117}" dt="2025-10-16T20:41:46.204" v="6" actId="1036"/>
          <ac:picMkLst>
            <pc:docMk/>
            <pc:sldMk cId="0" sldId="260"/>
            <ac:picMk id="9" creationId="{EA16D778-CAD3-4BB1-AB18-A0F02540EEB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AFDC6A-FD61-8FD7-092B-60F788FB97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1A57F4-703B-9839-7C43-97DF8F4C0E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79EEEB-0C86-42BA-B5D1-D7FE3D1C88BE}" type="datetimeFigureOut">
              <a:rPr lang="en-US" smtClean="0"/>
              <a:t>10/16/25</a:t>
            </a:fld>
            <a:endParaRPr lang="en-US"/>
          </a:p>
        </p:txBody>
      </p:sp>
      <p:sp>
        <p:nvSpPr>
          <p:cNvPr id="4" name="Footer Placeholder 3">
            <a:extLst>
              <a:ext uri="{FF2B5EF4-FFF2-40B4-BE49-F238E27FC236}">
                <a16:creationId xmlns:a16="http://schemas.microsoft.com/office/drawing/2014/main" id="{2F16E5AE-0398-5FCB-442E-BB409B0981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245A99-3CF7-D7A2-6EE4-ED8ECC9E4C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5127202-5ABF-4B79-98EA-617D0F2F85FD}" type="slidenum">
              <a:rPr lang="en-US" smtClean="0"/>
              <a:t>‹#›</a:t>
            </a:fld>
            <a:endParaRPr lang="en-US"/>
          </a:p>
        </p:txBody>
      </p:sp>
    </p:spTree>
    <p:extLst>
      <p:ext uri="{BB962C8B-B14F-4D97-AF65-F5344CB8AC3E}">
        <p14:creationId xmlns:p14="http://schemas.microsoft.com/office/powerpoint/2010/main" val="35290894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16.10.2025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1F2AF-EC5D-25F2-E871-D4BD39930F3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B7FD5A-3FC5-6DE9-0FF6-E4336E8D191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a:extLst>
              <a:ext uri="{FF2B5EF4-FFF2-40B4-BE49-F238E27FC236}">
                <a16:creationId xmlns:a16="http://schemas.microsoft.com/office/drawing/2014/main" id="{04EF4AA0-50FF-5A01-D20C-A010EF3F56B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F31A0A6-4E92-B58C-7806-A2A2D64B066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a:extLst>
              <a:ext uri="{FF2B5EF4-FFF2-40B4-BE49-F238E27FC236}">
                <a16:creationId xmlns:a16="http://schemas.microsoft.com/office/drawing/2014/main" id="{FB6A82CE-62B8-E492-51AD-9D7CCAFBE79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32696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dirty="0">
                <a:solidFill>
                  <a:schemeClr val="tx1"/>
                </a:solidFill>
                <a:effectLst/>
                <a:latin typeface="+mn-lt"/>
                <a:ea typeface="+mn-ea"/>
                <a:cs typeface="+mn-cs"/>
              </a:rPr>
              <a:t>Now, let’s talk about </a:t>
            </a:r>
            <a:r>
              <a:rPr lang="en-IN" sz="1200" b="1" i="0" u="none" strike="noStrike" kern="1200" dirty="0">
                <a:solidFill>
                  <a:schemeClr val="tx1"/>
                </a:solidFill>
                <a:effectLst/>
                <a:latin typeface="+mn-lt"/>
                <a:ea typeface="+mn-ea"/>
                <a:cs typeface="+mn-cs"/>
              </a:rPr>
              <a:t>U-Net</a:t>
            </a:r>
            <a:r>
              <a:rPr lang="en-IN" sz="1200" b="0" i="0" u="none" strike="noStrike" kern="1200" dirty="0">
                <a:solidFill>
                  <a:schemeClr val="tx1"/>
                </a:solidFill>
                <a:effectLst/>
                <a:latin typeface="+mn-lt"/>
                <a:ea typeface="+mn-ea"/>
                <a:cs typeface="+mn-cs"/>
              </a:rPr>
              <a:t>, one of the most popular deep learning architectures for </a:t>
            </a:r>
            <a:r>
              <a:rPr lang="en-IN" sz="1200" b="1" i="0" u="none" strike="noStrike" kern="1200" dirty="0">
                <a:solidFill>
                  <a:schemeClr val="tx1"/>
                </a:solidFill>
                <a:effectLst/>
                <a:latin typeface="+mn-lt"/>
                <a:ea typeface="+mn-ea"/>
                <a:cs typeface="+mn-cs"/>
              </a:rPr>
              <a:t>medical image segmentation</a:t>
            </a:r>
            <a:r>
              <a:rPr lang="en-IN" sz="1200" b="0" i="0" u="none" strike="noStrike" kern="1200" dirty="0">
                <a:solidFill>
                  <a:schemeClr val="tx1"/>
                </a:solidFill>
                <a:effectLst/>
                <a:latin typeface="+mn-lt"/>
                <a:ea typeface="+mn-ea"/>
                <a:cs typeface="+mn-cs"/>
              </a:rPr>
              <a:t>.</a:t>
            </a:r>
            <a:br>
              <a:rPr lang="en-IN" dirty="0"/>
            </a:br>
            <a:r>
              <a:rPr lang="en-IN" sz="1200" b="0" i="0" u="none" strike="noStrike" kern="1200" dirty="0">
                <a:solidFill>
                  <a:schemeClr val="tx1"/>
                </a:solidFill>
                <a:effectLst/>
                <a:latin typeface="+mn-lt"/>
                <a:ea typeface="+mn-ea"/>
                <a:cs typeface="+mn-cs"/>
              </a:rPr>
              <a:t>U-Net was first proposed in 2015 by Olaf </a:t>
            </a:r>
            <a:r>
              <a:rPr lang="en-IN" sz="1200" b="0" i="0" u="none" strike="noStrike" kern="1200" dirty="0" err="1">
                <a:solidFill>
                  <a:schemeClr val="tx1"/>
                </a:solidFill>
                <a:effectLst/>
                <a:latin typeface="+mn-lt"/>
                <a:ea typeface="+mn-ea"/>
                <a:cs typeface="+mn-cs"/>
              </a:rPr>
              <a:t>Ronneberger</a:t>
            </a:r>
            <a:r>
              <a:rPr lang="en-IN" sz="1200" b="0" i="0" u="none" strike="noStrike" kern="1200" dirty="0">
                <a:solidFill>
                  <a:schemeClr val="tx1"/>
                </a:solidFill>
                <a:effectLst/>
                <a:latin typeface="+mn-lt"/>
                <a:ea typeface="+mn-ea"/>
                <a:cs typeface="+mn-cs"/>
              </a:rPr>
              <a:t> and his team for biomedical image segmentation tasks.</a:t>
            </a:r>
            <a:br>
              <a:rPr lang="en-IN" dirty="0"/>
            </a:br>
            <a:r>
              <a:rPr lang="en-IN" sz="1200" b="0" i="0" u="none" strike="noStrike" kern="1200" dirty="0">
                <a:solidFill>
                  <a:schemeClr val="tx1"/>
                </a:solidFill>
                <a:effectLst/>
                <a:latin typeface="+mn-lt"/>
                <a:ea typeface="+mn-ea"/>
                <a:cs typeface="+mn-cs"/>
              </a:rPr>
              <a:t>The key idea behind U-Net is that it performs </a:t>
            </a:r>
            <a:r>
              <a:rPr lang="en-IN" sz="1200" b="1" i="0" u="none" strike="noStrike" kern="1200" dirty="0">
                <a:solidFill>
                  <a:schemeClr val="tx1"/>
                </a:solidFill>
                <a:effectLst/>
                <a:latin typeface="+mn-lt"/>
                <a:ea typeface="+mn-ea"/>
                <a:cs typeface="+mn-cs"/>
              </a:rPr>
              <a:t>pixel-wise classification</a:t>
            </a:r>
            <a:r>
              <a:rPr lang="en-IN" sz="1200" b="0" i="0" u="none" strike="noStrike" kern="1200" dirty="0">
                <a:solidFill>
                  <a:schemeClr val="tx1"/>
                </a:solidFill>
                <a:effectLst/>
                <a:latin typeface="+mn-lt"/>
                <a:ea typeface="+mn-ea"/>
                <a:cs typeface="+mn-cs"/>
              </a:rPr>
              <a:t>, meaning that each pixel in the image is </a:t>
            </a:r>
            <a:r>
              <a:rPr lang="en-IN" sz="1200" b="0" i="0" u="none" strike="noStrike" kern="1200" dirty="0" err="1">
                <a:solidFill>
                  <a:schemeClr val="tx1"/>
                </a:solidFill>
                <a:effectLst/>
                <a:latin typeface="+mn-lt"/>
                <a:ea typeface="+mn-ea"/>
                <a:cs typeface="+mn-cs"/>
              </a:rPr>
              <a:t>labeled</a:t>
            </a:r>
            <a:r>
              <a:rPr lang="en-IN" sz="1200" b="0" i="0" u="none" strike="noStrike" kern="1200" dirty="0">
                <a:solidFill>
                  <a:schemeClr val="tx1"/>
                </a:solidFill>
                <a:effectLst/>
                <a:latin typeface="+mn-lt"/>
                <a:ea typeface="+mn-ea"/>
                <a:cs typeface="+mn-cs"/>
              </a:rPr>
              <a:t> as part of a structure, such as a </a:t>
            </a:r>
            <a:r>
              <a:rPr lang="en-IN" sz="1200" b="0" i="0" u="none" strike="noStrike" kern="1200" dirty="0" err="1">
                <a:solidFill>
                  <a:schemeClr val="tx1"/>
                </a:solidFill>
                <a:effectLst/>
                <a:latin typeface="+mn-lt"/>
                <a:ea typeface="+mn-ea"/>
                <a:cs typeface="+mn-cs"/>
              </a:rPr>
              <a:t>tumor</a:t>
            </a:r>
            <a:r>
              <a:rPr lang="en-IN" sz="1200" b="0" i="0" u="none" strike="noStrike" kern="1200" dirty="0">
                <a:solidFill>
                  <a:schemeClr val="tx1"/>
                </a:solidFill>
                <a:effectLst/>
                <a:latin typeface="+mn-lt"/>
                <a:ea typeface="+mn-ea"/>
                <a:cs typeface="+mn-cs"/>
              </a:rPr>
              <a:t> or organ, or as background.</a:t>
            </a:r>
            <a:br>
              <a:rPr lang="en-IN" dirty="0"/>
            </a:br>
            <a:r>
              <a:rPr lang="en-IN" sz="1200" b="0" i="0" u="none" strike="noStrike" kern="1200" dirty="0">
                <a:solidFill>
                  <a:schemeClr val="tx1"/>
                </a:solidFill>
                <a:effectLst/>
                <a:latin typeface="+mn-lt"/>
                <a:ea typeface="+mn-ea"/>
                <a:cs typeface="+mn-cs"/>
              </a:rPr>
              <a:t>Unlike regular CNNs that only extract features and classify entire images, U-Net learns to </a:t>
            </a:r>
            <a:r>
              <a:rPr lang="en-IN" sz="1200" b="1" i="0" u="none" strike="noStrike" kern="1200" dirty="0">
                <a:solidFill>
                  <a:schemeClr val="tx1"/>
                </a:solidFill>
                <a:effectLst/>
                <a:latin typeface="+mn-lt"/>
                <a:ea typeface="+mn-ea"/>
                <a:cs typeface="+mn-cs"/>
              </a:rPr>
              <a:t>locate and label objects precisely</a:t>
            </a:r>
            <a:r>
              <a:rPr lang="en-IN" sz="1200" b="0" i="0" u="none" strike="noStrike" kern="1200" dirty="0">
                <a:solidFill>
                  <a:schemeClr val="tx1"/>
                </a:solidFill>
                <a:effectLst/>
                <a:latin typeface="+mn-lt"/>
                <a:ea typeface="+mn-ea"/>
                <a:cs typeface="+mn-cs"/>
              </a:rPr>
              <a:t>, even when the dataset is small.</a:t>
            </a:r>
            <a:br>
              <a:rPr lang="en-IN" dirty="0"/>
            </a:br>
            <a:r>
              <a:rPr lang="en-IN" sz="1200" b="0" i="0" u="none" strike="noStrike" kern="1200" dirty="0">
                <a:solidFill>
                  <a:schemeClr val="tx1"/>
                </a:solidFill>
                <a:effectLst/>
                <a:latin typeface="+mn-lt"/>
                <a:ea typeface="+mn-ea"/>
                <a:cs typeface="+mn-cs"/>
              </a:rPr>
              <a:t>It’s called </a:t>
            </a:r>
            <a:r>
              <a:rPr lang="en-IN" sz="1200" b="0" i="1" u="none" strike="noStrike" kern="1200" dirty="0">
                <a:solidFill>
                  <a:schemeClr val="tx1"/>
                </a:solidFill>
                <a:effectLst/>
                <a:latin typeface="+mn-lt"/>
                <a:ea typeface="+mn-ea"/>
                <a:cs typeface="+mn-cs"/>
              </a:rPr>
              <a:t>U-Net</a:t>
            </a:r>
            <a:r>
              <a:rPr lang="en-IN" sz="1200" b="0" i="0" u="none" strike="noStrike" kern="1200" dirty="0">
                <a:solidFill>
                  <a:schemeClr val="tx1"/>
                </a:solidFill>
                <a:effectLst/>
                <a:latin typeface="+mn-lt"/>
                <a:ea typeface="+mn-ea"/>
                <a:cs typeface="+mn-cs"/>
              </a:rPr>
              <a:t> because of its symmetric ‘U’-shaped architecture — with a </a:t>
            </a:r>
            <a:r>
              <a:rPr lang="en-IN" sz="1200" b="1" i="0" u="none" strike="noStrike" kern="1200" dirty="0">
                <a:solidFill>
                  <a:schemeClr val="tx1"/>
                </a:solidFill>
                <a:effectLst/>
                <a:latin typeface="+mn-lt"/>
                <a:ea typeface="+mn-ea"/>
                <a:cs typeface="+mn-cs"/>
              </a:rPr>
              <a:t>contracting path</a:t>
            </a:r>
            <a:r>
              <a:rPr lang="en-IN" sz="1200" b="0" i="0" u="none" strike="noStrike" kern="1200" dirty="0">
                <a:solidFill>
                  <a:schemeClr val="tx1"/>
                </a:solidFill>
                <a:effectLst/>
                <a:latin typeface="+mn-lt"/>
                <a:ea typeface="+mn-ea"/>
                <a:cs typeface="+mn-cs"/>
              </a:rPr>
              <a:t> on the left and an </a:t>
            </a:r>
            <a:r>
              <a:rPr lang="en-IN" sz="1200" b="1" i="0" u="none" strike="noStrike" kern="1200" dirty="0">
                <a:solidFill>
                  <a:schemeClr val="tx1"/>
                </a:solidFill>
                <a:effectLst/>
                <a:latin typeface="+mn-lt"/>
                <a:ea typeface="+mn-ea"/>
                <a:cs typeface="+mn-cs"/>
              </a:rPr>
              <a:t>expanding path</a:t>
            </a:r>
            <a:r>
              <a:rPr lang="en-IN" sz="1200" b="0" i="0" u="none" strike="noStrike" kern="1200" dirty="0">
                <a:solidFill>
                  <a:schemeClr val="tx1"/>
                </a:solidFill>
                <a:effectLst/>
                <a:latin typeface="+mn-lt"/>
                <a:ea typeface="+mn-ea"/>
                <a:cs typeface="+mn-cs"/>
              </a:rPr>
              <a:t> on the right.</a:t>
            </a:r>
            <a:endParaRPr lang="en-US"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IN" sz="1200" b="0" i="0" u="none" strike="noStrike" kern="1200" dirty="0">
                <a:solidFill>
                  <a:schemeClr val="tx1"/>
                </a:solidFill>
                <a:effectLst/>
                <a:latin typeface="+mn-lt"/>
                <a:ea typeface="+mn-ea"/>
                <a:cs typeface="+mn-cs"/>
              </a:rPr>
              <a:t>The </a:t>
            </a:r>
            <a:r>
              <a:rPr lang="en-IN" sz="1200" b="1" i="0" u="none" strike="noStrike" kern="1200" dirty="0">
                <a:solidFill>
                  <a:schemeClr val="tx1"/>
                </a:solidFill>
                <a:effectLst/>
                <a:latin typeface="+mn-lt"/>
                <a:ea typeface="+mn-ea"/>
                <a:cs typeface="+mn-cs"/>
              </a:rPr>
              <a:t>U-Net architecture</a:t>
            </a:r>
            <a:r>
              <a:rPr lang="en-IN" sz="1200" b="0" i="0" u="none" strike="noStrike" kern="1200" dirty="0">
                <a:solidFill>
                  <a:schemeClr val="tx1"/>
                </a:solidFill>
                <a:effectLst/>
                <a:latin typeface="+mn-lt"/>
                <a:ea typeface="+mn-ea"/>
                <a:cs typeface="+mn-cs"/>
              </a:rPr>
              <a:t> has three main parts: an </a:t>
            </a:r>
            <a:r>
              <a:rPr lang="en-IN" sz="1200" b="1" i="0" u="none" strike="noStrike" kern="1200" dirty="0">
                <a:solidFill>
                  <a:schemeClr val="tx1"/>
                </a:solidFill>
                <a:effectLst/>
                <a:latin typeface="+mn-lt"/>
                <a:ea typeface="+mn-ea"/>
                <a:cs typeface="+mn-cs"/>
              </a:rPr>
              <a:t>Encoder</a:t>
            </a:r>
            <a:r>
              <a:rPr lang="en-IN" sz="1200" b="0" i="0" u="none" strike="noStrike" kern="1200" dirty="0">
                <a:solidFill>
                  <a:schemeClr val="tx1"/>
                </a:solidFill>
                <a:effectLst/>
                <a:latin typeface="+mn-lt"/>
                <a:ea typeface="+mn-ea"/>
                <a:cs typeface="+mn-cs"/>
              </a:rPr>
              <a:t> and a </a:t>
            </a:r>
            <a:r>
              <a:rPr lang="en-IN" sz="1200" b="1" i="0" u="none" strike="noStrike" kern="1200" dirty="0">
                <a:solidFill>
                  <a:schemeClr val="tx1"/>
                </a:solidFill>
                <a:effectLst/>
                <a:latin typeface="+mn-lt"/>
                <a:ea typeface="+mn-ea"/>
                <a:cs typeface="+mn-cs"/>
              </a:rPr>
              <a:t>Decoder</a:t>
            </a:r>
            <a:r>
              <a:rPr lang="en-IN" sz="1200" b="0" i="0" u="none" strike="noStrike" kern="1200" dirty="0">
                <a:solidFill>
                  <a:schemeClr val="tx1"/>
                </a:solidFill>
                <a:effectLst/>
                <a:latin typeface="+mn-lt"/>
                <a:ea typeface="+mn-ea"/>
                <a:cs typeface="+mn-cs"/>
              </a:rPr>
              <a:t>, connected by </a:t>
            </a:r>
            <a:r>
              <a:rPr lang="en-IN" sz="1200" b="1" i="0" u="none" strike="noStrike" kern="1200" dirty="0">
                <a:solidFill>
                  <a:schemeClr val="tx1"/>
                </a:solidFill>
                <a:effectLst/>
                <a:latin typeface="+mn-lt"/>
                <a:ea typeface="+mn-ea"/>
                <a:cs typeface="+mn-cs"/>
              </a:rPr>
              <a:t>Skip Connections</a:t>
            </a:r>
            <a:r>
              <a:rPr lang="en-IN" sz="1200" b="0" i="0" u="none" strike="noStrike" kern="1200" dirty="0">
                <a:solidFill>
                  <a:schemeClr val="tx1"/>
                </a:solidFill>
                <a:effectLst/>
                <a:latin typeface="+mn-lt"/>
                <a:ea typeface="+mn-ea"/>
                <a:cs typeface="+mn-cs"/>
              </a:rPr>
              <a:t>.</a:t>
            </a:r>
          </a:p>
          <a:p>
            <a:r>
              <a:rPr lang="en-IN" sz="1200" b="0" i="0" u="none" strike="noStrike" kern="1200" dirty="0">
                <a:solidFill>
                  <a:schemeClr val="tx1"/>
                </a:solidFill>
                <a:effectLst/>
                <a:latin typeface="+mn-lt"/>
                <a:ea typeface="+mn-ea"/>
                <a:cs typeface="+mn-cs"/>
              </a:rPr>
              <a:t>The </a:t>
            </a:r>
            <a:r>
              <a:rPr lang="en-IN" sz="1200" b="1" i="0" u="none" strike="noStrike" kern="1200" dirty="0">
                <a:solidFill>
                  <a:schemeClr val="tx1"/>
                </a:solidFill>
                <a:effectLst/>
                <a:latin typeface="+mn-lt"/>
                <a:ea typeface="+mn-ea"/>
                <a:cs typeface="+mn-cs"/>
              </a:rPr>
              <a:t>Encoder</a:t>
            </a:r>
            <a:r>
              <a:rPr lang="en-IN" sz="1200" b="0" i="0" u="none" strike="noStrike" kern="1200" dirty="0">
                <a:solidFill>
                  <a:schemeClr val="tx1"/>
                </a:solidFill>
                <a:effectLst/>
                <a:latin typeface="+mn-lt"/>
                <a:ea typeface="+mn-ea"/>
                <a:cs typeface="+mn-cs"/>
              </a:rPr>
              <a:t>, also called the contracting path, uses convolution and max-pooling layers to extract hierarchical features and reduce spatial size.</a:t>
            </a:r>
          </a:p>
          <a:p>
            <a:r>
              <a:rPr lang="en-IN" sz="1200" b="0" i="0" u="none" strike="noStrike" kern="1200" dirty="0">
                <a:solidFill>
                  <a:schemeClr val="tx1"/>
                </a:solidFill>
                <a:effectLst/>
                <a:latin typeface="+mn-lt"/>
                <a:ea typeface="+mn-ea"/>
                <a:cs typeface="+mn-cs"/>
              </a:rPr>
              <a:t>The </a:t>
            </a:r>
            <a:r>
              <a:rPr lang="en-IN" sz="1200" b="1" i="0" u="none" strike="noStrike" kern="1200" dirty="0">
                <a:solidFill>
                  <a:schemeClr val="tx1"/>
                </a:solidFill>
                <a:effectLst/>
                <a:latin typeface="+mn-lt"/>
                <a:ea typeface="+mn-ea"/>
                <a:cs typeface="+mn-cs"/>
              </a:rPr>
              <a:t>Bottleneck</a:t>
            </a:r>
            <a:r>
              <a:rPr lang="en-IN" sz="1200" b="0" i="0" u="none" strike="noStrike" kern="1200" dirty="0">
                <a:solidFill>
                  <a:schemeClr val="tx1"/>
                </a:solidFill>
                <a:effectLst/>
                <a:latin typeface="+mn-lt"/>
                <a:ea typeface="+mn-ea"/>
                <a:cs typeface="+mn-cs"/>
              </a:rPr>
              <a:t> layer sits at the bottom — it captures the most compressed yet informative representation of the image.</a:t>
            </a:r>
          </a:p>
          <a:p>
            <a:r>
              <a:rPr lang="en-IN" sz="1200" b="0" i="0" u="none" strike="noStrike" kern="1200" dirty="0">
                <a:solidFill>
                  <a:schemeClr val="tx1"/>
                </a:solidFill>
                <a:effectLst/>
                <a:latin typeface="+mn-lt"/>
                <a:ea typeface="+mn-ea"/>
                <a:cs typeface="+mn-cs"/>
              </a:rPr>
              <a:t>The </a:t>
            </a:r>
            <a:r>
              <a:rPr lang="en-IN" sz="1200" b="1" i="0" u="none" strike="noStrike" kern="1200" dirty="0">
                <a:solidFill>
                  <a:schemeClr val="tx1"/>
                </a:solidFill>
                <a:effectLst/>
                <a:latin typeface="+mn-lt"/>
                <a:ea typeface="+mn-ea"/>
                <a:cs typeface="+mn-cs"/>
              </a:rPr>
              <a:t>Decoder</a:t>
            </a:r>
            <a:r>
              <a:rPr lang="en-IN" sz="1200" b="0" i="0" u="none" strike="noStrike" kern="1200" dirty="0">
                <a:solidFill>
                  <a:schemeClr val="tx1"/>
                </a:solidFill>
                <a:effectLst/>
                <a:latin typeface="+mn-lt"/>
                <a:ea typeface="+mn-ea"/>
                <a:cs typeface="+mn-cs"/>
              </a:rPr>
              <a:t>, or the expanding path, up samples the features to recover the original image resolution and localize objects.</a:t>
            </a:r>
          </a:p>
          <a:p>
            <a:r>
              <a:rPr lang="en-IN" sz="1200" b="0" i="0" u="none" strike="noStrike" kern="1200" dirty="0">
                <a:solidFill>
                  <a:schemeClr val="tx1"/>
                </a:solidFill>
                <a:effectLst/>
                <a:latin typeface="+mn-lt"/>
                <a:ea typeface="+mn-ea"/>
                <a:cs typeface="+mn-cs"/>
              </a:rPr>
              <a:t>The </a:t>
            </a:r>
            <a:r>
              <a:rPr lang="en-IN" sz="1200" b="1" i="0" u="none" strike="noStrike" kern="1200" dirty="0">
                <a:solidFill>
                  <a:schemeClr val="tx1"/>
                </a:solidFill>
                <a:effectLst/>
                <a:latin typeface="+mn-lt"/>
                <a:ea typeface="+mn-ea"/>
                <a:cs typeface="+mn-cs"/>
              </a:rPr>
              <a:t>Skip Connections</a:t>
            </a:r>
            <a:r>
              <a:rPr lang="en-IN" sz="1200" b="0" i="0" u="none" strike="noStrike" kern="1200" dirty="0">
                <a:solidFill>
                  <a:schemeClr val="tx1"/>
                </a:solidFill>
                <a:effectLst/>
                <a:latin typeface="+mn-lt"/>
                <a:ea typeface="+mn-ea"/>
                <a:cs typeface="+mn-cs"/>
              </a:rPr>
              <a:t> connect corresponding encoder and decoder layers. They pass detailed spatial information forward, which helps retain edge and boundary details.</a:t>
            </a:r>
          </a:p>
          <a:p>
            <a:r>
              <a:rPr lang="en-IN" sz="1200" b="0" i="0" u="none" strike="noStrike" kern="1200" dirty="0">
                <a:solidFill>
                  <a:schemeClr val="tx1"/>
                </a:solidFill>
                <a:effectLst/>
                <a:latin typeface="+mn-lt"/>
                <a:ea typeface="+mn-ea"/>
                <a:cs typeface="+mn-cs"/>
              </a:rPr>
              <a:t>Finally, a </a:t>
            </a:r>
            <a:r>
              <a:rPr lang="en-IN" sz="1200" b="1" i="0" u="none" strike="noStrike" kern="1200" dirty="0">
                <a:solidFill>
                  <a:schemeClr val="tx1"/>
                </a:solidFill>
                <a:effectLst/>
                <a:latin typeface="+mn-lt"/>
                <a:ea typeface="+mn-ea"/>
                <a:cs typeface="+mn-cs"/>
              </a:rPr>
              <a:t>1×1 convolution layer</a:t>
            </a:r>
            <a:r>
              <a:rPr lang="en-IN" sz="1200" b="0" i="0" u="none" strike="noStrike" kern="1200" dirty="0">
                <a:solidFill>
                  <a:schemeClr val="tx1"/>
                </a:solidFill>
                <a:effectLst/>
                <a:latin typeface="+mn-lt"/>
                <a:ea typeface="+mn-ea"/>
                <a:cs typeface="+mn-cs"/>
              </a:rPr>
              <a:t> maps the features into the final segmentation output — where each pixel is assigned to a specific class.”</a:t>
            </a:r>
          </a:p>
          <a:p>
            <a:endParaRPr lang="en-US"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B5EFC-14F2-A4E4-6836-1B483B5087C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4BAD49-BF3A-1C26-3331-7FB351A0869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a:extLst>
              <a:ext uri="{FF2B5EF4-FFF2-40B4-BE49-F238E27FC236}">
                <a16:creationId xmlns:a16="http://schemas.microsoft.com/office/drawing/2014/main" id="{C1EB8CDE-161C-5774-373F-2E5CBFBB124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6EACCF0-0AA6-70EC-63EE-88EC2789235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IN" sz="1200" b="0" i="0" u="none" strike="noStrike" kern="1200" dirty="0">
                <a:solidFill>
                  <a:schemeClr val="tx1"/>
                </a:solidFill>
                <a:effectLst/>
                <a:latin typeface="+mn-lt"/>
                <a:ea typeface="+mn-ea"/>
                <a:cs typeface="+mn-cs"/>
              </a:rPr>
              <a:t>This diagram clearly shows how the data flows — from input image, through feature extraction, to the final segmentation mask.</a:t>
            </a:r>
            <a:endParaRPr lang="en-US" dirty="0"/>
          </a:p>
        </p:txBody>
      </p:sp>
      <p:sp>
        <p:nvSpPr>
          <p:cNvPr id="7" name="Slide Number Placeholder 6">
            <a:extLst>
              <a:ext uri="{FF2B5EF4-FFF2-40B4-BE49-F238E27FC236}">
                <a16:creationId xmlns:a16="http://schemas.microsoft.com/office/drawing/2014/main" id="{955F0696-5BB6-2ED5-669A-D1B78AF20D6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26999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A21EF-E3E7-80E0-F838-79CE22A335C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F3CCB1-D489-C2B0-FFA9-2DC308BD0F5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a:extLst>
              <a:ext uri="{FF2B5EF4-FFF2-40B4-BE49-F238E27FC236}">
                <a16:creationId xmlns:a16="http://schemas.microsoft.com/office/drawing/2014/main" id="{BD881BAD-32AC-0F53-87AB-3D79E708ABE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4CD8A2B-6255-B25F-5EE0-FC38520B507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IN" sz="1200" b="0" i="0" u="none" strike="noStrike" kern="1200" dirty="0">
                <a:solidFill>
                  <a:schemeClr val="tx1"/>
                </a:solidFill>
                <a:effectLst/>
                <a:latin typeface="+mn-lt"/>
                <a:ea typeface="+mn-ea"/>
                <a:cs typeface="+mn-cs"/>
              </a:rPr>
              <a:t>This diagram clearly shows how the data flows — from input image, through feature extraction, to the final segmentation mask.</a:t>
            </a:r>
            <a:endParaRPr lang="en-US" dirty="0"/>
          </a:p>
        </p:txBody>
      </p:sp>
      <p:sp>
        <p:nvSpPr>
          <p:cNvPr id="7" name="Slide Number Placeholder 6">
            <a:extLst>
              <a:ext uri="{FF2B5EF4-FFF2-40B4-BE49-F238E27FC236}">
                <a16:creationId xmlns:a16="http://schemas.microsoft.com/office/drawing/2014/main" id="{8C767718-1CE9-9172-3E47-7DDFB3717D7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61634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E19DA-201C-130E-0EED-ED30F341E66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436FA8-1038-3885-0FB4-6A7E5791357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a:extLst>
              <a:ext uri="{FF2B5EF4-FFF2-40B4-BE49-F238E27FC236}">
                <a16:creationId xmlns:a16="http://schemas.microsoft.com/office/drawing/2014/main" id="{4243B1B7-49A1-D0D7-A07B-1B0A9C6A726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E49DA63-D223-07C9-1D9B-29338170E88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IN" sz="1200" b="0" i="0" u="none" strike="noStrike" kern="1200" dirty="0">
                <a:solidFill>
                  <a:schemeClr val="tx1"/>
                </a:solidFill>
                <a:effectLst/>
                <a:latin typeface="+mn-lt"/>
                <a:ea typeface="+mn-ea"/>
                <a:cs typeface="+mn-cs"/>
              </a:rPr>
              <a:t>This diagram clearly shows how the data flows — from input image, through feature extraction, to the final segmentation mask.</a:t>
            </a:r>
            <a:endParaRPr lang="en-US" dirty="0"/>
          </a:p>
        </p:txBody>
      </p:sp>
      <p:sp>
        <p:nvSpPr>
          <p:cNvPr id="7" name="Slide Number Placeholder 6">
            <a:extLst>
              <a:ext uri="{FF2B5EF4-FFF2-40B4-BE49-F238E27FC236}">
                <a16:creationId xmlns:a16="http://schemas.microsoft.com/office/drawing/2014/main" id="{CD0FAF24-44B4-43B5-6AD1-4219C92A4E3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95149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Resnet: It skips some connections and process some connections to give better network.</a:t>
            </a:r>
          </a:p>
          <a:p>
            <a:endParaRPr lang="en-US" dirty="0"/>
          </a:p>
          <a:p>
            <a:r>
              <a:rPr lang="en-US" dirty="0"/>
              <a:t>YOLO: It process the entire image into one go to locate the region of interest which provides feedbacks for </a:t>
            </a:r>
            <a:r>
              <a:rPr lang="en-US" dirty="0" err="1"/>
              <a:t>clinincal</a:t>
            </a:r>
            <a:r>
              <a:rPr lang="en-US" dirty="0"/>
              <a:t> screenings or emergency diagnostics.</a:t>
            </a:r>
          </a:p>
          <a:p>
            <a:endParaRPr lang="en-US" dirty="0"/>
          </a:p>
          <a:p>
            <a:r>
              <a:rPr lang="en-US" dirty="0"/>
              <a:t>U-net: Its basically a U shaped architecture which gives a precise detailed structures of the image and it also works for small datasets.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71395-E8D0-5952-5DB5-6474D5323EA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60C4C-DC6F-73C6-4E94-4F7CE795309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a:extLst>
              <a:ext uri="{FF2B5EF4-FFF2-40B4-BE49-F238E27FC236}">
                <a16:creationId xmlns:a16="http://schemas.microsoft.com/office/drawing/2014/main" id="{D9CD65C6-B3B7-8E5A-A3C1-8CB8E61274B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F03ED07-E65E-54CD-7C2F-350B0D2FE66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a:extLst>
              <a:ext uri="{FF2B5EF4-FFF2-40B4-BE49-F238E27FC236}">
                <a16:creationId xmlns:a16="http://schemas.microsoft.com/office/drawing/2014/main" id="{B881DFCE-7080-8B79-2C94-63607683FD5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57782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 stands for "Residual Network." Its main innovation is the skip connection.</a:t>
            </a:r>
          </a:p>
          <a:p>
            <a:endParaRPr lang="en-US"/>
          </a:p>
          <a:p>
            <a:r>
              <a:rPr lang="en-US"/>
              <a:t>It overcomes limitations of older deep learning models, allowing deeper networks without loss of information.</a:t>
            </a:r>
          </a:p>
          <a:p>
            <a:endParaRPr lang="en-US"/>
          </a:p>
          <a:p>
            <a:r>
              <a:rPr lang="en-US"/>
              <a:t>In clinical settings, AI models like ResNet are revolutionizing diagnostics by improving accuracy and speed.</a:t>
            </a:r>
          </a:p>
          <a:p>
            <a:endParaRPr lang="en-US"/>
          </a:p>
          <a:p>
            <a:r>
              <a:rPr lang="en-US"/>
              <a:t>The diagram shows how skip connections jump across layers, ensuring strong information flow.</a:t>
            </a:r>
          </a:p>
          <a:p>
            <a:endParaRPr lang="en-US"/>
          </a:p>
          <a:p>
            <a:r>
              <a:rPr lang="en-US"/>
              <a:t>Key takeaway: Deep networks + skip connections = better performance, especially for critical applications like medical diagnostics.</a:t>
            </a: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1CFE310-7150-4638-88D6-03A80BD84BA4}" type="datetime1">
              <a:rPr lang="en-US" smtClean="0"/>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5C57FF-3AC8-4A65-9219-33C7213D26CA}" type="datetime1">
              <a:rPr lang="en-US" smtClean="0"/>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85F8BC-AB0F-4330-AF1C-BC673F222476}" type="datetime1">
              <a:rPr lang="en-US" smtClean="0"/>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62C4CB1-313F-44FF-87E2-034E3C08E28E}" type="datetime1">
              <a:rPr lang="en-US" smtClean="0"/>
              <a:t>10/16/25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3E8310-3B7B-4E27-A8BD-524F076F03AF}" type="datetime1">
              <a:rPr lang="en-US" smtClean="0"/>
              <a:t>10/16/25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DF5759-0443-4E66-A4CF-C4E581BD8ED6}" type="datetime1">
              <a:rPr lang="en-US" smtClean="0"/>
              <a:t>10/16/25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0838B1-F9DA-44F4-B487-EB7BDC78CED0}" type="datetime1">
              <a:rPr lang="en-US" smtClean="0"/>
              <a:t>10/16/25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9C6553-6667-44B3-82F0-A5E1A21988EF}" type="datetime1">
              <a:rPr lang="en-US" smtClean="0"/>
              <a:t>10/16/25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38B41-E850-491E-AD9A-FD38B8FAF69B}" type="datetime1">
              <a:rPr lang="en-US" smtClean="0"/>
              <a:t>10/16/25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51119B-A149-4EB9-B3A7-94EB71E346EF}" type="datetime1">
              <a:rPr lang="en-US" smtClean="0"/>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7ED778-A996-44D2-A5DC-290F29875440}" type="datetime1">
              <a:rPr lang="en-US" smtClean="0"/>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9B164-8DCB-471A-AB87-685A786E24D0}" type="datetime1">
              <a:rPr lang="en-US" smtClean="0"/>
              <a:t>10/16/25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8" Type="http://schemas.openxmlformats.org/officeDocument/2006/relationships/hyperlink" Target="https://doi.org/10.1038/nature21056" TargetMode="External"/><Relationship Id="rId3" Type="http://schemas.openxmlformats.org/officeDocument/2006/relationships/hyperlink" Target="https://doi.org/10.34133/2021/8786793" TargetMode="External"/><Relationship Id="rId7" Type="http://schemas.openxmlformats.org/officeDocument/2006/relationships/hyperlink" Target="https://doi.org/10.1016/j.media.2017.07.005"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hyperlink" Target="https://arxiv.org/abs/1506.02640" TargetMode="External"/><Relationship Id="rId5" Type="http://schemas.openxmlformats.org/officeDocument/2006/relationships/hyperlink" Target="https://arxiv.org/abs/1505.04597" TargetMode="External"/><Relationship Id="rId4" Type="http://schemas.openxmlformats.org/officeDocument/2006/relationships/hyperlink" Target="https://doi.org/10.1109/CVPR.2016.90" TargetMode="External"/><Relationship Id="rId9" Type="http://schemas.openxmlformats.org/officeDocument/2006/relationships/hyperlink" Target="https://doi.org/10.1146/annurev-bioeng-071516-044442"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316073" cy="10612181"/>
          </a:xfrm>
          <a:custGeom>
            <a:avLst/>
            <a:gdLst/>
            <a:ahLst/>
            <a:cxnLst/>
            <a:rect l="l" t="t" r="r" b="b"/>
            <a:pathLst>
              <a:path w="17980401" h="9908952">
                <a:moveTo>
                  <a:pt x="0" y="0"/>
                </a:moveTo>
                <a:lnTo>
                  <a:pt x="17980400" y="0"/>
                </a:lnTo>
                <a:lnTo>
                  <a:pt x="17980400" y="9908952"/>
                </a:lnTo>
                <a:lnTo>
                  <a:pt x="0" y="9908952"/>
                </a:lnTo>
                <a:lnTo>
                  <a:pt x="0" y="0"/>
                </a:lnTo>
                <a:close/>
              </a:path>
            </a:pathLst>
          </a:custGeom>
          <a:blipFill>
            <a:blip r:embed="rId3"/>
            <a:stretch>
              <a:fillRect l="-33374" r="-13584"/>
            </a:stretch>
          </a:blipFill>
        </p:spPr>
        <p:txBody>
          <a:bodyPr/>
          <a:lstStyle/>
          <a:p>
            <a:endParaRPr lang="en-US" dirty="0">
              <a:solidFill>
                <a:schemeClr val="bg1"/>
              </a:solidFill>
              <a:latin typeface="Canva Sans" panose="020B0604020202020204" charset="0"/>
            </a:endParaRPr>
          </a:p>
        </p:txBody>
      </p:sp>
      <p:sp>
        <p:nvSpPr>
          <p:cNvPr id="3" name="TextBox 3"/>
          <p:cNvSpPr txBox="1"/>
          <p:nvPr/>
        </p:nvSpPr>
        <p:spPr>
          <a:xfrm>
            <a:off x="311727" y="325181"/>
            <a:ext cx="13385399" cy="1897955"/>
          </a:xfrm>
          <a:prstGeom prst="rect">
            <a:avLst/>
          </a:prstGeom>
        </p:spPr>
        <p:txBody>
          <a:bodyPr lIns="0" tIns="0" rIns="0" bIns="0" rtlCol="0" anchor="t">
            <a:spAutoFit/>
          </a:bodyPr>
          <a:lstStyle/>
          <a:p>
            <a:pPr algn="l">
              <a:lnSpc>
                <a:spcPts val="7405"/>
              </a:lnSpc>
            </a:pPr>
            <a:r>
              <a:rPr lang="en-US" sz="6170" b="1">
                <a:solidFill>
                  <a:schemeClr val="bg1"/>
                </a:solidFill>
                <a:latin typeface="Canva Sans" panose="020B0604020202020204" charset="0"/>
                <a:ea typeface="Fira Sans Bold"/>
                <a:cs typeface="Fira Sans Bold"/>
                <a:sym typeface="Fira Sans Bold"/>
              </a:rPr>
              <a:t>Deep Learning Approaches for Medical Image Analysis</a:t>
            </a:r>
          </a:p>
        </p:txBody>
      </p:sp>
      <p:sp>
        <p:nvSpPr>
          <p:cNvPr id="4" name="TextBox 4"/>
          <p:cNvSpPr txBox="1"/>
          <p:nvPr/>
        </p:nvSpPr>
        <p:spPr>
          <a:xfrm>
            <a:off x="311727" y="4433887"/>
            <a:ext cx="8375073" cy="1423467"/>
          </a:xfrm>
          <a:prstGeom prst="rect">
            <a:avLst/>
          </a:prstGeom>
        </p:spPr>
        <p:txBody>
          <a:bodyPr wrap="square" lIns="0" tIns="0" rIns="0" bIns="0" rtlCol="0" anchor="t">
            <a:spAutoFit/>
          </a:bodyPr>
          <a:lstStyle/>
          <a:p>
            <a:pPr algn="l">
              <a:lnSpc>
                <a:spcPts val="3715"/>
              </a:lnSpc>
              <a:spcBef>
                <a:spcPct val="0"/>
              </a:spcBef>
            </a:pPr>
            <a:r>
              <a:rPr lang="en-US" sz="3095" dirty="0">
                <a:solidFill>
                  <a:schemeClr val="bg1"/>
                </a:solidFill>
                <a:latin typeface="Canva Sans" panose="020B0604020202020204" charset="0"/>
                <a:ea typeface="Fira Sans" panose="020B0503050000020004"/>
                <a:cs typeface="Fira Sans" panose="020B0503050000020004"/>
                <a:sym typeface="Fira Sans" panose="020B0503050000020004"/>
              </a:rPr>
              <a:t>Instructor: Fatima Kuehn</a:t>
            </a:r>
          </a:p>
          <a:p>
            <a:pPr algn="l">
              <a:lnSpc>
                <a:spcPts val="3715"/>
              </a:lnSpc>
              <a:spcBef>
                <a:spcPct val="0"/>
              </a:spcBef>
            </a:pPr>
            <a:r>
              <a:rPr lang="en-US" sz="3095" dirty="0">
                <a:solidFill>
                  <a:schemeClr val="bg1"/>
                </a:solidFill>
                <a:latin typeface="Canva Sans" panose="020B0604020202020204" charset="0"/>
                <a:ea typeface="Fira Sans" panose="020B0503050000020004"/>
                <a:cs typeface="Fira Sans" panose="020B0503050000020004"/>
                <a:sym typeface="Fira Sans" panose="020B0503050000020004"/>
              </a:rPr>
              <a:t>Course: DATA 530 – Artificial Intelligence</a:t>
            </a:r>
          </a:p>
          <a:p>
            <a:pPr algn="l">
              <a:lnSpc>
                <a:spcPts val="3715"/>
              </a:lnSpc>
              <a:spcBef>
                <a:spcPct val="0"/>
              </a:spcBef>
            </a:pPr>
            <a:r>
              <a:rPr lang="en-US" sz="3095" dirty="0">
                <a:solidFill>
                  <a:schemeClr val="bg1"/>
                </a:solidFill>
                <a:latin typeface="Canva Sans" panose="020B0604020202020204" charset="0"/>
                <a:ea typeface="Fira Sans" panose="020B0503050000020004"/>
                <a:cs typeface="Fira Sans" panose="020B0503050000020004"/>
                <a:sym typeface="Fira Sans" panose="020B0503050000020004"/>
              </a:rPr>
              <a:t>Deadline: 09/25/25</a:t>
            </a:r>
          </a:p>
        </p:txBody>
      </p:sp>
      <p:sp>
        <p:nvSpPr>
          <p:cNvPr id="5" name="TextBox 5"/>
          <p:cNvSpPr txBox="1"/>
          <p:nvPr/>
        </p:nvSpPr>
        <p:spPr>
          <a:xfrm>
            <a:off x="311727" y="7509809"/>
            <a:ext cx="4914102" cy="2255771"/>
          </a:xfrm>
          <a:prstGeom prst="rect">
            <a:avLst/>
          </a:prstGeom>
        </p:spPr>
        <p:txBody>
          <a:bodyPr lIns="0" tIns="0" rIns="0" bIns="0" rtlCol="0" anchor="t">
            <a:spAutoFit/>
          </a:bodyPr>
          <a:lstStyle/>
          <a:p>
            <a:pPr>
              <a:lnSpc>
                <a:spcPts val="4435"/>
              </a:lnSpc>
              <a:spcBef>
                <a:spcPct val="0"/>
              </a:spcBef>
            </a:pPr>
            <a:r>
              <a:rPr lang="en-US" sz="3695" b="1" dirty="0">
                <a:solidFill>
                  <a:schemeClr val="bg1"/>
                </a:solidFill>
                <a:latin typeface="Canva Sans" panose="020B0604020202020204" charset="0"/>
                <a:ea typeface="Fira Sans Bold"/>
                <a:cs typeface="Fira Sans Bold"/>
                <a:sym typeface="Fira Sans Bold"/>
              </a:rPr>
              <a:t>Team 7</a:t>
            </a:r>
          </a:p>
          <a:p>
            <a:pPr>
              <a:lnSpc>
                <a:spcPts val="4435"/>
              </a:lnSpc>
              <a:spcBef>
                <a:spcPct val="0"/>
              </a:spcBef>
            </a:pPr>
            <a:r>
              <a:rPr lang="en-US" sz="3695" dirty="0" err="1">
                <a:solidFill>
                  <a:schemeClr val="bg1"/>
                </a:solidFill>
                <a:latin typeface="Canva Sans" panose="020B0604020202020204" charset="0"/>
                <a:ea typeface="Fira Sans" panose="020B0503050000020004"/>
                <a:cs typeface="Fira Sans" panose="020B0503050000020004"/>
                <a:sym typeface="Fira Sans" panose="020B0503050000020004"/>
              </a:rPr>
              <a:t>Prabhjyot</a:t>
            </a:r>
            <a:r>
              <a:rPr lang="en-US" sz="3695" dirty="0">
                <a:solidFill>
                  <a:schemeClr val="bg1"/>
                </a:solidFill>
                <a:latin typeface="Canva Sans" panose="020B0604020202020204" charset="0"/>
                <a:ea typeface="Fira Sans" panose="020B0503050000020004"/>
                <a:cs typeface="Fira Sans" panose="020B0503050000020004"/>
                <a:sym typeface="Fira Sans" panose="020B0503050000020004"/>
              </a:rPr>
              <a:t> Chavan</a:t>
            </a:r>
          </a:p>
          <a:p>
            <a:pPr>
              <a:lnSpc>
                <a:spcPts val="4435"/>
              </a:lnSpc>
              <a:spcBef>
                <a:spcPct val="0"/>
              </a:spcBef>
            </a:pPr>
            <a:r>
              <a:rPr lang="en-US" sz="3695" dirty="0">
                <a:solidFill>
                  <a:schemeClr val="bg1"/>
                </a:solidFill>
                <a:latin typeface="Canva Sans" panose="020B0604020202020204" charset="0"/>
                <a:ea typeface="Fira Sans" panose="020B0503050000020004"/>
                <a:cs typeface="Fira Sans" panose="020B0503050000020004"/>
                <a:sym typeface="Fira Sans" panose="020B0503050000020004"/>
              </a:rPr>
              <a:t>Sri Vamsi Chitta</a:t>
            </a:r>
          </a:p>
          <a:p>
            <a:pPr>
              <a:lnSpc>
                <a:spcPts val="4435"/>
              </a:lnSpc>
              <a:spcBef>
                <a:spcPct val="0"/>
              </a:spcBef>
            </a:pPr>
            <a:r>
              <a:rPr lang="en-US" sz="3695" dirty="0">
                <a:solidFill>
                  <a:schemeClr val="bg1"/>
                </a:solidFill>
                <a:latin typeface="Canva Sans" panose="020B0604020202020204" charset="0"/>
                <a:ea typeface="Fira Sans" panose="020B0503050000020004"/>
                <a:cs typeface="Fira Sans" panose="020B0503050000020004"/>
                <a:sym typeface="Fira Sans" panose="020B0503050000020004"/>
              </a:rPr>
              <a:t>Siddartha Bandi</a:t>
            </a:r>
          </a:p>
        </p:txBody>
      </p:sp>
      <p:sp>
        <p:nvSpPr>
          <p:cNvPr id="7" name="Slide Number Placeholder 6">
            <a:extLst>
              <a:ext uri="{FF2B5EF4-FFF2-40B4-BE49-F238E27FC236}">
                <a16:creationId xmlns:a16="http://schemas.microsoft.com/office/drawing/2014/main" id="{49A93E7E-B79B-6961-1C6C-3CC4553874CE}"/>
              </a:ext>
            </a:extLst>
          </p:cNvPr>
          <p:cNvSpPr>
            <a:spLocks noGrp="1"/>
          </p:cNvSpPr>
          <p:nvPr>
            <p:ph type="sldNum" sz="quarter" idx="12"/>
          </p:nvPr>
        </p:nvSpPr>
        <p:spPr>
          <a:xfrm>
            <a:off x="15544800" y="9910669"/>
            <a:ext cx="2133600" cy="365125"/>
          </a:xfrm>
        </p:spPr>
        <p:txBody>
          <a:bodyPr/>
          <a:lstStyle/>
          <a:p>
            <a:fld id="{B6F15528-21DE-4FAA-801E-634DDDAF4B2B}" type="slidenum">
              <a:rPr lang="en-US" sz="1400" b="1" smtClean="0">
                <a:solidFill>
                  <a:schemeClr val="bg1"/>
                </a:solidFill>
                <a:latin typeface="Canva Sans" panose="020B0604020202020204" charset="0"/>
              </a:rPr>
              <a:t>1</a:t>
            </a:fld>
            <a:endParaRPr lang="en-US" sz="1400" b="1" dirty="0">
              <a:solidFill>
                <a:schemeClr val="bg1"/>
              </a:solidFill>
              <a:latin typeface="Canva Sans"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563177"/>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FFFFFF">
                <a:alpha val="0"/>
              </a:srgbClr>
            </a:solidFill>
          </p:spPr>
          <p:txBody>
            <a:bodyPr/>
            <a:lstStyle/>
            <a:p>
              <a:endParaRPr lang="en-US">
                <a:solidFill>
                  <a:schemeClr val="bg1"/>
                </a:solidFill>
                <a:latin typeface="Canva Sans" panose="020B0604020202020204" charset="0"/>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a:solidFill>
                    <a:schemeClr val="bg1"/>
                  </a:solidFill>
                  <a:latin typeface="Canva Sans" panose="020B0604020202020204" charset="0"/>
                  <a:ea typeface="Fira Sans Bold"/>
                  <a:cs typeface="Fira Sans Bold"/>
                  <a:sym typeface="Fira Sans Bold"/>
                </a:rPr>
                <a:t>From Classification to Segmentation</a:t>
              </a:r>
            </a:p>
          </p:txBody>
        </p:sp>
      </p:grpSp>
      <p:grpSp>
        <p:nvGrpSpPr>
          <p:cNvPr id="5" name="Group 5"/>
          <p:cNvGrpSpPr/>
          <p:nvPr/>
        </p:nvGrpSpPr>
        <p:grpSpPr>
          <a:xfrm>
            <a:off x="6594498" y="2219748"/>
            <a:ext cx="1192200" cy="1192200"/>
            <a:chOff x="0" y="0"/>
            <a:chExt cx="1589600" cy="1589600"/>
          </a:xfrm>
        </p:grpSpPr>
        <p:sp>
          <p:nvSpPr>
            <p:cNvPr id="6" name="Freeform 6"/>
            <p:cNvSpPr/>
            <p:nvPr/>
          </p:nvSpPr>
          <p:spPr>
            <a:xfrm>
              <a:off x="0" y="0"/>
              <a:ext cx="1589532" cy="1589532"/>
            </a:xfrm>
            <a:custGeom>
              <a:avLst/>
              <a:gdLst/>
              <a:ahLst/>
              <a:cxnLst/>
              <a:rect l="l" t="t" r="r" b="b"/>
              <a:pathLst>
                <a:path w="1589532" h="1589532">
                  <a:moveTo>
                    <a:pt x="0" y="794766"/>
                  </a:moveTo>
                  <a:cubicBezTo>
                    <a:pt x="0" y="355854"/>
                    <a:pt x="355854" y="0"/>
                    <a:pt x="794766" y="0"/>
                  </a:cubicBezTo>
                  <a:cubicBezTo>
                    <a:pt x="1233678" y="0"/>
                    <a:pt x="1589532" y="355854"/>
                    <a:pt x="1589532" y="794766"/>
                  </a:cubicBezTo>
                  <a:cubicBezTo>
                    <a:pt x="1589532" y="1233678"/>
                    <a:pt x="1233678" y="1589532"/>
                    <a:pt x="794766" y="1589532"/>
                  </a:cubicBezTo>
                  <a:cubicBezTo>
                    <a:pt x="355854" y="1589532"/>
                    <a:pt x="0" y="1233805"/>
                    <a:pt x="0" y="794766"/>
                  </a:cubicBezTo>
                  <a:close/>
                </a:path>
              </a:pathLst>
            </a:custGeom>
            <a:solidFill>
              <a:srgbClr val="E4EA27"/>
            </a:solidFill>
          </p:spPr>
          <p:txBody>
            <a:bodyPr/>
            <a:lstStyle/>
            <a:p>
              <a:endParaRPr lang="en-US">
                <a:solidFill>
                  <a:schemeClr val="bg1"/>
                </a:solidFill>
                <a:latin typeface="Canva Sans" panose="020B0604020202020204" charset="0"/>
              </a:endParaRPr>
            </a:p>
          </p:txBody>
        </p:sp>
        <p:sp>
          <p:nvSpPr>
            <p:cNvPr id="7" name="TextBox 7"/>
            <p:cNvSpPr txBox="1"/>
            <p:nvPr/>
          </p:nvSpPr>
          <p:spPr>
            <a:xfrm>
              <a:off x="0" y="-9525"/>
              <a:ext cx="1589600" cy="1599125"/>
            </a:xfrm>
            <a:prstGeom prst="rect">
              <a:avLst/>
            </a:prstGeom>
          </p:spPr>
          <p:txBody>
            <a:bodyPr lIns="50800" tIns="50800" rIns="50800" bIns="50800" rtlCol="0" anchor="ctr"/>
            <a:lstStyle/>
            <a:p>
              <a:pPr algn="ctr">
                <a:lnSpc>
                  <a:spcPts val="4320"/>
                </a:lnSpc>
              </a:pPr>
              <a:r>
                <a:rPr lang="en-US" sz="3600" b="1">
                  <a:solidFill>
                    <a:schemeClr val="bg1"/>
                  </a:solidFill>
                  <a:latin typeface="Canva Sans" panose="020B0604020202020204" charset="0"/>
                  <a:ea typeface="Fira Sans Bold"/>
                  <a:cs typeface="Fira Sans Bold"/>
                  <a:sym typeface="Fira Sans Bold"/>
                </a:rPr>
                <a:t>01</a:t>
              </a:r>
            </a:p>
          </p:txBody>
        </p:sp>
      </p:grpSp>
      <p:grpSp>
        <p:nvGrpSpPr>
          <p:cNvPr id="8" name="Group 8"/>
          <p:cNvGrpSpPr/>
          <p:nvPr/>
        </p:nvGrpSpPr>
        <p:grpSpPr>
          <a:xfrm>
            <a:off x="7939096" y="2406770"/>
            <a:ext cx="3962400" cy="818159"/>
            <a:chOff x="0" y="0"/>
            <a:chExt cx="5283200" cy="1090879"/>
          </a:xfrm>
        </p:grpSpPr>
        <p:sp>
          <p:nvSpPr>
            <p:cNvPr id="9" name="Freeform 9"/>
            <p:cNvSpPr/>
            <p:nvPr/>
          </p:nvSpPr>
          <p:spPr>
            <a:xfrm>
              <a:off x="0" y="0"/>
              <a:ext cx="5283200" cy="1090879"/>
            </a:xfrm>
            <a:custGeom>
              <a:avLst/>
              <a:gdLst/>
              <a:ahLst/>
              <a:cxnLst/>
              <a:rect l="l" t="t" r="r" b="b"/>
              <a:pathLst>
                <a:path w="5283200" h="1090879">
                  <a:moveTo>
                    <a:pt x="0" y="0"/>
                  </a:moveTo>
                  <a:lnTo>
                    <a:pt x="5283200" y="0"/>
                  </a:lnTo>
                  <a:lnTo>
                    <a:pt x="5283200" y="1090879"/>
                  </a:lnTo>
                  <a:lnTo>
                    <a:pt x="0" y="1090879"/>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10" name="TextBox 10"/>
            <p:cNvSpPr txBox="1"/>
            <p:nvPr/>
          </p:nvSpPr>
          <p:spPr>
            <a:xfrm>
              <a:off x="0" y="-9525"/>
              <a:ext cx="5283200" cy="1100404"/>
            </a:xfrm>
            <a:prstGeom prst="rect">
              <a:avLst/>
            </a:prstGeom>
          </p:spPr>
          <p:txBody>
            <a:bodyPr lIns="0" tIns="0" rIns="0" bIns="0" rtlCol="0" anchor="ctr"/>
            <a:lstStyle/>
            <a:p>
              <a:pPr algn="l">
                <a:lnSpc>
                  <a:spcPts val="4320"/>
                </a:lnSpc>
              </a:pPr>
              <a:r>
                <a:rPr lang="en-US" sz="3600" b="1">
                  <a:solidFill>
                    <a:schemeClr val="bg1"/>
                  </a:solidFill>
                  <a:latin typeface="Canva Sans" panose="020B0604020202020204" charset="0"/>
                  <a:ea typeface="Fira Sans Bold"/>
                  <a:cs typeface="Fira Sans Bold"/>
                  <a:sym typeface="Fira Sans Bold"/>
                </a:rPr>
                <a:t>Introduction</a:t>
              </a:r>
            </a:p>
          </p:txBody>
        </p:sp>
      </p:grpSp>
      <p:sp>
        <p:nvSpPr>
          <p:cNvPr id="11" name="Freeform 11"/>
          <p:cNvSpPr/>
          <p:nvPr/>
        </p:nvSpPr>
        <p:spPr>
          <a:xfrm>
            <a:off x="829108" y="3018370"/>
            <a:ext cx="5306842" cy="5392944"/>
          </a:xfrm>
          <a:custGeom>
            <a:avLst/>
            <a:gdLst/>
            <a:ahLst/>
            <a:cxnLst/>
            <a:rect l="l" t="t" r="r" b="b"/>
            <a:pathLst>
              <a:path w="5306842" h="5392944">
                <a:moveTo>
                  <a:pt x="0" y="0"/>
                </a:moveTo>
                <a:lnTo>
                  <a:pt x="5306842" y="0"/>
                </a:lnTo>
                <a:lnTo>
                  <a:pt x="5306842" y="5392944"/>
                </a:lnTo>
                <a:lnTo>
                  <a:pt x="0" y="53929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solidFill>
                <a:schemeClr val="bg1"/>
              </a:solidFill>
              <a:latin typeface="Canva Sans" panose="020B0604020202020204" charset="0"/>
            </a:endParaRPr>
          </a:p>
        </p:txBody>
      </p:sp>
      <p:grpSp>
        <p:nvGrpSpPr>
          <p:cNvPr id="12" name="Group 12"/>
          <p:cNvGrpSpPr/>
          <p:nvPr/>
        </p:nvGrpSpPr>
        <p:grpSpPr>
          <a:xfrm>
            <a:off x="13411200" y="2406768"/>
            <a:ext cx="3962400" cy="818159"/>
            <a:chOff x="0" y="0"/>
            <a:chExt cx="5283200" cy="1090879"/>
          </a:xfrm>
        </p:grpSpPr>
        <p:sp>
          <p:nvSpPr>
            <p:cNvPr id="13" name="Freeform 13"/>
            <p:cNvSpPr/>
            <p:nvPr/>
          </p:nvSpPr>
          <p:spPr>
            <a:xfrm>
              <a:off x="0" y="0"/>
              <a:ext cx="5283200" cy="1090879"/>
            </a:xfrm>
            <a:custGeom>
              <a:avLst/>
              <a:gdLst/>
              <a:ahLst/>
              <a:cxnLst/>
              <a:rect l="l" t="t" r="r" b="b"/>
              <a:pathLst>
                <a:path w="5283200" h="1090879">
                  <a:moveTo>
                    <a:pt x="0" y="0"/>
                  </a:moveTo>
                  <a:lnTo>
                    <a:pt x="5283200" y="0"/>
                  </a:lnTo>
                  <a:lnTo>
                    <a:pt x="5283200" y="1090879"/>
                  </a:lnTo>
                  <a:lnTo>
                    <a:pt x="0" y="1090879"/>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14" name="TextBox 14"/>
            <p:cNvSpPr txBox="1"/>
            <p:nvPr/>
          </p:nvSpPr>
          <p:spPr>
            <a:xfrm>
              <a:off x="0" y="-9525"/>
              <a:ext cx="5283200" cy="1100404"/>
            </a:xfrm>
            <a:prstGeom prst="rect">
              <a:avLst/>
            </a:prstGeom>
          </p:spPr>
          <p:txBody>
            <a:bodyPr lIns="0" tIns="0" rIns="0" bIns="0" rtlCol="0" anchor="ctr"/>
            <a:lstStyle/>
            <a:p>
              <a:pPr algn="l">
                <a:lnSpc>
                  <a:spcPts val="4320"/>
                </a:lnSpc>
              </a:pPr>
              <a:r>
                <a:rPr lang="en-US" sz="3600" b="1">
                  <a:solidFill>
                    <a:schemeClr val="bg1"/>
                  </a:solidFill>
                  <a:latin typeface="Canva Sans" panose="020B0604020202020204" charset="0"/>
                  <a:ea typeface="Fira Sans Bold"/>
                  <a:cs typeface="Fira Sans Bold"/>
                  <a:sym typeface="Fira Sans Bold"/>
                </a:rPr>
                <a:t>YOLO (Detection)</a:t>
              </a:r>
            </a:p>
          </p:txBody>
        </p:sp>
      </p:grpSp>
      <p:grpSp>
        <p:nvGrpSpPr>
          <p:cNvPr id="15" name="Group 15"/>
          <p:cNvGrpSpPr/>
          <p:nvPr/>
        </p:nvGrpSpPr>
        <p:grpSpPr>
          <a:xfrm>
            <a:off x="12066700" y="2219750"/>
            <a:ext cx="1192200" cy="1192200"/>
            <a:chOff x="0" y="0"/>
            <a:chExt cx="1589600" cy="1589600"/>
          </a:xfrm>
        </p:grpSpPr>
        <p:sp>
          <p:nvSpPr>
            <p:cNvPr id="16" name="Freeform 16"/>
            <p:cNvSpPr/>
            <p:nvPr/>
          </p:nvSpPr>
          <p:spPr>
            <a:xfrm>
              <a:off x="0" y="0"/>
              <a:ext cx="1589532" cy="1589532"/>
            </a:xfrm>
            <a:custGeom>
              <a:avLst/>
              <a:gdLst/>
              <a:ahLst/>
              <a:cxnLst/>
              <a:rect l="l" t="t" r="r" b="b"/>
              <a:pathLst>
                <a:path w="1589532" h="1589532">
                  <a:moveTo>
                    <a:pt x="0" y="794766"/>
                  </a:moveTo>
                  <a:cubicBezTo>
                    <a:pt x="0" y="355854"/>
                    <a:pt x="355854" y="0"/>
                    <a:pt x="794766" y="0"/>
                  </a:cubicBezTo>
                  <a:cubicBezTo>
                    <a:pt x="1233678" y="0"/>
                    <a:pt x="1589532" y="355854"/>
                    <a:pt x="1589532" y="794766"/>
                  </a:cubicBezTo>
                  <a:cubicBezTo>
                    <a:pt x="1589532" y="1233678"/>
                    <a:pt x="1233678" y="1589532"/>
                    <a:pt x="794766" y="1589532"/>
                  </a:cubicBezTo>
                  <a:cubicBezTo>
                    <a:pt x="355854" y="1589532"/>
                    <a:pt x="0" y="1233805"/>
                    <a:pt x="0" y="794766"/>
                  </a:cubicBezTo>
                  <a:close/>
                </a:path>
              </a:pathLst>
            </a:custGeom>
            <a:solidFill>
              <a:srgbClr val="8027EA"/>
            </a:solidFill>
          </p:spPr>
          <p:txBody>
            <a:bodyPr/>
            <a:lstStyle/>
            <a:p>
              <a:endParaRPr lang="en-US">
                <a:solidFill>
                  <a:schemeClr val="bg1"/>
                </a:solidFill>
                <a:latin typeface="Canva Sans" panose="020B0604020202020204" charset="0"/>
              </a:endParaRPr>
            </a:p>
          </p:txBody>
        </p:sp>
        <p:sp>
          <p:nvSpPr>
            <p:cNvPr id="17" name="TextBox 17"/>
            <p:cNvSpPr txBox="1"/>
            <p:nvPr/>
          </p:nvSpPr>
          <p:spPr>
            <a:xfrm>
              <a:off x="0" y="-9525"/>
              <a:ext cx="1589600" cy="1599125"/>
            </a:xfrm>
            <a:prstGeom prst="rect">
              <a:avLst/>
            </a:prstGeom>
          </p:spPr>
          <p:txBody>
            <a:bodyPr lIns="50800" tIns="50800" rIns="50800" bIns="50800" rtlCol="0" anchor="ctr"/>
            <a:lstStyle/>
            <a:p>
              <a:pPr algn="ctr">
                <a:lnSpc>
                  <a:spcPts val="4320"/>
                </a:lnSpc>
              </a:pPr>
              <a:r>
                <a:rPr lang="en-US" sz="3600" b="1">
                  <a:solidFill>
                    <a:schemeClr val="bg1"/>
                  </a:solidFill>
                  <a:latin typeface="Canva Sans" panose="020B0604020202020204" charset="0"/>
                  <a:ea typeface="Fira Sans Bold"/>
                  <a:cs typeface="Fira Sans Bold"/>
                  <a:sym typeface="Fira Sans Bold"/>
                </a:rPr>
                <a:t>04</a:t>
              </a:r>
            </a:p>
          </p:txBody>
        </p:sp>
      </p:grpSp>
      <p:grpSp>
        <p:nvGrpSpPr>
          <p:cNvPr id="18" name="Group 18"/>
          <p:cNvGrpSpPr/>
          <p:nvPr/>
        </p:nvGrpSpPr>
        <p:grpSpPr>
          <a:xfrm>
            <a:off x="7939096" y="5149458"/>
            <a:ext cx="3962400" cy="1361084"/>
            <a:chOff x="0" y="0"/>
            <a:chExt cx="5283200" cy="1814779"/>
          </a:xfrm>
        </p:grpSpPr>
        <p:sp>
          <p:nvSpPr>
            <p:cNvPr id="19" name="Freeform 19"/>
            <p:cNvSpPr/>
            <p:nvPr/>
          </p:nvSpPr>
          <p:spPr>
            <a:xfrm>
              <a:off x="0" y="0"/>
              <a:ext cx="5283200" cy="1814779"/>
            </a:xfrm>
            <a:custGeom>
              <a:avLst/>
              <a:gdLst/>
              <a:ahLst/>
              <a:cxnLst/>
              <a:rect l="l" t="t" r="r" b="b"/>
              <a:pathLst>
                <a:path w="5283200" h="1814779">
                  <a:moveTo>
                    <a:pt x="0" y="0"/>
                  </a:moveTo>
                  <a:lnTo>
                    <a:pt x="5283200" y="0"/>
                  </a:lnTo>
                  <a:lnTo>
                    <a:pt x="5283200" y="1814779"/>
                  </a:lnTo>
                  <a:lnTo>
                    <a:pt x="0" y="1814779"/>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20" name="TextBox 20"/>
            <p:cNvSpPr txBox="1"/>
            <p:nvPr/>
          </p:nvSpPr>
          <p:spPr>
            <a:xfrm>
              <a:off x="0" y="-9525"/>
              <a:ext cx="5283200" cy="1824304"/>
            </a:xfrm>
            <a:prstGeom prst="rect">
              <a:avLst/>
            </a:prstGeom>
          </p:spPr>
          <p:txBody>
            <a:bodyPr lIns="0" tIns="0" rIns="0" bIns="0" rtlCol="0" anchor="ctr"/>
            <a:lstStyle/>
            <a:p>
              <a:pPr algn="l">
                <a:lnSpc>
                  <a:spcPts val="4320"/>
                </a:lnSpc>
              </a:pPr>
              <a:r>
                <a:rPr lang="en-US" sz="3600" b="1" dirty="0">
                  <a:solidFill>
                    <a:schemeClr val="bg1"/>
                  </a:solidFill>
                  <a:latin typeface="Canva Sans" panose="020B0604020202020204" charset="0"/>
                  <a:ea typeface="Fira Sans Bold"/>
                  <a:cs typeface="Fira Sans Bold"/>
                  <a:sym typeface="Fira Sans Bold"/>
                </a:rPr>
                <a:t>Paper Overview</a:t>
              </a:r>
            </a:p>
          </p:txBody>
        </p:sp>
      </p:grpSp>
      <p:grpSp>
        <p:nvGrpSpPr>
          <p:cNvPr id="21" name="Group 21"/>
          <p:cNvGrpSpPr/>
          <p:nvPr/>
        </p:nvGrpSpPr>
        <p:grpSpPr>
          <a:xfrm>
            <a:off x="6594496" y="5179196"/>
            <a:ext cx="1192200" cy="1192200"/>
            <a:chOff x="0" y="0"/>
            <a:chExt cx="1589600" cy="1589600"/>
          </a:xfrm>
        </p:grpSpPr>
        <p:sp>
          <p:nvSpPr>
            <p:cNvPr id="22" name="Freeform 22"/>
            <p:cNvSpPr/>
            <p:nvPr/>
          </p:nvSpPr>
          <p:spPr>
            <a:xfrm>
              <a:off x="0" y="0"/>
              <a:ext cx="1589532" cy="1589532"/>
            </a:xfrm>
            <a:custGeom>
              <a:avLst/>
              <a:gdLst/>
              <a:ahLst/>
              <a:cxnLst/>
              <a:rect l="l" t="t" r="r" b="b"/>
              <a:pathLst>
                <a:path w="1589532" h="1589532">
                  <a:moveTo>
                    <a:pt x="0" y="794766"/>
                  </a:moveTo>
                  <a:cubicBezTo>
                    <a:pt x="0" y="355854"/>
                    <a:pt x="355854" y="0"/>
                    <a:pt x="794766" y="0"/>
                  </a:cubicBezTo>
                  <a:cubicBezTo>
                    <a:pt x="1233678" y="0"/>
                    <a:pt x="1589532" y="355854"/>
                    <a:pt x="1589532" y="794766"/>
                  </a:cubicBezTo>
                  <a:cubicBezTo>
                    <a:pt x="1589532" y="1233678"/>
                    <a:pt x="1233678" y="1589532"/>
                    <a:pt x="794766" y="1589532"/>
                  </a:cubicBezTo>
                  <a:cubicBezTo>
                    <a:pt x="355854" y="1589532"/>
                    <a:pt x="0" y="1233805"/>
                    <a:pt x="0" y="794766"/>
                  </a:cubicBezTo>
                  <a:close/>
                </a:path>
              </a:pathLst>
            </a:custGeom>
            <a:solidFill>
              <a:srgbClr val="E99B27"/>
            </a:solidFill>
          </p:spPr>
          <p:txBody>
            <a:bodyPr/>
            <a:lstStyle/>
            <a:p>
              <a:endParaRPr lang="en-US">
                <a:solidFill>
                  <a:schemeClr val="bg1"/>
                </a:solidFill>
                <a:latin typeface="Canva Sans" panose="020B0604020202020204" charset="0"/>
              </a:endParaRPr>
            </a:p>
          </p:txBody>
        </p:sp>
        <p:sp>
          <p:nvSpPr>
            <p:cNvPr id="23" name="TextBox 23"/>
            <p:cNvSpPr txBox="1"/>
            <p:nvPr/>
          </p:nvSpPr>
          <p:spPr>
            <a:xfrm>
              <a:off x="0" y="-9525"/>
              <a:ext cx="1589600" cy="1599125"/>
            </a:xfrm>
            <a:prstGeom prst="rect">
              <a:avLst/>
            </a:prstGeom>
          </p:spPr>
          <p:txBody>
            <a:bodyPr lIns="50800" tIns="50800" rIns="50800" bIns="50800" rtlCol="0" anchor="ctr"/>
            <a:lstStyle/>
            <a:p>
              <a:pPr algn="ctr">
                <a:lnSpc>
                  <a:spcPts val="4320"/>
                </a:lnSpc>
              </a:pPr>
              <a:r>
                <a:rPr lang="en-US" sz="3600" b="1">
                  <a:solidFill>
                    <a:schemeClr val="bg1"/>
                  </a:solidFill>
                  <a:latin typeface="Canva Sans" panose="020B0604020202020204" charset="0"/>
                  <a:ea typeface="Fira Sans Bold"/>
                  <a:cs typeface="Fira Sans Bold"/>
                  <a:sym typeface="Fira Sans Bold"/>
                </a:rPr>
                <a:t>02</a:t>
              </a:r>
            </a:p>
          </p:txBody>
        </p:sp>
      </p:grpSp>
      <p:grpSp>
        <p:nvGrpSpPr>
          <p:cNvPr id="24" name="Group 24"/>
          <p:cNvGrpSpPr/>
          <p:nvPr/>
        </p:nvGrpSpPr>
        <p:grpSpPr>
          <a:xfrm>
            <a:off x="7939096" y="8025604"/>
            <a:ext cx="3962400" cy="1361084"/>
            <a:chOff x="0" y="0"/>
            <a:chExt cx="5283200" cy="1814779"/>
          </a:xfrm>
        </p:grpSpPr>
        <p:sp>
          <p:nvSpPr>
            <p:cNvPr id="25" name="Freeform 25"/>
            <p:cNvSpPr/>
            <p:nvPr/>
          </p:nvSpPr>
          <p:spPr>
            <a:xfrm>
              <a:off x="0" y="0"/>
              <a:ext cx="5283200" cy="1814779"/>
            </a:xfrm>
            <a:custGeom>
              <a:avLst/>
              <a:gdLst/>
              <a:ahLst/>
              <a:cxnLst/>
              <a:rect l="l" t="t" r="r" b="b"/>
              <a:pathLst>
                <a:path w="5283200" h="1814779">
                  <a:moveTo>
                    <a:pt x="0" y="0"/>
                  </a:moveTo>
                  <a:lnTo>
                    <a:pt x="5283200" y="0"/>
                  </a:lnTo>
                  <a:lnTo>
                    <a:pt x="5283200" y="1814779"/>
                  </a:lnTo>
                  <a:lnTo>
                    <a:pt x="0" y="1814779"/>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26" name="TextBox 26"/>
            <p:cNvSpPr txBox="1"/>
            <p:nvPr/>
          </p:nvSpPr>
          <p:spPr>
            <a:xfrm>
              <a:off x="0" y="-9525"/>
              <a:ext cx="5283200" cy="1824304"/>
            </a:xfrm>
            <a:prstGeom prst="rect">
              <a:avLst/>
            </a:prstGeom>
          </p:spPr>
          <p:txBody>
            <a:bodyPr lIns="0" tIns="0" rIns="0" bIns="0" rtlCol="0" anchor="ctr"/>
            <a:lstStyle/>
            <a:p>
              <a:pPr>
                <a:lnSpc>
                  <a:spcPts val="4320"/>
                </a:lnSpc>
              </a:pPr>
              <a:r>
                <a:rPr lang="en-US" sz="3600" b="1" dirty="0" err="1">
                  <a:solidFill>
                    <a:schemeClr val="bg1"/>
                  </a:solidFill>
                  <a:latin typeface="Canva Sans" panose="020B0604020202020204" charset="0"/>
                  <a:ea typeface="Fira Sans Bold"/>
                  <a:cs typeface="Fira Sans Bold"/>
                  <a:sym typeface="Fira Sans Bold"/>
                </a:rPr>
                <a:t>ResNet</a:t>
              </a:r>
              <a:r>
                <a:rPr lang="en-US" sz="3600" b="1" dirty="0">
                  <a:solidFill>
                    <a:schemeClr val="bg1"/>
                  </a:solidFill>
                  <a:latin typeface="Canva Sans" panose="020B0604020202020204" charset="0"/>
                  <a:ea typeface="Fira Sans Bold"/>
                  <a:cs typeface="Fira Sans Bold"/>
                  <a:sym typeface="Fira Sans Bold"/>
                </a:rPr>
                <a:t> (Classification)</a:t>
              </a:r>
            </a:p>
          </p:txBody>
        </p:sp>
      </p:grpSp>
      <p:grpSp>
        <p:nvGrpSpPr>
          <p:cNvPr id="27" name="Group 27"/>
          <p:cNvGrpSpPr/>
          <p:nvPr/>
        </p:nvGrpSpPr>
        <p:grpSpPr>
          <a:xfrm>
            <a:off x="6594496" y="8110046"/>
            <a:ext cx="1192200" cy="1192200"/>
            <a:chOff x="0" y="0"/>
            <a:chExt cx="1589600" cy="1589600"/>
          </a:xfrm>
        </p:grpSpPr>
        <p:sp>
          <p:nvSpPr>
            <p:cNvPr id="28" name="Freeform 28"/>
            <p:cNvSpPr/>
            <p:nvPr/>
          </p:nvSpPr>
          <p:spPr>
            <a:xfrm>
              <a:off x="0" y="0"/>
              <a:ext cx="1589532" cy="1589532"/>
            </a:xfrm>
            <a:custGeom>
              <a:avLst/>
              <a:gdLst/>
              <a:ahLst/>
              <a:cxnLst/>
              <a:rect l="l" t="t" r="r" b="b"/>
              <a:pathLst>
                <a:path w="1589532" h="1589532">
                  <a:moveTo>
                    <a:pt x="0" y="794766"/>
                  </a:moveTo>
                  <a:cubicBezTo>
                    <a:pt x="0" y="355854"/>
                    <a:pt x="355854" y="0"/>
                    <a:pt x="794766" y="0"/>
                  </a:cubicBezTo>
                  <a:cubicBezTo>
                    <a:pt x="1233678" y="0"/>
                    <a:pt x="1589532" y="355854"/>
                    <a:pt x="1589532" y="794766"/>
                  </a:cubicBezTo>
                  <a:cubicBezTo>
                    <a:pt x="1589532" y="1233678"/>
                    <a:pt x="1233678" y="1589532"/>
                    <a:pt x="794766" y="1589532"/>
                  </a:cubicBezTo>
                  <a:cubicBezTo>
                    <a:pt x="355854" y="1589532"/>
                    <a:pt x="0" y="1233805"/>
                    <a:pt x="0" y="794766"/>
                  </a:cubicBezTo>
                  <a:close/>
                </a:path>
              </a:pathLst>
            </a:custGeom>
            <a:solidFill>
              <a:srgbClr val="EA4827"/>
            </a:solidFill>
          </p:spPr>
          <p:txBody>
            <a:bodyPr/>
            <a:lstStyle/>
            <a:p>
              <a:endParaRPr lang="en-US">
                <a:solidFill>
                  <a:schemeClr val="bg1"/>
                </a:solidFill>
                <a:latin typeface="Canva Sans" panose="020B0604020202020204" charset="0"/>
              </a:endParaRPr>
            </a:p>
          </p:txBody>
        </p:sp>
        <p:sp>
          <p:nvSpPr>
            <p:cNvPr id="29" name="TextBox 29"/>
            <p:cNvSpPr txBox="1"/>
            <p:nvPr/>
          </p:nvSpPr>
          <p:spPr>
            <a:xfrm>
              <a:off x="0" y="-9525"/>
              <a:ext cx="1589600" cy="1599125"/>
            </a:xfrm>
            <a:prstGeom prst="rect">
              <a:avLst/>
            </a:prstGeom>
          </p:spPr>
          <p:txBody>
            <a:bodyPr lIns="50800" tIns="50800" rIns="50800" bIns="50800" rtlCol="0" anchor="ctr"/>
            <a:lstStyle/>
            <a:p>
              <a:pPr algn="ctr">
                <a:lnSpc>
                  <a:spcPts val="4320"/>
                </a:lnSpc>
              </a:pPr>
              <a:r>
                <a:rPr lang="en-US" sz="3600" b="1">
                  <a:solidFill>
                    <a:schemeClr val="bg1"/>
                  </a:solidFill>
                  <a:latin typeface="Canva Sans" panose="020B0604020202020204" charset="0"/>
                  <a:ea typeface="Fira Sans Bold"/>
                  <a:cs typeface="Fira Sans Bold"/>
                  <a:sym typeface="Fira Sans Bold"/>
                </a:rPr>
                <a:t>03</a:t>
              </a:r>
            </a:p>
          </p:txBody>
        </p:sp>
      </p:grpSp>
      <p:grpSp>
        <p:nvGrpSpPr>
          <p:cNvPr id="30" name="Group 30"/>
          <p:cNvGrpSpPr/>
          <p:nvPr/>
        </p:nvGrpSpPr>
        <p:grpSpPr>
          <a:xfrm>
            <a:off x="13496493" y="4958335"/>
            <a:ext cx="3966410" cy="1781993"/>
            <a:chOff x="113723" y="-142241"/>
            <a:chExt cx="5288546" cy="2375991"/>
          </a:xfrm>
        </p:grpSpPr>
        <p:sp>
          <p:nvSpPr>
            <p:cNvPr id="31" name="Freeform 31"/>
            <p:cNvSpPr/>
            <p:nvPr/>
          </p:nvSpPr>
          <p:spPr>
            <a:xfrm>
              <a:off x="113723" y="-142241"/>
              <a:ext cx="5283200" cy="1814779"/>
            </a:xfrm>
            <a:custGeom>
              <a:avLst/>
              <a:gdLst/>
              <a:ahLst/>
              <a:cxnLst/>
              <a:rect l="l" t="t" r="r" b="b"/>
              <a:pathLst>
                <a:path w="5283200" h="1814779">
                  <a:moveTo>
                    <a:pt x="0" y="0"/>
                  </a:moveTo>
                  <a:lnTo>
                    <a:pt x="5283200" y="0"/>
                  </a:lnTo>
                  <a:lnTo>
                    <a:pt x="5283200" y="1814779"/>
                  </a:lnTo>
                  <a:lnTo>
                    <a:pt x="0" y="1814779"/>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32" name="TextBox 32"/>
            <p:cNvSpPr txBox="1"/>
            <p:nvPr/>
          </p:nvSpPr>
          <p:spPr>
            <a:xfrm>
              <a:off x="119070" y="409446"/>
              <a:ext cx="5283199" cy="1824304"/>
            </a:xfrm>
            <a:prstGeom prst="rect">
              <a:avLst/>
            </a:prstGeom>
          </p:spPr>
          <p:txBody>
            <a:bodyPr lIns="0" tIns="0" rIns="0" bIns="0" rtlCol="0" anchor="ctr"/>
            <a:lstStyle/>
            <a:p>
              <a:pPr>
                <a:lnSpc>
                  <a:spcPts val="4320"/>
                </a:lnSpc>
              </a:pPr>
              <a:r>
                <a:rPr lang="en-US" sz="3600" b="1" dirty="0">
                  <a:solidFill>
                    <a:schemeClr val="bg1"/>
                  </a:solidFill>
                  <a:latin typeface="Canva Sans" panose="020B0604020202020204" charset="0"/>
                  <a:ea typeface="Fira Sans Bold"/>
                  <a:cs typeface="Fira Sans Bold"/>
                  <a:sym typeface="Fira Sans Bold"/>
                </a:rPr>
                <a:t>U-Net (Segmentation)</a:t>
              </a:r>
            </a:p>
            <a:p>
              <a:pPr algn="l">
                <a:lnSpc>
                  <a:spcPts val="4320"/>
                </a:lnSpc>
              </a:pPr>
              <a:endParaRPr lang="en-US" sz="3600" b="1" dirty="0">
                <a:solidFill>
                  <a:schemeClr val="bg1"/>
                </a:solidFill>
                <a:latin typeface="Canva Sans" panose="020B0604020202020204" charset="0"/>
                <a:ea typeface="Fira Sans Bold"/>
                <a:cs typeface="Fira Sans Bold"/>
                <a:sym typeface="Fira Sans Bold"/>
              </a:endParaRPr>
            </a:p>
          </p:txBody>
        </p:sp>
      </p:grpSp>
      <p:grpSp>
        <p:nvGrpSpPr>
          <p:cNvPr id="33" name="Group 33"/>
          <p:cNvGrpSpPr/>
          <p:nvPr/>
        </p:nvGrpSpPr>
        <p:grpSpPr>
          <a:xfrm>
            <a:off x="12066700" y="5233900"/>
            <a:ext cx="1192200" cy="1192200"/>
            <a:chOff x="0" y="0"/>
            <a:chExt cx="1589600" cy="1589600"/>
          </a:xfrm>
        </p:grpSpPr>
        <p:sp>
          <p:nvSpPr>
            <p:cNvPr id="34" name="Freeform 34"/>
            <p:cNvSpPr/>
            <p:nvPr/>
          </p:nvSpPr>
          <p:spPr>
            <a:xfrm>
              <a:off x="0" y="0"/>
              <a:ext cx="1589532" cy="1589532"/>
            </a:xfrm>
            <a:custGeom>
              <a:avLst/>
              <a:gdLst/>
              <a:ahLst/>
              <a:cxnLst/>
              <a:rect l="l" t="t" r="r" b="b"/>
              <a:pathLst>
                <a:path w="1589532" h="1589532">
                  <a:moveTo>
                    <a:pt x="0" y="794766"/>
                  </a:moveTo>
                  <a:cubicBezTo>
                    <a:pt x="0" y="355854"/>
                    <a:pt x="355854" y="0"/>
                    <a:pt x="794766" y="0"/>
                  </a:cubicBezTo>
                  <a:cubicBezTo>
                    <a:pt x="1233678" y="0"/>
                    <a:pt x="1589532" y="355854"/>
                    <a:pt x="1589532" y="794766"/>
                  </a:cubicBezTo>
                  <a:cubicBezTo>
                    <a:pt x="1589532" y="1233678"/>
                    <a:pt x="1233678" y="1589532"/>
                    <a:pt x="794766" y="1589532"/>
                  </a:cubicBezTo>
                  <a:cubicBezTo>
                    <a:pt x="355854" y="1589532"/>
                    <a:pt x="0" y="1233805"/>
                    <a:pt x="0" y="794766"/>
                  </a:cubicBezTo>
                  <a:close/>
                </a:path>
              </a:pathLst>
            </a:custGeom>
            <a:solidFill>
              <a:srgbClr val="2776EA"/>
            </a:solidFill>
          </p:spPr>
          <p:txBody>
            <a:bodyPr/>
            <a:lstStyle/>
            <a:p>
              <a:endParaRPr lang="en-US">
                <a:solidFill>
                  <a:schemeClr val="bg1"/>
                </a:solidFill>
                <a:latin typeface="Canva Sans" panose="020B0604020202020204" charset="0"/>
              </a:endParaRPr>
            </a:p>
          </p:txBody>
        </p:sp>
        <p:sp>
          <p:nvSpPr>
            <p:cNvPr id="35" name="TextBox 35"/>
            <p:cNvSpPr txBox="1"/>
            <p:nvPr/>
          </p:nvSpPr>
          <p:spPr>
            <a:xfrm>
              <a:off x="0" y="-9525"/>
              <a:ext cx="1589600" cy="1599125"/>
            </a:xfrm>
            <a:prstGeom prst="rect">
              <a:avLst/>
            </a:prstGeom>
          </p:spPr>
          <p:txBody>
            <a:bodyPr lIns="50800" tIns="50800" rIns="50800" bIns="50800" rtlCol="0" anchor="ctr"/>
            <a:lstStyle/>
            <a:p>
              <a:pPr algn="ctr">
                <a:lnSpc>
                  <a:spcPts val="4320"/>
                </a:lnSpc>
              </a:pPr>
              <a:r>
                <a:rPr lang="en-US" sz="3600" b="1">
                  <a:solidFill>
                    <a:schemeClr val="bg1"/>
                  </a:solidFill>
                  <a:latin typeface="Canva Sans" panose="020B0604020202020204" charset="0"/>
                  <a:ea typeface="Fira Sans Bold"/>
                  <a:cs typeface="Fira Sans Bold"/>
                  <a:sym typeface="Fira Sans Bold"/>
                </a:rPr>
                <a:t>05</a:t>
              </a:r>
            </a:p>
          </p:txBody>
        </p:sp>
      </p:grpSp>
      <p:grpSp>
        <p:nvGrpSpPr>
          <p:cNvPr id="36" name="Group 36"/>
          <p:cNvGrpSpPr/>
          <p:nvPr/>
        </p:nvGrpSpPr>
        <p:grpSpPr>
          <a:xfrm>
            <a:off x="13483990" y="8299020"/>
            <a:ext cx="3962400" cy="818159"/>
            <a:chOff x="0" y="0"/>
            <a:chExt cx="5283200" cy="1090879"/>
          </a:xfrm>
        </p:grpSpPr>
        <p:sp>
          <p:nvSpPr>
            <p:cNvPr id="37" name="Freeform 37"/>
            <p:cNvSpPr/>
            <p:nvPr/>
          </p:nvSpPr>
          <p:spPr>
            <a:xfrm>
              <a:off x="0" y="0"/>
              <a:ext cx="5283200" cy="1090879"/>
            </a:xfrm>
            <a:custGeom>
              <a:avLst/>
              <a:gdLst/>
              <a:ahLst/>
              <a:cxnLst/>
              <a:rect l="l" t="t" r="r" b="b"/>
              <a:pathLst>
                <a:path w="5283200" h="1090879">
                  <a:moveTo>
                    <a:pt x="0" y="0"/>
                  </a:moveTo>
                  <a:lnTo>
                    <a:pt x="5283200" y="0"/>
                  </a:lnTo>
                  <a:lnTo>
                    <a:pt x="5283200" y="1090879"/>
                  </a:lnTo>
                  <a:lnTo>
                    <a:pt x="0" y="1090879"/>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38" name="TextBox 38"/>
            <p:cNvSpPr txBox="1"/>
            <p:nvPr/>
          </p:nvSpPr>
          <p:spPr>
            <a:xfrm>
              <a:off x="0" y="-9525"/>
              <a:ext cx="5283200" cy="1100404"/>
            </a:xfrm>
            <a:prstGeom prst="rect">
              <a:avLst/>
            </a:prstGeom>
          </p:spPr>
          <p:txBody>
            <a:bodyPr lIns="0" tIns="0" rIns="0" bIns="0" rtlCol="0" anchor="ctr"/>
            <a:lstStyle/>
            <a:p>
              <a:pPr algn="l">
                <a:lnSpc>
                  <a:spcPts val="4320"/>
                </a:lnSpc>
              </a:pPr>
              <a:r>
                <a:rPr lang="en-US" sz="3600" b="1">
                  <a:solidFill>
                    <a:schemeClr val="bg1"/>
                  </a:solidFill>
                  <a:latin typeface="Canva Sans" panose="020B0604020202020204" charset="0"/>
                  <a:ea typeface="Fira Sans Bold"/>
                  <a:cs typeface="Fira Sans Bold"/>
                  <a:sym typeface="Fira Sans Bold"/>
                </a:rPr>
                <a:t>Conclusion</a:t>
              </a:r>
            </a:p>
          </p:txBody>
        </p:sp>
      </p:grpSp>
      <p:grpSp>
        <p:nvGrpSpPr>
          <p:cNvPr id="39" name="Group 39"/>
          <p:cNvGrpSpPr/>
          <p:nvPr/>
        </p:nvGrpSpPr>
        <p:grpSpPr>
          <a:xfrm>
            <a:off x="12066700" y="8112000"/>
            <a:ext cx="1192200" cy="1192200"/>
            <a:chOff x="0" y="0"/>
            <a:chExt cx="1589600" cy="1589600"/>
          </a:xfrm>
        </p:grpSpPr>
        <p:sp>
          <p:nvSpPr>
            <p:cNvPr id="40" name="Freeform 40"/>
            <p:cNvSpPr/>
            <p:nvPr/>
          </p:nvSpPr>
          <p:spPr>
            <a:xfrm>
              <a:off x="0" y="0"/>
              <a:ext cx="1589532" cy="1589532"/>
            </a:xfrm>
            <a:custGeom>
              <a:avLst/>
              <a:gdLst/>
              <a:ahLst/>
              <a:cxnLst/>
              <a:rect l="l" t="t" r="r" b="b"/>
              <a:pathLst>
                <a:path w="1589532" h="1589532">
                  <a:moveTo>
                    <a:pt x="0" y="794766"/>
                  </a:moveTo>
                  <a:cubicBezTo>
                    <a:pt x="0" y="355854"/>
                    <a:pt x="355854" y="0"/>
                    <a:pt x="794766" y="0"/>
                  </a:cubicBezTo>
                  <a:cubicBezTo>
                    <a:pt x="1233678" y="0"/>
                    <a:pt x="1589532" y="355854"/>
                    <a:pt x="1589532" y="794766"/>
                  </a:cubicBezTo>
                  <a:cubicBezTo>
                    <a:pt x="1589532" y="1233678"/>
                    <a:pt x="1233678" y="1589532"/>
                    <a:pt x="794766" y="1589532"/>
                  </a:cubicBezTo>
                  <a:cubicBezTo>
                    <a:pt x="355854" y="1589532"/>
                    <a:pt x="0" y="1233805"/>
                    <a:pt x="0" y="794766"/>
                  </a:cubicBezTo>
                  <a:close/>
                </a:path>
              </a:pathLst>
            </a:custGeom>
            <a:solidFill>
              <a:srgbClr val="26EAB8"/>
            </a:solidFill>
          </p:spPr>
          <p:txBody>
            <a:bodyPr/>
            <a:lstStyle/>
            <a:p>
              <a:endParaRPr lang="en-US">
                <a:solidFill>
                  <a:schemeClr val="bg1"/>
                </a:solidFill>
                <a:latin typeface="Canva Sans" panose="020B0604020202020204" charset="0"/>
              </a:endParaRPr>
            </a:p>
          </p:txBody>
        </p:sp>
        <p:sp>
          <p:nvSpPr>
            <p:cNvPr id="41" name="TextBox 41"/>
            <p:cNvSpPr txBox="1"/>
            <p:nvPr/>
          </p:nvSpPr>
          <p:spPr>
            <a:xfrm>
              <a:off x="0" y="-9525"/>
              <a:ext cx="1589600" cy="1599125"/>
            </a:xfrm>
            <a:prstGeom prst="rect">
              <a:avLst/>
            </a:prstGeom>
          </p:spPr>
          <p:txBody>
            <a:bodyPr lIns="50800" tIns="50800" rIns="50800" bIns="50800" rtlCol="0" anchor="ctr"/>
            <a:lstStyle/>
            <a:p>
              <a:pPr algn="ctr">
                <a:lnSpc>
                  <a:spcPts val="4320"/>
                </a:lnSpc>
              </a:pPr>
              <a:r>
                <a:rPr lang="en-US" sz="3600" b="1">
                  <a:solidFill>
                    <a:schemeClr val="bg1"/>
                  </a:solidFill>
                  <a:latin typeface="Canva Sans" panose="020B0604020202020204" charset="0"/>
                  <a:ea typeface="Fira Sans Bold"/>
                  <a:cs typeface="Fira Sans Bold"/>
                  <a:sym typeface="Fira Sans Bold"/>
                </a:rPr>
                <a:t>06</a:t>
              </a:r>
            </a:p>
          </p:txBody>
        </p:sp>
      </p:grpSp>
      <p:sp>
        <p:nvSpPr>
          <p:cNvPr id="42" name="AutoShape 42"/>
          <p:cNvSpPr/>
          <p:nvPr/>
        </p:nvSpPr>
        <p:spPr>
          <a:xfrm rot="5363334">
            <a:off x="6297522" y="4295448"/>
            <a:ext cx="1786152" cy="0"/>
          </a:xfrm>
          <a:prstGeom prst="line">
            <a:avLst/>
          </a:prstGeom>
          <a:ln w="9525" cap="rnd">
            <a:solidFill>
              <a:srgbClr val="666666"/>
            </a:solidFill>
            <a:prstDash val="solid"/>
            <a:headEnd type="none" w="sm" len="sm"/>
            <a:tailEnd type="triangle" w="lg" len="med"/>
          </a:ln>
        </p:spPr>
        <p:txBody>
          <a:bodyPr/>
          <a:lstStyle/>
          <a:p>
            <a:endParaRPr lang="en-US">
              <a:solidFill>
                <a:schemeClr val="bg1"/>
              </a:solidFill>
              <a:latin typeface="Canva Sans" panose="020B0604020202020204" charset="0"/>
            </a:endParaRPr>
          </a:p>
        </p:txBody>
      </p:sp>
      <p:sp>
        <p:nvSpPr>
          <p:cNvPr id="43" name="AutoShape 43"/>
          <p:cNvSpPr/>
          <p:nvPr/>
        </p:nvSpPr>
        <p:spPr>
          <a:xfrm rot="5362746">
            <a:off x="6311619" y="7240796"/>
            <a:ext cx="1757953" cy="0"/>
          </a:xfrm>
          <a:prstGeom prst="line">
            <a:avLst/>
          </a:prstGeom>
          <a:ln w="9525" cap="rnd">
            <a:solidFill>
              <a:srgbClr val="666666"/>
            </a:solidFill>
            <a:prstDash val="solid"/>
            <a:headEnd type="none" w="sm" len="sm"/>
            <a:tailEnd type="triangle" w="lg" len="med"/>
          </a:ln>
        </p:spPr>
        <p:txBody>
          <a:bodyPr/>
          <a:lstStyle/>
          <a:p>
            <a:endParaRPr lang="en-US">
              <a:solidFill>
                <a:schemeClr val="bg1"/>
              </a:solidFill>
              <a:latin typeface="Canva Sans" panose="020B0604020202020204" charset="0"/>
            </a:endParaRPr>
          </a:p>
        </p:txBody>
      </p:sp>
      <p:sp>
        <p:nvSpPr>
          <p:cNvPr id="44" name="AutoShape 44"/>
          <p:cNvSpPr/>
          <p:nvPr/>
        </p:nvSpPr>
        <p:spPr>
          <a:xfrm rot="5364433">
            <a:off x="11742126" y="4323050"/>
            <a:ext cx="1841349" cy="0"/>
          </a:xfrm>
          <a:prstGeom prst="line">
            <a:avLst/>
          </a:prstGeom>
          <a:ln w="9525" cap="rnd">
            <a:solidFill>
              <a:srgbClr val="666666"/>
            </a:solidFill>
            <a:prstDash val="solid"/>
            <a:headEnd type="none" w="sm" len="sm"/>
            <a:tailEnd type="triangle" w="lg" len="med"/>
          </a:ln>
        </p:spPr>
        <p:txBody>
          <a:bodyPr/>
          <a:lstStyle/>
          <a:p>
            <a:endParaRPr lang="en-US">
              <a:solidFill>
                <a:schemeClr val="bg1"/>
              </a:solidFill>
              <a:latin typeface="Canva Sans" panose="020B0604020202020204" charset="0"/>
            </a:endParaRPr>
          </a:p>
        </p:txBody>
      </p:sp>
      <p:sp>
        <p:nvSpPr>
          <p:cNvPr id="45" name="AutoShape 45"/>
          <p:cNvSpPr/>
          <p:nvPr/>
        </p:nvSpPr>
        <p:spPr>
          <a:xfrm rot="5361592">
            <a:off x="11810222" y="7269100"/>
            <a:ext cx="1705156" cy="0"/>
          </a:xfrm>
          <a:prstGeom prst="line">
            <a:avLst/>
          </a:prstGeom>
          <a:ln w="9525" cap="rnd">
            <a:solidFill>
              <a:srgbClr val="666666"/>
            </a:solidFill>
            <a:prstDash val="solid"/>
            <a:headEnd type="none" w="sm" len="sm"/>
            <a:tailEnd type="triangle" w="lg" len="med"/>
          </a:ln>
        </p:spPr>
        <p:txBody>
          <a:bodyPr/>
          <a:lstStyle/>
          <a:p>
            <a:endParaRPr lang="en-US">
              <a:solidFill>
                <a:schemeClr val="bg1"/>
              </a:solidFill>
              <a:latin typeface="Canva Sans" panose="020B0604020202020204" charset="0"/>
            </a:endParaRPr>
          </a:p>
        </p:txBody>
      </p:sp>
      <p:sp>
        <p:nvSpPr>
          <p:cNvPr id="48" name="Slide Number Placeholder 47">
            <a:extLst>
              <a:ext uri="{FF2B5EF4-FFF2-40B4-BE49-F238E27FC236}">
                <a16:creationId xmlns:a16="http://schemas.microsoft.com/office/drawing/2014/main" id="{373663FE-AEB3-F561-940C-B765A5F25F3A}"/>
              </a:ext>
            </a:extLst>
          </p:cNvPr>
          <p:cNvSpPr>
            <a:spLocks noGrp="1"/>
          </p:cNvSpPr>
          <p:nvPr>
            <p:ph type="sldNum" sz="quarter" idx="12"/>
          </p:nvPr>
        </p:nvSpPr>
        <p:spPr>
          <a:xfrm>
            <a:off x="15849600" y="9541260"/>
            <a:ext cx="2133600" cy="365125"/>
          </a:xfrm>
        </p:spPr>
        <p:txBody>
          <a:bodyPr/>
          <a:lstStyle/>
          <a:p>
            <a:fld id="{B6F15528-21DE-4FAA-801E-634DDDAF4B2B}" type="slidenum">
              <a:rPr lang="en-US" sz="1400" b="1" smtClean="0">
                <a:solidFill>
                  <a:schemeClr val="bg1"/>
                </a:solidFill>
                <a:latin typeface="Canva Sans" panose="020B0604020202020204" charset="0"/>
              </a:rPr>
              <a:t>2</a:t>
            </a:fld>
            <a:endParaRPr lang="en-US" sz="1400" b="1" dirty="0">
              <a:solidFill>
                <a:schemeClr val="bg1"/>
              </a:solidFill>
              <a:latin typeface="Canva Sans"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dirty="0">
                  <a:solidFill>
                    <a:schemeClr val="bg1"/>
                  </a:solidFill>
                  <a:latin typeface="Canva Sans" panose="020B0604020202020204" charset="0"/>
                  <a:ea typeface="Fira Sans Bold"/>
                  <a:cs typeface="Fira Sans Bold"/>
                  <a:sym typeface="Fira Sans Bold"/>
                </a:rPr>
                <a:t>Introduction</a:t>
              </a:r>
            </a:p>
          </p:txBody>
        </p:sp>
      </p:grpSp>
      <p:sp>
        <p:nvSpPr>
          <p:cNvPr id="5" name="TextBox 5"/>
          <p:cNvSpPr txBox="1"/>
          <p:nvPr/>
        </p:nvSpPr>
        <p:spPr>
          <a:xfrm>
            <a:off x="1465118" y="2875576"/>
            <a:ext cx="9388694" cy="4231928"/>
          </a:xfrm>
          <a:prstGeom prst="rect">
            <a:avLst/>
          </a:prstGeom>
        </p:spPr>
        <p:txBody>
          <a:bodyPr lIns="0" tIns="0" rIns="0" bIns="0" rtlCol="0" anchor="t">
            <a:spAutoFit/>
          </a:bodyPr>
          <a:lstStyle/>
          <a:p>
            <a:pPr marL="430530" lvl="1" indent="-215265" algn="just">
              <a:lnSpc>
                <a:spcPts val="2790"/>
              </a:lnSpc>
              <a:buFont typeface="Arial" panose="020B0604020202090204"/>
              <a:buChar char="•"/>
            </a:pPr>
            <a:r>
              <a:rPr lang="en-US" sz="1995" dirty="0">
                <a:solidFill>
                  <a:schemeClr val="bg1"/>
                </a:solidFill>
                <a:latin typeface="Canva Sans" panose="020B0604020202020204" charset="0"/>
                <a:ea typeface="Canva Sans" panose="020B0503030501040103"/>
                <a:cs typeface="Canva Sans" panose="020B0503030501040103"/>
                <a:sym typeface="Canva Sans" panose="020B0503030501040103"/>
              </a:rPr>
              <a:t>Medical imaging is critical in healthcare for diagnosis, treatment planning, and monitoring.</a:t>
            </a:r>
          </a:p>
          <a:p>
            <a:pPr marL="430530" lvl="1" indent="-215265" algn="just">
              <a:lnSpc>
                <a:spcPts val="2790"/>
              </a:lnSpc>
              <a:buFont typeface="Arial" panose="020B0604020202090204"/>
              <a:buChar char="•"/>
            </a:pPr>
            <a:r>
              <a:rPr lang="en-US" sz="1995" dirty="0">
                <a:solidFill>
                  <a:schemeClr val="bg1"/>
                </a:solidFill>
                <a:latin typeface="Canva Sans" panose="020B0604020202020204" charset="0"/>
                <a:ea typeface="Canva Sans" panose="020B0503030501040103"/>
                <a:cs typeface="Canva Sans" panose="020B0503030501040103"/>
                <a:sym typeface="Canva Sans" panose="020B0503030501040103"/>
              </a:rPr>
              <a:t>The rise of </a:t>
            </a:r>
            <a:r>
              <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rPr>
              <a:t>Artificial Intelligence (AI), particularly Deep Learning (DL), has revolutionized how medical images are analyzed.</a:t>
            </a:r>
          </a:p>
          <a:p>
            <a:pPr marL="430530" lvl="1" indent="-215265" algn="just">
              <a:lnSpc>
                <a:spcPts val="2790"/>
              </a:lnSpc>
              <a:buFont typeface="Arial" panose="020B0604020202090204"/>
              <a:buChar char="•"/>
            </a:pPr>
            <a:r>
              <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rPr>
              <a:t>Key tasks enabled by DL:</a:t>
            </a:r>
          </a:p>
          <a:p>
            <a:pPr marL="860425" lvl="2" indent="-287020" algn="just">
              <a:lnSpc>
                <a:spcPts val="2790"/>
              </a:lnSpc>
              <a:buFont typeface="Arial" panose="020B0604020202090204"/>
              <a:buChar char="⚬"/>
            </a:pPr>
            <a:r>
              <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rPr>
              <a:t>Classification – identifying diseases (e.g., tumor vs. healthy tissue).</a:t>
            </a:r>
          </a:p>
          <a:p>
            <a:pPr marL="860425" lvl="2" indent="-287020" algn="just">
              <a:lnSpc>
                <a:spcPts val="2790"/>
              </a:lnSpc>
              <a:buFont typeface="Arial" panose="020B0604020202090204"/>
              <a:buChar char="⚬"/>
            </a:pPr>
            <a:r>
              <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rPr>
              <a:t>Detection – localizing abnormalities (e.g., lung nodules, hemorrhage).</a:t>
            </a:r>
          </a:p>
          <a:p>
            <a:pPr marL="860425" lvl="2" indent="-287020" algn="just">
              <a:lnSpc>
                <a:spcPts val="2790"/>
              </a:lnSpc>
              <a:buFont typeface="Arial" panose="020B0604020202090204"/>
              <a:buChar char="⚬"/>
            </a:pPr>
            <a:r>
              <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rPr>
              <a:t>Segmentation – outlining organs or lesions (e.g., stroke lesion mapping).</a:t>
            </a:r>
          </a:p>
          <a:p>
            <a:pPr marL="860425" lvl="2" indent="-287020" algn="just">
              <a:lnSpc>
                <a:spcPts val="2790"/>
              </a:lnSpc>
              <a:buFont typeface="Arial" panose="020B0604020202090204"/>
              <a:buChar char="⚬"/>
            </a:pPr>
            <a:r>
              <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rPr>
              <a:t>Registration – aligning multimodal scans (e.g., CT + MRI fusion).</a:t>
            </a:r>
          </a:p>
          <a:p>
            <a:pPr marL="430530" lvl="1" indent="-215265" algn="just">
              <a:lnSpc>
                <a:spcPts val="2790"/>
              </a:lnSpc>
              <a:buFont typeface="Arial" panose="020B0604020202090204"/>
              <a:buChar char="•"/>
            </a:pPr>
            <a:r>
              <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rPr>
              <a:t>AI enhances accuracy, speed, and scalability while reducing clinician workload.</a:t>
            </a:r>
          </a:p>
          <a:p>
            <a:pPr algn="just">
              <a:lnSpc>
                <a:spcPts val="2245"/>
              </a:lnSpc>
              <a:spcBef>
                <a:spcPct val="0"/>
              </a:spcBef>
            </a:pPr>
            <a:endParaRPr lang="en-US" sz="1995" u="none" strike="noStrike" dirty="0">
              <a:solidFill>
                <a:schemeClr val="bg1"/>
              </a:solidFill>
              <a:latin typeface="Canva Sans" panose="020B0604020202020204" charset="0"/>
              <a:ea typeface="Canva Sans" panose="020B0503030501040103"/>
              <a:cs typeface="Canva Sans" panose="020B0503030501040103"/>
              <a:sym typeface="Canva Sans" panose="020B0503030501040103"/>
            </a:endParaRPr>
          </a:p>
        </p:txBody>
      </p:sp>
      <p:sp>
        <p:nvSpPr>
          <p:cNvPr id="6" name="Freeform 6"/>
          <p:cNvSpPr/>
          <p:nvPr/>
        </p:nvSpPr>
        <p:spPr>
          <a:xfrm>
            <a:off x="11901958" y="2236384"/>
            <a:ext cx="4339009" cy="6128808"/>
          </a:xfrm>
          <a:custGeom>
            <a:avLst/>
            <a:gdLst/>
            <a:ahLst/>
            <a:cxnLst/>
            <a:rect l="l" t="t" r="r" b="b"/>
            <a:pathLst>
              <a:path w="4339009" h="6128808">
                <a:moveTo>
                  <a:pt x="0" y="0"/>
                </a:moveTo>
                <a:lnTo>
                  <a:pt x="4339009" y="0"/>
                </a:lnTo>
                <a:lnTo>
                  <a:pt x="4339009" y="6128808"/>
                </a:lnTo>
                <a:lnTo>
                  <a:pt x="0" y="61288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solidFill>
                <a:schemeClr val="bg1"/>
              </a:solidFill>
              <a:latin typeface="Canva Sans" panose="020B0604020202020204" charset="0"/>
            </a:endParaRPr>
          </a:p>
        </p:txBody>
      </p:sp>
      <p:sp>
        <p:nvSpPr>
          <p:cNvPr id="9" name="Slide Number Placeholder 8">
            <a:extLst>
              <a:ext uri="{FF2B5EF4-FFF2-40B4-BE49-F238E27FC236}">
                <a16:creationId xmlns:a16="http://schemas.microsoft.com/office/drawing/2014/main" id="{D4876C06-7F85-CD8A-61F9-CCD0E83E5284}"/>
              </a:ext>
            </a:extLst>
          </p:cNvPr>
          <p:cNvSpPr>
            <a:spLocks noGrp="1"/>
          </p:cNvSpPr>
          <p:nvPr>
            <p:ph type="sldNum" sz="quarter" idx="12"/>
          </p:nvPr>
        </p:nvSpPr>
        <p:spPr>
          <a:xfrm>
            <a:off x="15849600" y="9563100"/>
            <a:ext cx="2133600" cy="365125"/>
          </a:xfrm>
        </p:spPr>
        <p:txBody>
          <a:bodyPr/>
          <a:lstStyle/>
          <a:p>
            <a:fld id="{B6F15528-21DE-4FAA-801E-634DDDAF4B2B}" type="slidenum">
              <a:rPr lang="en-US" sz="1400" b="1" smtClean="0">
                <a:solidFill>
                  <a:schemeClr val="bg1"/>
                </a:solidFill>
                <a:latin typeface="Canva Sans" panose="020B0604020202020204" charset="0"/>
              </a:rPr>
              <a:t>3</a:t>
            </a:fld>
            <a:endParaRPr lang="en-US" b="1" dirty="0">
              <a:solidFill>
                <a:schemeClr val="bg1"/>
              </a:solidFill>
              <a:latin typeface="Canva Sans"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15806"/>
            <a:ext cx="16459200" cy="1283011"/>
            <a:chOff x="0" y="-9525"/>
            <a:chExt cx="21945600" cy="1710682"/>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solidFill>
                  <a:schemeClr val="bg1"/>
                </a:solidFill>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6000" b="1" dirty="0">
                  <a:solidFill>
                    <a:schemeClr val="bg1"/>
                  </a:solidFill>
                  <a:latin typeface="Canva Sans" panose="020B0604020202020204" charset="0"/>
                </a:rPr>
                <a:t>Paper Overview</a:t>
              </a:r>
              <a:endParaRPr lang="en-US" sz="5600" b="1" dirty="0">
                <a:solidFill>
                  <a:schemeClr val="bg1"/>
                </a:solidFill>
                <a:latin typeface="Canva Sans" panose="020B0604020202020204" charset="0"/>
                <a:ea typeface="Fira Sans Bold"/>
                <a:cs typeface="Fira Sans Bold"/>
                <a:sym typeface="Fira Sans Bold"/>
              </a:endParaRPr>
            </a:p>
          </p:txBody>
        </p:sp>
      </p:grpSp>
      <p:sp>
        <p:nvSpPr>
          <p:cNvPr id="5" name="TextBox 5"/>
          <p:cNvSpPr txBox="1"/>
          <p:nvPr/>
        </p:nvSpPr>
        <p:spPr>
          <a:xfrm>
            <a:off x="6185034" y="3066007"/>
            <a:ext cx="11239500" cy="4154984"/>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b="1" dirty="0">
                <a:solidFill>
                  <a:schemeClr val="bg1"/>
                </a:solidFill>
                <a:latin typeface="Canva Sans" panose="020B0604020202020204" charset="0"/>
              </a:rPr>
              <a:t>Title:</a:t>
            </a:r>
            <a:r>
              <a:rPr lang="en-US" dirty="0">
                <a:solidFill>
                  <a:schemeClr val="bg1"/>
                </a:solidFill>
                <a:latin typeface="Canva Sans" panose="020B0604020202020204" charset="0"/>
              </a:rPr>
              <a:t> </a:t>
            </a:r>
            <a:r>
              <a:rPr lang="en-US" i="1" dirty="0">
                <a:solidFill>
                  <a:schemeClr val="bg1"/>
                </a:solidFill>
                <a:latin typeface="Canva Sans" panose="020B0604020202020204" charset="0"/>
              </a:rPr>
              <a:t>Advances in Deep Learning-Based Medical Image Analysis</a:t>
            </a:r>
            <a:br>
              <a:rPr lang="en-US" dirty="0">
                <a:solidFill>
                  <a:schemeClr val="bg1"/>
                </a:solidFill>
                <a:latin typeface="Canva Sans" panose="020B0604020202020204" charset="0"/>
              </a:rPr>
            </a:br>
            <a:r>
              <a:rPr lang="en-US" b="1" dirty="0">
                <a:solidFill>
                  <a:schemeClr val="bg1"/>
                </a:solidFill>
                <a:latin typeface="Canva Sans" panose="020B0604020202020204" charset="0"/>
              </a:rPr>
              <a:t>Authors:</a:t>
            </a:r>
            <a:r>
              <a:rPr lang="en-US" dirty="0">
                <a:solidFill>
                  <a:schemeClr val="bg1"/>
                </a:solidFill>
                <a:latin typeface="Canva Sans" panose="020B0604020202020204" charset="0"/>
              </a:rPr>
              <a:t> Liu, X. et al., </a:t>
            </a:r>
            <a:r>
              <a:rPr lang="en-US" i="1" dirty="0">
                <a:solidFill>
                  <a:schemeClr val="bg1"/>
                </a:solidFill>
                <a:latin typeface="Canva Sans" panose="020B0604020202020204" charset="0"/>
              </a:rPr>
              <a:t>Health Data Science, 2021</a:t>
            </a:r>
            <a:endParaRPr lang="en-US" dirty="0">
              <a:solidFill>
                <a:schemeClr val="bg1"/>
              </a:solidFill>
              <a:latin typeface="Canva Sans" panose="020B0604020202020204" charset="0"/>
            </a:endParaRPr>
          </a:p>
          <a:p>
            <a:pPr marL="285750" indent="-285750">
              <a:buFont typeface="Arial" panose="020B0604020202020204" pitchFamily="34" charset="0"/>
              <a:buChar char="•"/>
            </a:pPr>
            <a:r>
              <a:rPr lang="en-US" dirty="0">
                <a:solidFill>
                  <a:schemeClr val="bg1"/>
                </a:solidFill>
                <a:latin typeface="Canva Sans" panose="020B0604020202020204" charset="0"/>
              </a:rPr>
              <a:t>Provides a </a:t>
            </a:r>
            <a:r>
              <a:rPr lang="en-US" b="1" dirty="0">
                <a:solidFill>
                  <a:schemeClr val="bg1"/>
                </a:solidFill>
                <a:latin typeface="Canva Sans" panose="020B0604020202020204" charset="0"/>
              </a:rPr>
              <a:t>comprehensive review</a:t>
            </a:r>
            <a:r>
              <a:rPr lang="en-US" dirty="0">
                <a:solidFill>
                  <a:schemeClr val="bg1"/>
                </a:solidFill>
                <a:latin typeface="Canva Sans" panose="020B0604020202020204" charset="0"/>
              </a:rPr>
              <a:t> of deep learning applications in medical imaging.</a:t>
            </a:r>
          </a:p>
          <a:p>
            <a:pPr marL="285750" indent="-285750">
              <a:buFont typeface="Arial" panose="020B0604020202020204" pitchFamily="34" charset="0"/>
              <a:buChar char="•"/>
            </a:pPr>
            <a:r>
              <a:rPr lang="en-US" dirty="0">
                <a:solidFill>
                  <a:schemeClr val="bg1"/>
                </a:solidFill>
                <a:latin typeface="Canva Sans" panose="020B0604020202020204" charset="0"/>
              </a:rPr>
              <a:t>Focuses on four main tasks: </a:t>
            </a:r>
            <a:r>
              <a:rPr lang="en-US" b="1" dirty="0">
                <a:solidFill>
                  <a:schemeClr val="bg1"/>
                </a:solidFill>
                <a:latin typeface="Canva Sans" panose="020B0604020202020204" charset="0"/>
              </a:rPr>
              <a:t>classification, detection, segmentation, and registration.</a:t>
            </a:r>
            <a:endParaRPr lang="en-US" dirty="0">
              <a:solidFill>
                <a:schemeClr val="bg1"/>
              </a:solidFill>
              <a:latin typeface="Canva Sans" panose="020B0604020202020204" charset="0"/>
            </a:endParaRPr>
          </a:p>
          <a:p>
            <a:pPr marL="285750" indent="-285750">
              <a:buFont typeface="Arial" panose="020B0604020202020204" pitchFamily="34" charset="0"/>
              <a:buChar char="•"/>
            </a:pPr>
            <a:r>
              <a:rPr lang="en-US" dirty="0">
                <a:solidFill>
                  <a:schemeClr val="bg1"/>
                </a:solidFill>
                <a:latin typeface="Canva Sans" panose="020B0604020202020204" charset="0"/>
              </a:rPr>
              <a:t>Discusses popular architectures: </a:t>
            </a:r>
            <a:r>
              <a:rPr lang="en-US" b="1" dirty="0">
                <a:solidFill>
                  <a:schemeClr val="bg1"/>
                </a:solidFill>
                <a:latin typeface="Canva Sans" panose="020B0604020202020204" charset="0"/>
              </a:rPr>
              <a:t>CNNs (</a:t>
            </a:r>
            <a:r>
              <a:rPr lang="en-US" b="1" dirty="0" err="1">
                <a:solidFill>
                  <a:schemeClr val="bg1"/>
                </a:solidFill>
                <a:latin typeface="Canva Sans" panose="020B0604020202020204" charset="0"/>
              </a:rPr>
              <a:t>AlexNet</a:t>
            </a:r>
            <a:r>
              <a:rPr lang="en-US" b="1" dirty="0">
                <a:solidFill>
                  <a:schemeClr val="bg1"/>
                </a:solidFill>
                <a:latin typeface="Canva Sans" panose="020B0604020202020204" charset="0"/>
              </a:rPr>
              <a:t>, VGG, </a:t>
            </a:r>
            <a:r>
              <a:rPr lang="en-US" b="1" dirty="0" err="1">
                <a:solidFill>
                  <a:schemeClr val="bg1"/>
                </a:solidFill>
                <a:latin typeface="Canva Sans" panose="020B0604020202020204" charset="0"/>
              </a:rPr>
              <a:t>ResNet</a:t>
            </a:r>
            <a:r>
              <a:rPr lang="en-US" b="1" dirty="0">
                <a:solidFill>
                  <a:schemeClr val="bg1"/>
                </a:solidFill>
                <a:latin typeface="Canva Sans" panose="020B0604020202020204" charset="0"/>
              </a:rPr>
              <a:t>), detection models (YOLO, Faster R-CNN),</a:t>
            </a:r>
            <a:r>
              <a:rPr lang="en-US" dirty="0">
                <a:solidFill>
                  <a:schemeClr val="bg1"/>
                </a:solidFill>
                <a:latin typeface="Canva Sans" panose="020B0604020202020204" charset="0"/>
              </a:rPr>
              <a:t> and </a:t>
            </a:r>
            <a:r>
              <a:rPr lang="en-US" b="1" dirty="0">
                <a:solidFill>
                  <a:schemeClr val="bg1"/>
                </a:solidFill>
                <a:latin typeface="Canva Sans" panose="020B0604020202020204" charset="0"/>
              </a:rPr>
              <a:t>segmentation networks (U-Net, </a:t>
            </a:r>
            <a:r>
              <a:rPr lang="en-US" b="1" dirty="0" err="1">
                <a:solidFill>
                  <a:schemeClr val="bg1"/>
                </a:solidFill>
                <a:latin typeface="Canva Sans" panose="020B0604020202020204" charset="0"/>
              </a:rPr>
              <a:t>nnU</a:t>
            </a:r>
            <a:r>
              <a:rPr lang="en-US" b="1" dirty="0">
                <a:solidFill>
                  <a:schemeClr val="bg1"/>
                </a:solidFill>
                <a:latin typeface="Canva Sans" panose="020B0604020202020204" charset="0"/>
              </a:rPr>
              <a:t>-Net).</a:t>
            </a:r>
            <a:endParaRPr lang="en-US" dirty="0">
              <a:solidFill>
                <a:schemeClr val="bg1"/>
              </a:solidFill>
              <a:latin typeface="Canva Sans" panose="020B0604020202020204" charset="0"/>
            </a:endParaRPr>
          </a:p>
          <a:p>
            <a:pPr marL="285750" indent="-285750">
              <a:buFont typeface="Arial" panose="020B0604020202020204" pitchFamily="34" charset="0"/>
              <a:buChar char="•"/>
            </a:pPr>
            <a:r>
              <a:rPr lang="en-US" b="1" dirty="0">
                <a:solidFill>
                  <a:schemeClr val="bg1"/>
                </a:solidFill>
                <a:latin typeface="Canva Sans" panose="020B0604020202020204" charset="0"/>
              </a:rPr>
              <a:t>Applications:</a:t>
            </a:r>
            <a:r>
              <a:rPr lang="en-US" dirty="0">
                <a:solidFill>
                  <a:schemeClr val="bg1"/>
                </a:solidFill>
                <a:latin typeface="Canva Sans" panose="020B0604020202020204" charset="0"/>
              </a:rPr>
              <a:t> Stroke and brain hemorrhage detection, cardiac structure analysis, liver lesion classification, and bone fracture recognition.</a:t>
            </a:r>
          </a:p>
          <a:p>
            <a:pPr marL="285750" indent="-285750">
              <a:buFont typeface="Arial" panose="020B0604020202020204" pitchFamily="34" charset="0"/>
              <a:buChar char="•"/>
            </a:pPr>
            <a:r>
              <a:rPr lang="en-US" b="1" dirty="0">
                <a:solidFill>
                  <a:schemeClr val="bg1"/>
                </a:solidFill>
                <a:latin typeface="Canva Sans" panose="020B0604020202020204" charset="0"/>
              </a:rPr>
              <a:t>Key challenges:</a:t>
            </a:r>
            <a:endParaRPr lang="en-US" dirty="0">
              <a:solidFill>
                <a:schemeClr val="bg1"/>
              </a:solidFill>
              <a:latin typeface="Canva Sans" panose="020B0604020202020204" charset="0"/>
            </a:endParaRPr>
          </a:p>
          <a:p>
            <a:pPr marL="742950" lvl="1" indent="-285750">
              <a:buFont typeface="Arial" panose="020B0604020202020204" pitchFamily="34" charset="0"/>
              <a:buChar char="•"/>
            </a:pPr>
            <a:r>
              <a:rPr lang="en-US" dirty="0">
                <a:solidFill>
                  <a:schemeClr val="bg1"/>
                </a:solidFill>
                <a:latin typeface="Canva Sans" panose="020B0604020202020204" charset="0"/>
              </a:rPr>
              <a:t>Limited labeled datasets</a:t>
            </a:r>
          </a:p>
          <a:p>
            <a:pPr marL="742950" lvl="1" indent="-285750">
              <a:buFont typeface="Arial" panose="020B0604020202020204" pitchFamily="34" charset="0"/>
              <a:buChar char="•"/>
            </a:pPr>
            <a:r>
              <a:rPr lang="en-US" dirty="0">
                <a:solidFill>
                  <a:schemeClr val="bg1"/>
                </a:solidFill>
                <a:latin typeface="Canva Sans" panose="020B0604020202020204" charset="0"/>
              </a:rPr>
              <a:t>Class imbalance</a:t>
            </a:r>
          </a:p>
          <a:p>
            <a:pPr marL="742950" lvl="1" indent="-285750">
              <a:buFont typeface="Arial" panose="020B0604020202020204" pitchFamily="34" charset="0"/>
              <a:buChar char="•"/>
            </a:pPr>
            <a:r>
              <a:rPr lang="en-US" dirty="0">
                <a:solidFill>
                  <a:schemeClr val="bg1"/>
                </a:solidFill>
                <a:latin typeface="Canva Sans" panose="020B0604020202020204" charset="0"/>
              </a:rPr>
              <a:t>Model interpretability and trust</a:t>
            </a:r>
          </a:p>
          <a:p>
            <a:pPr marL="285750" indent="-285750">
              <a:buFont typeface="Arial" panose="020B0604020202020204" pitchFamily="34" charset="0"/>
              <a:buChar char="•"/>
            </a:pPr>
            <a:r>
              <a:rPr lang="en-US" b="1" dirty="0">
                <a:solidFill>
                  <a:schemeClr val="bg1"/>
                </a:solidFill>
                <a:latin typeface="Canva Sans" panose="020B0604020202020204" charset="0"/>
              </a:rPr>
              <a:t>Future directions:</a:t>
            </a:r>
            <a:endParaRPr lang="en-US" dirty="0">
              <a:solidFill>
                <a:schemeClr val="bg1"/>
              </a:solidFill>
              <a:latin typeface="Canva Sans" panose="020B0604020202020204" charset="0"/>
            </a:endParaRPr>
          </a:p>
          <a:p>
            <a:pPr marL="742950" lvl="1" indent="-285750">
              <a:buFont typeface="Arial" panose="020B0604020202020204" pitchFamily="34" charset="0"/>
              <a:buChar char="•"/>
            </a:pPr>
            <a:r>
              <a:rPr lang="en-US" b="1" dirty="0">
                <a:solidFill>
                  <a:schemeClr val="bg1"/>
                </a:solidFill>
                <a:latin typeface="Canva Sans" panose="020B0604020202020204" charset="0"/>
              </a:rPr>
              <a:t>Transfer learning</a:t>
            </a:r>
            <a:r>
              <a:rPr lang="en-US" dirty="0">
                <a:solidFill>
                  <a:schemeClr val="bg1"/>
                </a:solidFill>
                <a:latin typeface="Canva Sans" panose="020B0604020202020204" charset="0"/>
              </a:rPr>
              <a:t> and </a:t>
            </a:r>
            <a:r>
              <a:rPr lang="en-US" b="1" dirty="0">
                <a:solidFill>
                  <a:schemeClr val="bg1"/>
                </a:solidFill>
                <a:latin typeface="Canva Sans" panose="020B0604020202020204" charset="0"/>
              </a:rPr>
              <a:t>federated learning</a:t>
            </a:r>
            <a:r>
              <a:rPr lang="en-US" dirty="0">
                <a:solidFill>
                  <a:schemeClr val="bg1"/>
                </a:solidFill>
                <a:latin typeface="Canva Sans" panose="020B0604020202020204" charset="0"/>
              </a:rPr>
              <a:t> for data efficiency and privacy</a:t>
            </a:r>
          </a:p>
          <a:p>
            <a:pPr marL="742950" lvl="1" indent="-285750">
              <a:buFont typeface="Arial" panose="020B0604020202020204" pitchFamily="34" charset="0"/>
              <a:buChar char="•"/>
            </a:pPr>
            <a:r>
              <a:rPr lang="en-US" b="1" dirty="0">
                <a:solidFill>
                  <a:schemeClr val="bg1"/>
                </a:solidFill>
                <a:latin typeface="Canva Sans" panose="020B0604020202020204" charset="0"/>
              </a:rPr>
              <a:t>Explainable AI</a:t>
            </a:r>
            <a:r>
              <a:rPr lang="en-US" dirty="0">
                <a:solidFill>
                  <a:schemeClr val="bg1"/>
                </a:solidFill>
                <a:latin typeface="Canva Sans" panose="020B0604020202020204" charset="0"/>
              </a:rPr>
              <a:t> to improve transparency and clinical trust</a:t>
            </a:r>
          </a:p>
        </p:txBody>
      </p:sp>
      <p:sp>
        <p:nvSpPr>
          <p:cNvPr id="7" name="Freeform 7"/>
          <p:cNvSpPr/>
          <p:nvPr/>
        </p:nvSpPr>
        <p:spPr>
          <a:xfrm>
            <a:off x="533400" y="2558864"/>
            <a:ext cx="5104432" cy="5169271"/>
          </a:xfrm>
          <a:custGeom>
            <a:avLst/>
            <a:gdLst/>
            <a:ahLst/>
            <a:cxnLst/>
            <a:rect l="l" t="t" r="r" b="b"/>
            <a:pathLst>
              <a:path w="5104432" h="5169271">
                <a:moveTo>
                  <a:pt x="0" y="0"/>
                </a:moveTo>
                <a:lnTo>
                  <a:pt x="5104432" y="0"/>
                </a:lnTo>
                <a:lnTo>
                  <a:pt x="5104432" y="5169272"/>
                </a:lnTo>
                <a:lnTo>
                  <a:pt x="0" y="51692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solidFill>
                <a:schemeClr val="bg1"/>
              </a:solidFill>
            </a:endParaRPr>
          </a:p>
        </p:txBody>
      </p:sp>
      <p:sp>
        <p:nvSpPr>
          <p:cNvPr id="9" name="Slide Number Placeholder 8">
            <a:extLst>
              <a:ext uri="{FF2B5EF4-FFF2-40B4-BE49-F238E27FC236}">
                <a16:creationId xmlns:a16="http://schemas.microsoft.com/office/drawing/2014/main" id="{991FF842-A8AE-09DF-0E50-26A89585F8DE}"/>
              </a:ext>
            </a:extLst>
          </p:cNvPr>
          <p:cNvSpPr>
            <a:spLocks noGrp="1"/>
          </p:cNvSpPr>
          <p:nvPr>
            <p:ph type="sldNum" sz="quarter" idx="12"/>
          </p:nvPr>
        </p:nvSpPr>
        <p:spPr>
          <a:xfrm>
            <a:off x="15849600" y="9464050"/>
            <a:ext cx="2133600" cy="365125"/>
          </a:xfrm>
        </p:spPr>
        <p:txBody>
          <a:bodyPr/>
          <a:lstStyle/>
          <a:p>
            <a:fld id="{B6F15528-21DE-4FAA-801E-634DDDAF4B2B}" type="slidenum">
              <a:rPr lang="en-US" sz="1400" b="1" smtClean="0">
                <a:solidFill>
                  <a:schemeClr val="bg1"/>
                </a:solidFill>
                <a:latin typeface="Canva Sans" panose="020B0604020202020204" charset="0"/>
              </a:rPr>
              <a:t>4</a:t>
            </a:fld>
            <a:endParaRPr lang="en-US" b="1" dirty="0">
              <a:solidFill>
                <a:schemeClr val="bg1"/>
              </a:solidFill>
              <a:latin typeface="Canva Sans"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9105" y="654531"/>
            <a:ext cx="18069791" cy="1275867"/>
            <a:chOff x="0" y="0"/>
            <a:chExt cx="24093055" cy="1701157"/>
          </a:xfrm>
        </p:grpSpPr>
        <p:sp>
          <p:nvSpPr>
            <p:cNvPr id="3" name="Freeform 3"/>
            <p:cNvSpPr/>
            <p:nvPr/>
          </p:nvSpPr>
          <p:spPr>
            <a:xfrm>
              <a:off x="0" y="0"/>
              <a:ext cx="24093055" cy="1701157"/>
            </a:xfrm>
            <a:custGeom>
              <a:avLst/>
              <a:gdLst/>
              <a:ahLst/>
              <a:cxnLst/>
              <a:rect l="l" t="t" r="r" b="b"/>
              <a:pathLst>
                <a:path w="24093055" h="1701157">
                  <a:moveTo>
                    <a:pt x="0" y="0"/>
                  </a:moveTo>
                  <a:lnTo>
                    <a:pt x="24093055" y="0"/>
                  </a:lnTo>
                  <a:lnTo>
                    <a:pt x="24093055" y="1701157"/>
                  </a:lnTo>
                  <a:lnTo>
                    <a:pt x="0" y="1701157"/>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4" name="TextBox 4"/>
            <p:cNvSpPr txBox="1"/>
            <p:nvPr/>
          </p:nvSpPr>
          <p:spPr>
            <a:xfrm>
              <a:off x="0" y="-9525"/>
              <a:ext cx="24093055" cy="1710682"/>
            </a:xfrm>
            <a:prstGeom prst="rect">
              <a:avLst/>
            </a:prstGeom>
          </p:spPr>
          <p:txBody>
            <a:bodyPr lIns="0" tIns="0" rIns="0" bIns="0" rtlCol="0" anchor="ctr"/>
            <a:lstStyle/>
            <a:p>
              <a:pPr algn="ctr">
                <a:lnSpc>
                  <a:spcPts val="6720"/>
                </a:lnSpc>
              </a:pPr>
              <a:r>
                <a:rPr lang="en-US" sz="5600" b="1" dirty="0" err="1">
                  <a:solidFill>
                    <a:schemeClr val="bg1"/>
                  </a:solidFill>
                  <a:latin typeface="Canva Sans" panose="020B0604020202020204" charset="0"/>
                  <a:ea typeface="Fira Sans Bold"/>
                  <a:cs typeface="Fira Sans Bold"/>
                  <a:sym typeface="Fira Sans Bold"/>
                </a:rPr>
                <a:t>ResNet</a:t>
              </a:r>
              <a:r>
                <a:rPr lang="en-US" sz="5600" b="1" dirty="0">
                  <a:solidFill>
                    <a:schemeClr val="bg1"/>
                  </a:solidFill>
                  <a:latin typeface="Canva Sans" panose="020B0604020202020204" charset="0"/>
                  <a:ea typeface="Fira Sans Bold"/>
                  <a:cs typeface="Fira Sans Bold"/>
                  <a:sym typeface="Fira Sans Bold"/>
                </a:rPr>
                <a:t> (Revolutionizing Deep Learning Classification)</a:t>
              </a:r>
            </a:p>
          </p:txBody>
        </p:sp>
      </p:grpSp>
      <p:sp>
        <p:nvSpPr>
          <p:cNvPr id="6" name="TextBox 6"/>
          <p:cNvSpPr txBox="1"/>
          <p:nvPr/>
        </p:nvSpPr>
        <p:spPr>
          <a:xfrm>
            <a:off x="990600" y="2720693"/>
            <a:ext cx="9844332" cy="6797758"/>
          </a:xfrm>
          <a:prstGeom prst="rect">
            <a:avLst/>
          </a:prstGeom>
        </p:spPr>
        <p:txBody>
          <a:bodyPr lIns="0" tIns="0" rIns="0" bIns="0" rtlCol="0" anchor="t">
            <a:spAutoFit/>
          </a:bodyPr>
          <a:lstStyle/>
          <a:p>
            <a:pPr algn="just">
              <a:lnSpc>
                <a:spcPts val="2635"/>
              </a:lnSpc>
            </a:pPr>
            <a:r>
              <a:rPr lang="en-US" sz="1885" b="1" spc="1" dirty="0">
                <a:solidFill>
                  <a:schemeClr val="bg1"/>
                </a:solidFill>
                <a:latin typeface="Canva Sans" panose="020B0604020202020204" charset="0"/>
                <a:ea typeface="Canva Sans Bold"/>
                <a:cs typeface="Canva Sans Bold"/>
                <a:sym typeface="Canva Sans Bold"/>
              </a:rPr>
              <a:t>What does </a:t>
            </a:r>
            <a:r>
              <a:rPr lang="en-US" sz="1885" b="1" spc="1" dirty="0" err="1">
                <a:solidFill>
                  <a:schemeClr val="bg1"/>
                </a:solidFill>
                <a:latin typeface="Canva Sans" panose="020B0604020202020204" charset="0"/>
                <a:ea typeface="Canva Sans Bold"/>
                <a:cs typeface="Canva Sans Bold"/>
                <a:sym typeface="Canva Sans Bold"/>
              </a:rPr>
              <a:t>ResNet</a:t>
            </a:r>
            <a:r>
              <a:rPr lang="en-US" sz="1885" b="1" spc="1" dirty="0">
                <a:solidFill>
                  <a:schemeClr val="bg1"/>
                </a:solidFill>
                <a:latin typeface="Canva Sans" panose="020B0604020202020204" charset="0"/>
                <a:ea typeface="Canva Sans Bold"/>
                <a:cs typeface="Canva Sans Bold"/>
                <a:sym typeface="Canva Sans Bold"/>
              </a:rPr>
              <a:t> do?</a:t>
            </a:r>
          </a:p>
          <a:p>
            <a:pPr algn="just">
              <a:lnSpc>
                <a:spcPts val="2495"/>
              </a:lnSpc>
            </a:pPr>
            <a:r>
              <a:rPr lang="en-US" sz="1785" spc="1" dirty="0" err="1">
                <a:solidFill>
                  <a:schemeClr val="bg1"/>
                </a:solidFill>
                <a:latin typeface="Canva Sans" panose="020B0604020202020204" charset="0"/>
                <a:ea typeface="Canva Sans" panose="020B0503030501040103"/>
                <a:cs typeface="Canva Sans" panose="020B0503030501040103"/>
                <a:sym typeface="Canva Sans" panose="020B0503030501040103"/>
              </a:rPr>
              <a:t>ResNet</a:t>
            </a: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 is an advanced deep learning model designed to classify images. For example, it can automatically distinguish between images of healthy tissue and tumors, helping doctors diagnose conditions faster and more accurately.</a:t>
            </a:r>
          </a:p>
          <a:p>
            <a:pPr algn="just">
              <a:lnSpc>
                <a:spcPts val="2495"/>
              </a:lnSpc>
            </a:pPr>
            <a:endPar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endParaRPr>
          </a:p>
          <a:p>
            <a:pPr algn="just">
              <a:lnSpc>
                <a:spcPts val="2635"/>
              </a:lnSpc>
            </a:pPr>
            <a:r>
              <a:rPr lang="en-US" sz="1885" b="1" spc="1" dirty="0">
                <a:solidFill>
                  <a:schemeClr val="bg1"/>
                </a:solidFill>
                <a:latin typeface="Canva Sans" panose="020B0604020202020204" charset="0"/>
                <a:ea typeface="Canva Sans Bold"/>
                <a:cs typeface="Canva Sans Bold"/>
                <a:sym typeface="Canva Sans Bold"/>
              </a:rPr>
              <a:t>Key Feature: Skip Connections</a:t>
            </a:r>
          </a:p>
          <a:p>
            <a:pPr algn="just">
              <a:lnSpc>
                <a:spcPts val="2495"/>
              </a:lnSpc>
            </a:pP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Traditional neural networks pass information forward, layer by layer. </a:t>
            </a:r>
            <a:r>
              <a:rPr lang="en-US" sz="1785" spc="1" dirty="0" err="1">
                <a:solidFill>
                  <a:schemeClr val="bg1"/>
                </a:solidFill>
                <a:latin typeface="Canva Sans" panose="020B0604020202020204" charset="0"/>
                <a:ea typeface="Canva Sans" panose="020B0503030501040103"/>
                <a:cs typeface="Canva Sans" panose="020B0503030501040103"/>
                <a:sym typeface="Canva Sans" panose="020B0503030501040103"/>
              </a:rPr>
              <a:t>ResNet</a:t>
            </a: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 introduces "skip connections"—these allow some inputs to bypass certain layers and flow directly to deeper sections of the network. This helps maintain important information, even in very deep models.</a:t>
            </a:r>
          </a:p>
          <a:p>
            <a:pPr algn="just">
              <a:lnSpc>
                <a:spcPts val="2495"/>
              </a:lnSpc>
            </a:pPr>
            <a:endPar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endParaRPr>
          </a:p>
          <a:p>
            <a:pPr algn="just">
              <a:lnSpc>
                <a:spcPts val="2635"/>
              </a:lnSpc>
            </a:pPr>
            <a:r>
              <a:rPr lang="en-US" sz="1885" b="1" spc="1" dirty="0">
                <a:solidFill>
                  <a:schemeClr val="bg1"/>
                </a:solidFill>
                <a:latin typeface="Canva Sans" panose="020B0604020202020204" charset="0"/>
                <a:ea typeface="Canva Sans Bold"/>
                <a:cs typeface="Canva Sans Bold"/>
                <a:sym typeface="Canva Sans Bold"/>
              </a:rPr>
              <a:t>Why are Skip Connections Important?</a:t>
            </a:r>
          </a:p>
          <a:p>
            <a:pPr marL="0" lvl="0" indent="0" algn="just">
              <a:lnSpc>
                <a:spcPts val="2495"/>
              </a:lnSpc>
              <a:spcBef>
                <a:spcPct val="0"/>
              </a:spcBef>
            </a:pP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In very deep networks, mathematical signals can become too weak to propagate, causing the “vanishing gradient” problem. Skip connections in </a:t>
            </a:r>
            <a:r>
              <a:rPr lang="en-US" sz="1785" spc="1" dirty="0" err="1">
                <a:solidFill>
                  <a:schemeClr val="bg1"/>
                </a:solidFill>
                <a:latin typeface="Canva Sans" panose="020B0604020202020204" charset="0"/>
                <a:ea typeface="Canva Sans" panose="020B0503030501040103"/>
                <a:cs typeface="Canva Sans" panose="020B0503030501040103"/>
                <a:sym typeface="Canva Sans" panose="020B0503030501040103"/>
              </a:rPr>
              <a:t>ResNet</a:t>
            </a: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 prevent this, so learning is stable and effective even with many layers.</a:t>
            </a:r>
          </a:p>
          <a:p>
            <a:endParaRPr lang="en-US" sz="1600" dirty="0">
              <a:solidFill>
                <a:schemeClr val="bg1"/>
              </a:solidFill>
              <a:latin typeface="Canva Sans" panose="020B0604020202020204" charset="0"/>
            </a:endParaRPr>
          </a:p>
          <a:p>
            <a:pPr marL="285750" indent="-285750">
              <a:buFont typeface="Arial" panose="020B0604020202020204" pitchFamily="34" charset="0"/>
              <a:buChar char="•"/>
            </a:pPr>
            <a:r>
              <a:rPr lang="en-US" sz="1600" dirty="0">
                <a:solidFill>
                  <a:schemeClr val="bg1"/>
                </a:solidFill>
                <a:latin typeface="Canva Sans" panose="020B0604020202020204" charset="0"/>
              </a:rPr>
              <a:t>Think of a </a:t>
            </a:r>
            <a:r>
              <a:rPr lang="en-US" sz="1600" dirty="0" err="1">
                <a:solidFill>
                  <a:schemeClr val="bg1"/>
                </a:solidFill>
                <a:latin typeface="Canva Sans" panose="020B0604020202020204" charset="0"/>
              </a:rPr>
              <a:t>ResNet</a:t>
            </a:r>
            <a:r>
              <a:rPr lang="en-US" sz="1600" dirty="0">
                <a:solidFill>
                  <a:schemeClr val="bg1"/>
                </a:solidFill>
                <a:latin typeface="Canva Sans" panose="020B0604020202020204" charset="0"/>
              </a:rPr>
              <a:t> block like a highway system. Most of the data goes through the </a:t>
            </a:r>
            <a:r>
              <a:rPr lang="en-US" sz="1600" b="1" dirty="0">
                <a:solidFill>
                  <a:schemeClr val="bg1"/>
                </a:solidFill>
                <a:latin typeface="Canva Sans" panose="020B0604020202020204" charset="0"/>
              </a:rPr>
              <a:t>"main path"</a:t>
            </a:r>
            <a:r>
              <a:rPr lang="en-US" sz="1600" dirty="0">
                <a:solidFill>
                  <a:schemeClr val="bg1"/>
                </a:solidFill>
                <a:latin typeface="Canva Sans" panose="020B0604020202020204" charset="0"/>
              </a:rPr>
              <a:t> (like a local road with traffic lights) where it gets processed by convolutional layers. However, </a:t>
            </a:r>
            <a:r>
              <a:rPr lang="en-US" sz="1600" dirty="0" err="1">
                <a:solidFill>
                  <a:schemeClr val="bg1"/>
                </a:solidFill>
                <a:latin typeface="Canva Sans" panose="020B0604020202020204" charset="0"/>
              </a:rPr>
              <a:t>ResNet</a:t>
            </a:r>
            <a:r>
              <a:rPr lang="en-US" sz="1600" dirty="0">
                <a:solidFill>
                  <a:schemeClr val="bg1"/>
                </a:solidFill>
                <a:latin typeface="Canva Sans" panose="020B0604020202020204" charset="0"/>
              </a:rPr>
              <a:t> adds a </a:t>
            </a:r>
            <a:r>
              <a:rPr lang="en-US" sz="1600" b="1" dirty="0">
                <a:solidFill>
                  <a:schemeClr val="bg1"/>
                </a:solidFill>
                <a:latin typeface="Canva Sans" panose="020B0604020202020204" charset="0"/>
              </a:rPr>
              <a:t>"skip connection"</a:t>
            </a:r>
            <a:r>
              <a:rPr lang="en-US" sz="1600" dirty="0">
                <a:solidFill>
                  <a:schemeClr val="bg1"/>
                </a:solidFill>
                <a:latin typeface="Canva Sans" panose="020B0604020202020204" charset="0"/>
              </a:rPr>
              <a:t> (like an express highway) that allows the original, unchanged data to bypass this processing and meet up with the processed data at the end.</a:t>
            </a:r>
          </a:p>
          <a:p>
            <a:pPr marL="285750" indent="-285750">
              <a:buFont typeface="Arial" panose="020B0604020202020204" pitchFamily="34" charset="0"/>
              <a:buChar char="•"/>
            </a:pPr>
            <a:endParaRPr lang="en-US" sz="1600" dirty="0">
              <a:solidFill>
                <a:schemeClr val="bg1"/>
              </a:solidFill>
              <a:latin typeface="Canva Sans" panose="020B0604020202020204" charset="0"/>
            </a:endParaRPr>
          </a:p>
          <a:p>
            <a:pPr marL="285750" indent="-285750">
              <a:buFont typeface="Arial" panose="020B0604020202020204" pitchFamily="34" charset="0"/>
              <a:buChar char="•"/>
            </a:pPr>
            <a:r>
              <a:rPr lang="en-US" sz="1600" dirty="0">
                <a:solidFill>
                  <a:schemeClr val="bg1"/>
                </a:solidFill>
                <a:latin typeface="Canva Sans" panose="020B0604020202020204" charset="0"/>
              </a:rPr>
              <a:t>This structure makes it easier for the network to learn, as it can choose to use the original data directly if the processing in the main path isn't helpful.</a:t>
            </a:r>
          </a:p>
          <a:p>
            <a:pPr marL="0" lvl="0" indent="0" algn="just">
              <a:lnSpc>
                <a:spcPts val="2495"/>
              </a:lnSpc>
              <a:spcBef>
                <a:spcPct val="0"/>
              </a:spcBef>
            </a:pPr>
            <a:endPar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endParaRPr>
          </a:p>
        </p:txBody>
      </p:sp>
      <p:pic>
        <p:nvPicPr>
          <p:cNvPr id="9" name="Picture 8" descr="A diagram of a computer network&#10;&#10;AI-generated content may be incorrect.">
            <a:extLst>
              <a:ext uri="{FF2B5EF4-FFF2-40B4-BE49-F238E27FC236}">
                <a16:creationId xmlns:a16="http://schemas.microsoft.com/office/drawing/2014/main" id="{EA16D778-CAD3-4BB1-AB18-A0F02540EE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96800" y="3390900"/>
            <a:ext cx="4114800" cy="4114800"/>
          </a:xfrm>
          <a:prstGeom prst="rect">
            <a:avLst/>
          </a:prstGeom>
        </p:spPr>
      </p:pic>
      <p:sp>
        <p:nvSpPr>
          <p:cNvPr id="13" name="Slide Number Placeholder 12">
            <a:extLst>
              <a:ext uri="{FF2B5EF4-FFF2-40B4-BE49-F238E27FC236}">
                <a16:creationId xmlns:a16="http://schemas.microsoft.com/office/drawing/2014/main" id="{9C5C3A87-4114-557E-709A-2180E266C7A6}"/>
              </a:ext>
            </a:extLst>
          </p:cNvPr>
          <p:cNvSpPr>
            <a:spLocks noGrp="1"/>
          </p:cNvSpPr>
          <p:nvPr>
            <p:ph type="sldNum" sz="quarter" idx="12"/>
          </p:nvPr>
        </p:nvSpPr>
        <p:spPr>
          <a:xfrm>
            <a:off x="15849600" y="9449906"/>
            <a:ext cx="2133600" cy="365125"/>
          </a:xfrm>
        </p:spPr>
        <p:txBody>
          <a:bodyPr/>
          <a:lstStyle/>
          <a:p>
            <a:fld id="{B6F15528-21DE-4FAA-801E-634DDDAF4B2B}" type="slidenum">
              <a:rPr lang="en-US" sz="1400" b="1" smtClean="0">
                <a:solidFill>
                  <a:schemeClr val="bg1"/>
                </a:solidFill>
                <a:latin typeface="Canva Sans" panose="020B0604020202020204" charset="0"/>
              </a:rPr>
              <a:t>5</a:t>
            </a:fld>
            <a:endParaRPr lang="en-US" b="1" dirty="0">
              <a:solidFill>
                <a:schemeClr val="bg1"/>
              </a:solidFill>
              <a:latin typeface="Canva Sans"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11D1DEA-90A6-1020-8292-A944BB441A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AC3FF46-7ED7-153F-7323-DFB467A723AD}"/>
              </a:ext>
            </a:extLst>
          </p:cNvPr>
          <p:cNvGrpSpPr/>
          <p:nvPr/>
        </p:nvGrpSpPr>
        <p:grpSpPr>
          <a:xfrm>
            <a:off x="914400" y="241876"/>
            <a:ext cx="16459200" cy="1283011"/>
            <a:chOff x="0" y="-9525"/>
            <a:chExt cx="21945600" cy="1710682"/>
          </a:xfrm>
        </p:grpSpPr>
        <p:sp>
          <p:nvSpPr>
            <p:cNvPr id="3" name="Freeform 3">
              <a:extLst>
                <a:ext uri="{FF2B5EF4-FFF2-40B4-BE49-F238E27FC236}">
                  <a16:creationId xmlns:a16="http://schemas.microsoft.com/office/drawing/2014/main" id="{E908AF89-A78D-9553-ABC0-5AF6904CE18D}"/>
                </a:ext>
              </a:extLst>
            </p:cNvPr>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4" name="TextBox 4">
              <a:extLst>
                <a:ext uri="{FF2B5EF4-FFF2-40B4-BE49-F238E27FC236}">
                  <a16:creationId xmlns:a16="http://schemas.microsoft.com/office/drawing/2014/main" id="{BAF070C4-1CF3-38D0-A43E-9D94D5232D06}"/>
                </a:ext>
              </a:extLst>
            </p:cNvPr>
            <p:cNvSpPr txBox="1"/>
            <p:nvPr/>
          </p:nvSpPr>
          <p:spPr>
            <a:xfrm>
              <a:off x="0" y="-9525"/>
              <a:ext cx="21945600" cy="1710682"/>
            </a:xfrm>
            <a:prstGeom prst="rect">
              <a:avLst/>
            </a:prstGeom>
          </p:spPr>
          <p:txBody>
            <a:bodyPr lIns="0" tIns="0" rIns="0" bIns="0" rtlCol="0" anchor="ctr"/>
            <a:lstStyle/>
            <a:p>
              <a:pPr algn="ctr">
                <a:lnSpc>
                  <a:spcPts val="6720"/>
                </a:lnSpc>
              </a:pPr>
              <a:r>
                <a:rPr lang="en-US" sz="6000" dirty="0">
                  <a:solidFill>
                    <a:schemeClr val="bg1"/>
                  </a:solidFill>
                  <a:latin typeface="Canva Sans" panose="020B0604020202020204" charset="0"/>
                </a:rPr>
                <a:t>The Core Idea</a:t>
              </a:r>
              <a:endParaRPr lang="en-US" sz="5600" b="1" dirty="0">
                <a:solidFill>
                  <a:schemeClr val="bg1"/>
                </a:solidFill>
                <a:latin typeface="Canva Sans" panose="020B0604020202020204" charset="0"/>
                <a:ea typeface="Fira Sans Bold"/>
                <a:cs typeface="Fira Sans Bold"/>
                <a:sym typeface="Fira Sans Bold"/>
              </a:endParaRPr>
            </a:p>
          </p:txBody>
        </p:sp>
      </p:grpSp>
      <p:sp>
        <p:nvSpPr>
          <p:cNvPr id="5" name="TextBox 5">
            <a:extLst>
              <a:ext uri="{FF2B5EF4-FFF2-40B4-BE49-F238E27FC236}">
                <a16:creationId xmlns:a16="http://schemas.microsoft.com/office/drawing/2014/main" id="{46010564-D657-A84D-E128-9CC84E8A6BB8}"/>
              </a:ext>
            </a:extLst>
          </p:cNvPr>
          <p:cNvSpPr txBox="1"/>
          <p:nvPr/>
        </p:nvSpPr>
        <p:spPr>
          <a:xfrm>
            <a:off x="1066800" y="1524887"/>
            <a:ext cx="7048500" cy="7379969"/>
          </a:xfrm>
          <a:prstGeom prst="rect">
            <a:avLst/>
          </a:prstGeom>
        </p:spPr>
        <p:txBody>
          <a:bodyPr wrap="square" lIns="0" tIns="0" rIns="0" bIns="0" rtlCol="0" anchor="t">
            <a:spAutoFit/>
          </a:bodyPr>
          <a:lstStyle/>
          <a:p>
            <a:pPr marL="457200" indent="-457200" algn="just">
              <a:buAutoNum type="arabicPeriod"/>
            </a:pPr>
            <a:r>
              <a:rPr lang="en-US" sz="2000" b="1" dirty="0">
                <a:solidFill>
                  <a:schemeClr val="bg1"/>
                </a:solidFill>
              </a:rPr>
              <a:t>The Main Path </a:t>
            </a:r>
          </a:p>
          <a:p>
            <a:pPr algn="just"/>
            <a:r>
              <a:rPr lang="en-US" sz="2000" dirty="0">
                <a:solidFill>
                  <a:schemeClr val="bg1"/>
                </a:solidFill>
              </a:rPr>
              <a:t>This is the standard part of a convolutional neural network. The input data goes through two </a:t>
            </a:r>
            <a:r>
              <a:rPr lang="en-US" b="1" dirty="0" err="1">
                <a:solidFill>
                  <a:schemeClr val="bg1"/>
                </a:solidFill>
              </a:rPr>
              <a:t>Conv_Layer</a:t>
            </a:r>
            <a:r>
              <a:rPr lang="en-US" sz="2000" dirty="0">
                <a:solidFill>
                  <a:schemeClr val="bg1"/>
                </a:solidFill>
              </a:rPr>
              <a:t> blocks, which are responsible for finding patterns. </a:t>
            </a:r>
            <a:r>
              <a:rPr lang="en-US" b="1" dirty="0" err="1">
                <a:solidFill>
                  <a:schemeClr val="bg1"/>
                </a:solidFill>
              </a:rPr>
              <a:t>Batch_Norm</a:t>
            </a:r>
            <a:r>
              <a:rPr lang="en-US" sz="2000" dirty="0">
                <a:solidFill>
                  <a:schemeClr val="bg1"/>
                </a:solidFill>
              </a:rPr>
              <a:t> helps stabilize the training, and </a:t>
            </a:r>
            <a:r>
              <a:rPr lang="en-US" b="1" dirty="0" err="1">
                <a:solidFill>
                  <a:schemeClr val="bg1"/>
                </a:solidFill>
              </a:rPr>
              <a:t>ReLU</a:t>
            </a:r>
            <a:r>
              <a:rPr lang="en-US" sz="2000" dirty="0">
                <a:solidFill>
                  <a:schemeClr val="bg1"/>
                </a:solidFill>
              </a:rPr>
              <a:t> is an activation function that helps the network learn non-linear relationships.</a:t>
            </a:r>
          </a:p>
          <a:p>
            <a:pPr algn="just"/>
            <a:endParaRPr lang="en-US" sz="2000" dirty="0">
              <a:solidFill>
                <a:schemeClr val="bg1"/>
              </a:solidFill>
            </a:endParaRPr>
          </a:p>
          <a:p>
            <a:pPr algn="just"/>
            <a:r>
              <a:rPr lang="en-US" sz="2000" b="1" dirty="0">
                <a:solidFill>
                  <a:schemeClr val="bg1"/>
                </a:solidFill>
              </a:rPr>
              <a:t>2. The Skip Connection </a:t>
            </a:r>
          </a:p>
          <a:p>
            <a:pPr algn="just"/>
            <a:r>
              <a:rPr lang="en-US" sz="2000" dirty="0">
                <a:solidFill>
                  <a:schemeClr val="bg1"/>
                </a:solidFill>
              </a:rPr>
              <a:t>This is the special part of </a:t>
            </a:r>
            <a:r>
              <a:rPr lang="en-US" sz="2000" dirty="0" err="1">
                <a:solidFill>
                  <a:schemeClr val="bg1"/>
                </a:solidFill>
              </a:rPr>
              <a:t>ResNet</a:t>
            </a:r>
            <a:r>
              <a:rPr lang="en-US" sz="2000" dirty="0">
                <a:solidFill>
                  <a:schemeClr val="bg1"/>
                </a:solidFill>
              </a:rPr>
              <a:t>.</a:t>
            </a:r>
          </a:p>
          <a:p>
            <a:pPr marL="342900" indent="-342900" algn="just">
              <a:buFont typeface="Arial" panose="020B0604020202020204" pitchFamily="34" charset="0"/>
              <a:buChar char="•"/>
            </a:pPr>
            <a:r>
              <a:rPr lang="en-US" sz="2000" dirty="0">
                <a:solidFill>
                  <a:schemeClr val="bg1"/>
                </a:solidFill>
              </a:rPr>
              <a:t>We first save a copy of the original input as </a:t>
            </a:r>
            <a:r>
              <a:rPr lang="en-US" dirty="0">
                <a:solidFill>
                  <a:schemeClr val="bg1"/>
                </a:solidFill>
              </a:rPr>
              <a:t>identity</a:t>
            </a:r>
            <a:r>
              <a:rPr lang="en-US" sz="2000" dirty="0">
                <a:solidFill>
                  <a:schemeClr val="bg1"/>
                </a:solidFill>
              </a:rPr>
              <a:t>.</a:t>
            </a:r>
          </a:p>
          <a:p>
            <a:pPr marL="342900" indent="-342900" algn="just">
              <a:buFont typeface="Arial" panose="020B0604020202020204" pitchFamily="34" charset="0"/>
              <a:buChar char="•"/>
            </a:pPr>
            <a:r>
              <a:rPr lang="en-US" sz="2000" dirty="0">
                <a:solidFill>
                  <a:schemeClr val="bg1"/>
                </a:solidFill>
              </a:rPr>
              <a:t>The </a:t>
            </a:r>
            <a:r>
              <a:rPr lang="en-US" dirty="0">
                <a:solidFill>
                  <a:schemeClr val="bg1"/>
                </a:solidFill>
              </a:rPr>
              <a:t>if</a:t>
            </a:r>
            <a:r>
              <a:rPr lang="en-US" sz="2000" dirty="0">
                <a:solidFill>
                  <a:schemeClr val="bg1"/>
                </a:solidFill>
              </a:rPr>
              <a:t> statement is a critical check. Sometimes, a </a:t>
            </a:r>
            <a:r>
              <a:rPr lang="en-US" dirty="0" err="1">
                <a:solidFill>
                  <a:schemeClr val="bg1"/>
                </a:solidFill>
              </a:rPr>
              <a:t>Conv_Layer</a:t>
            </a:r>
            <a:r>
              <a:rPr lang="en-US" sz="2000" dirty="0">
                <a:solidFill>
                  <a:schemeClr val="bg1"/>
                </a:solidFill>
              </a:rPr>
              <a:t> will shrink the data's size (using a </a:t>
            </a:r>
            <a:r>
              <a:rPr lang="en-US" dirty="0">
                <a:solidFill>
                  <a:schemeClr val="bg1"/>
                </a:solidFill>
              </a:rPr>
              <a:t>stride</a:t>
            </a:r>
            <a:r>
              <a:rPr lang="en-US" sz="2000" dirty="0">
                <a:solidFill>
                  <a:schemeClr val="bg1"/>
                </a:solidFill>
              </a:rPr>
              <a:t>). If that happens, we can't add our </a:t>
            </a:r>
            <a:r>
              <a:rPr lang="en-US" dirty="0">
                <a:solidFill>
                  <a:schemeClr val="bg1"/>
                </a:solidFill>
              </a:rPr>
              <a:t>identity</a:t>
            </a:r>
            <a:r>
              <a:rPr lang="en-US" sz="2000" dirty="0">
                <a:solidFill>
                  <a:schemeClr val="bg1"/>
                </a:solidFill>
              </a:rPr>
              <a:t> (e.g., a 64x64 image) to our processed data </a:t>
            </a:r>
            <a:r>
              <a:rPr lang="en-US" dirty="0">
                <a:solidFill>
                  <a:schemeClr val="bg1"/>
                </a:solidFill>
              </a:rPr>
              <a:t>x</a:t>
            </a:r>
            <a:r>
              <a:rPr lang="en-US" sz="2000" dirty="0">
                <a:solidFill>
                  <a:schemeClr val="bg1"/>
                </a:solidFill>
              </a:rPr>
              <a:t> (e.g., a 32x32 image).</a:t>
            </a:r>
          </a:p>
          <a:p>
            <a:pPr marL="342900" indent="-342900" algn="just">
              <a:buFont typeface="Arial" panose="020B0604020202020204" pitchFamily="34" charset="0"/>
              <a:buChar char="•"/>
            </a:pPr>
            <a:r>
              <a:rPr lang="en-US" sz="2000" dirty="0">
                <a:solidFill>
                  <a:schemeClr val="bg1"/>
                </a:solidFill>
              </a:rPr>
              <a:t>To fix this, we use a simple </a:t>
            </a:r>
            <a:r>
              <a:rPr lang="en-US" b="1" dirty="0">
                <a:solidFill>
                  <a:schemeClr val="bg1"/>
                </a:solidFill>
              </a:rPr>
              <a:t>Conv_1x1</a:t>
            </a:r>
            <a:r>
              <a:rPr lang="en-US" sz="2000" dirty="0">
                <a:solidFill>
                  <a:schemeClr val="bg1"/>
                </a:solidFill>
              </a:rPr>
              <a:t> on the </a:t>
            </a:r>
            <a:r>
              <a:rPr lang="en-US" dirty="0">
                <a:solidFill>
                  <a:schemeClr val="bg1"/>
                </a:solidFill>
              </a:rPr>
              <a:t>identity</a:t>
            </a:r>
            <a:r>
              <a:rPr lang="en-US" sz="2000" dirty="0">
                <a:solidFill>
                  <a:schemeClr val="bg1"/>
                </a:solidFill>
              </a:rPr>
              <a:t> to resize it so the shapes match perfectly.</a:t>
            </a:r>
          </a:p>
          <a:p>
            <a:pPr algn="just"/>
            <a:endParaRPr lang="en-US" sz="2000" dirty="0">
              <a:solidFill>
                <a:schemeClr val="bg1"/>
              </a:solidFill>
            </a:endParaRPr>
          </a:p>
          <a:p>
            <a:pPr algn="just"/>
            <a:r>
              <a:rPr lang="en-US" sz="2000" b="1" dirty="0">
                <a:solidFill>
                  <a:schemeClr val="bg1"/>
                </a:solidFill>
              </a:rPr>
              <a:t>3. Combine and Activate</a:t>
            </a:r>
          </a:p>
          <a:p>
            <a:pPr marL="342900" indent="-342900" algn="just">
              <a:buFont typeface="Arial" panose="020B0604020202020204" pitchFamily="34" charset="0"/>
              <a:buChar char="•"/>
            </a:pPr>
            <a:r>
              <a:rPr lang="en-US" sz="2000" dirty="0">
                <a:solidFill>
                  <a:schemeClr val="bg1"/>
                </a:solidFill>
              </a:rPr>
              <a:t>The </a:t>
            </a:r>
            <a:r>
              <a:rPr lang="en-US" dirty="0">
                <a:solidFill>
                  <a:schemeClr val="bg1"/>
                </a:solidFill>
              </a:rPr>
              <a:t>Add</a:t>
            </a:r>
            <a:r>
              <a:rPr lang="en-US" sz="2000" dirty="0">
                <a:solidFill>
                  <a:schemeClr val="bg1"/>
                </a:solidFill>
              </a:rPr>
              <a:t> function is where the magic happens. It merges the heavily processed data from the main path with the original (or resized) data from the skip connection.</a:t>
            </a:r>
          </a:p>
          <a:p>
            <a:pPr marL="342900" indent="-342900" algn="just">
              <a:buFont typeface="Arial" panose="020B0604020202020204" pitchFamily="34" charset="0"/>
              <a:buChar char="•"/>
            </a:pPr>
            <a:r>
              <a:rPr lang="en-US" sz="2000" dirty="0">
                <a:solidFill>
                  <a:schemeClr val="bg1"/>
                </a:solidFill>
              </a:rPr>
              <a:t>Finally, a </a:t>
            </a:r>
            <a:r>
              <a:rPr lang="en-US" dirty="0" err="1">
                <a:solidFill>
                  <a:schemeClr val="bg1"/>
                </a:solidFill>
              </a:rPr>
              <a:t>ReLU</a:t>
            </a:r>
            <a:r>
              <a:rPr lang="en-US" sz="2000" dirty="0">
                <a:solidFill>
                  <a:schemeClr val="bg1"/>
                </a:solidFill>
              </a:rPr>
              <a:t> activation is applied to the combined output before it's passed on to the next block in the network.</a:t>
            </a:r>
          </a:p>
          <a:p>
            <a:pPr marL="285750" lvl="0" indent="-285750" algn="just">
              <a:lnSpc>
                <a:spcPts val="2495"/>
              </a:lnSpc>
              <a:spcBef>
                <a:spcPct val="0"/>
              </a:spcBef>
              <a:buFont typeface="Arial" panose="020B0604020202020204" pitchFamily="34" charset="0"/>
              <a:buChar char="•"/>
            </a:pPr>
            <a:endPar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endParaRPr>
          </a:p>
        </p:txBody>
      </p:sp>
      <p:sp>
        <p:nvSpPr>
          <p:cNvPr id="8" name="TextBox 7">
            <a:extLst>
              <a:ext uri="{FF2B5EF4-FFF2-40B4-BE49-F238E27FC236}">
                <a16:creationId xmlns:a16="http://schemas.microsoft.com/office/drawing/2014/main" id="{CAF14E81-0210-92AE-B47A-A31609E79137}"/>
              </a:ext>
            </a:extLst>
          </p:cNvPr>
          <p:cNvSpPr txBox="1"/>
          <p:nvPr/>
        </p:nvSpPr>
        <p:spPr>
          <a:xfrm>
            <a:off x="9144000" y="1485900"/>
            <a:ext cx="8534400" cy="7848302"/>
          </a:xfrm>
          <a:prstGeom prst="rect">
            <a:avLst/>
          </a:prstGeom>
          <a:noFill/>
        </p:spPr>
        <p:txBody>
          <a:bodyPr wrap="square" rtlCol="0">
            <a:spAutoFit/>
          </a:bodyPr>
          <a:lstStyle/>
          <a:p>
            <a:r>
              <a:rPr lang="en-US" b="1" dirty="0">
                <a:solidFill>
                  <a:schemeClr val="bg1"/>
                </a:solidFill>
              </a:rPr>
              <a:t>Pseudocode for a </a:t>
            </a:r>
            <a:r>
              <a:rPr lang="en-US" b="1" dirty="0" err="1">
                <a:solidFill>
                  <a:schemeClr val="bg1"/>
                </a:solidFill>
              </a:rPr>
              <a:t>ResNet</a:t>
            </a:r>
            <a:r>
              <a:rPr lang="en-US" b="1" dirty="0">
                <a:solidFill>
                  <a:schemeClr val="bg1"/>
                </a:solidFill>
              </a:rPr>
              <a:t> Block</a:t>
            </a:r>
          </a:p>
          <a:p>
            <a:r>
              <a:rPr lang="en-US" dirty="0">
                <a:solidFill>
                  <a:schemeClr val="bg1"/>
                </a:solidFill>
              </a:rPr>
              <a:t>This code defines a single "Residual Block," which is the fundamental building block of a </a:t>
            </a:r>
            <a:r>
              <a:rPr lang="en-US" dirty="0" err="1">
                <a:solidFill>
                  <a:schemeClr val="bg1"/>
                </a:solidFill>
              </a:rPr>
              <a:t>ResNet</a:t>
            </a:r>
            <a:r>
              <a:rPr lang="en-US" dirty="0">
                <a:solidFill>
                  <a:schemeClr val="bg1"/>
                </a:solidFill>
              </a:rPr>
              <a:t>.</a:t>
            </a:r>
          </a:p>
          <a:p>
            <a:endParaRPr lang="en-US" dirty="0">
              <a:solidFill>
                <a:schemeClr val="bg1"/>
              </a:solidFill>
            </a:endParaRPr>
          </a:p>
          <a:p>
            <a:r>
              <a:rPr lang="en-US" dirty="0">
                <a:solidFill>
                  <a:schemeClr val="bg1"/>
                </a:solidFill>
              </a:rPr>
              <a:t>  function </a:t>
            </a:r>
            <a:r>
              <a:rPr lang="en-US" dirty="0" err="1">
                <a:solidFill>
                  <a:schemeClr val="bg1"/>
                </a:solidFill>
              </a:rPr>
              <a:t>ResidualBlock</a:t>
            </a:r>
            <a:r>
              <a:rPr lang="en-US" dirty="0">
                <a:solidFill>
                  <a:schemeClr val="bg1"/>
                </a:solidFill>
              </a:rPr>
              <a:t>(input, </a:t>
            </a:r>
            <a:r>
              <a:rPr lang="en-US" dirty="0" err="1">
                <a:solidFill>
                  <a:schemeClr val="bg1"/>
                </a:solidFill>
              </a:rPr>
              <a:t>output_channels</a:t>
            </a:r>
            <a:r>
              <a:rPr lang="en-US" dirty="0">
                <a:solidFill>
                  <a:schemeClr val="bg1"/>
                </a:solidFill>
              </a:rPr>
              <a:t>, stride=1):</a:t>
            </a:r>
          </a:p>
          <a:p>
            <a:r>
              <a:rPr lang="en-US" dirty="0">
                <a:solidFill>
                  <a:schemeClr val="bg1"/>
                </a:solidFill>
              </a:rPr>
              <a:t>  # 1. Save the original input for the skip connection.</a:t>
            </a:r>
          </a:p>
          <a:p>
            <a:r>
              <a:rPr lang="en-US" dirty="0">
                <a:solidFill>
                  <a:schemeClr val="bg1"/>
                </a:solidFill>
              </a:rPr>
              <a:t>  identity = input</a:t>
            </a:r>
          </a:p>
          <a:p>
            <a:r>
              <a:rPr lang="en-US" dirty="0">
                <a:solidFill>
                  <a:schemeClr val="bg1"/>
                </a:solidFill>
              </a:rPr>
              <a:t>  </a:t>
            </a:r>
          </a:p>
          <a:p>
            <a:r>
              <a:rPr lang="en-US" dirty="0">
                <a:solidFill>
                  <a:schemeClr val="bg1"/>
                </a:solidFill>
              </a:rPr>
              <a:t># --- MAIN PATH (The "Local Road") ---</a:t>
            </a:r>
          </a:p>
          <a:p>
            <a:r>
              <a:rPr lang="en-US" dirty="0">
                <a:solidFill>
                  <a:schemeClr val="bg1"/>
                </a:solidFill>
              </a:rPr>
              <a:t>  # This path processes the data.</a:t>
            </a:r>
          </a:p>
          <a:p>
            <a:r>
              <a:rPr lang="en-US" dirty="0">
                <a:solidFill>
                  <a:schemeClr val="bg1"/>
                </a:solidFill>
              </a:rPr>
              <a:t>  x = </a:t>
            </a:r>
            <a:r>
              <a:rPr lang="en-US" dirty="0" err="1">
                <a:solidFill>
                  <a:schemeClr val="bg1"/>
                </a:solidFill>
              </a:rPr>
              <a:t>Conv_Layer</a:t>
            </a:r>
            <a:r>
              <a:rPr lang="en-US" dirty="0">
                <a:solidFill>
                  <a:schemeClr val="bg1"/>
                </a:solidFill>
              </a:rPr>
              <a:t>(input, </a:t>
            </a:r>
            <a:r>
              <a:rPr lang="en-US" dirty="0" err="1">
                <a:solidFill>
                  <a:schemeClr val="bg1"/>
                </a:solidFill>
              </a:rPr>
              <a:t>output_channels</a:t>
            </a:r>
            <a:r>
              <a:rPr lang="en-US" dirty="0">
                <a:solidFill>
                  <a:schemeClr val="bg1"/>
                </a:solidFill>
              </a:rPr>
              <a:t>, stride)</a:t>
            </a:r>
          </a:p>
          <a:p>
            <a:r>
              <a:rPr lang="en-US" dirty="0">
                <a:solidFill>
                  <a:schemeClr val="bg1"/>
                </a:solidFill>
              </a:rPr>
              <a:t>  x = </a:t>
            </a:r>
            <a:r>
              <a:rPr lang="en-US" dirty="0" err="1">
                <a:solidFill>
                  <a:schemeClr val="bg1"/>
                </a:solidFill>
              </a:rPr>
              <a:t>Batch_Norm</a:t>
            </a:r>
            <a:r>
              <a:rPr lang="en-US" dirty="0">
                <a:solidFill>
                  <a:schemeClr val="bg1"/>
                </a:solidFill>
              </a:rPr>
              <a:t>(x)</a:t>
            </a:r>
          </a:p>
          <a:p>
            <a:r>
              <a:rPr lang="en-US" dirty="0">
                <a:solidFill>
                  <a:schemeClr val="bg1"/>
                </a:solidFill>
              </a:rPr>
              <a:t>  x = </a:t>
            </a:r>
            <a:r>
              <a:rPr lang="en-US" dirty="0" err="1">
                <a:solidFill>
                  <a:schemeClr val="bg1"/>
                </a:solidFill>
              </a:rPr>
              <a:t>ReLU</a:t>
            </a:r>
            <a:r>
              <a:rPr lang="en-US" dirty="0">
                <a:solidFill>
                  <a:schemeClr val="bg1"/>
                </a:solidFill>
              </a:rPr>
              <a:t>(x)</a:t>
            </a:r>
          </a:p>
          <a:p>
            <a:r>
              <a:rPr lang="en-US" dirty="0">
                <a:solidFill>
                  <a:schemeClr val="bg1"/>
                </a:solidFill>
              </a:rPr>
              <a:t>  x = </a:t>
            </a:r>
            <a:r>
              <a:rPr lang="en-US" dirty="0" err="1">
                <a:solidFill>
                  <a:schemeClr val="bg1"/>
                </a:solidFill>
              </a:rPr>
              <a:t>Conv_Layer</a:t>
            </a:r>
            <a:r>
              <a:rPr lang="en-US" dirty="0">
                <a:solidFill>
                  <a:schemeClr val="bg1"/>
                </a:solidFill>
              </a:rPr>
              <a:t>(x, </a:t>
            </a:r>
            <a:r>
              <a:rPr lang="en-US" dirty="0" err="1">
                <a:solidFill>
                  <a:schemeClr val="bg1"/>
                </a:solidFill>
              </a:rPr>
              <a:t>output_channels</a:t>
            </a:r>
            <a:r>
              <a:rPr lang="en-US" dirty="0">
                <a:solidFill>
                  <a:schemeClr val="bg1"/>
                </a:solidFill>
              </a:rPr>
              <a:t>)</a:t>
            </a:r>
          </a:p>
          <a:p>
            <a:r>
              <a:rPr lang="en-US" dirty="0">
                <a:solidFill>
                  <a:schemeClr val="bg1"/>
                </a:solidFill>
              </a:rPr>
              <a:t>  x = </a:t>
            </a:r>
            <a:r>
              <a:rPr lang="en-US" dirty="0" err="1">
                <a:solidFill>
                  <a:schemeClr val="bg1"/>
                </a:solidFill>
              </a:rPr>
              <a:t>Batch_Norm</a:t>
            </a:r>
            <a:r>
              <a:rPr lang="en-US" dirty="0">
                <a:solidFill>
                  <a:schemeClr val="bg1"/>
                </a:solidFill>
              </a:rPr>
              <a:t>(x)</a:t>
            </a:r>
          </a:p>
          <a:p>
            <a:r>
              <a:rPr lang="en-US" dirty="0">
                <a:solidFill>
                  <a:schemeClr val="bg1"/>
                </a:solidFill>
              </a:rPr>
              <a:t> </a:t>
            </a:r>
          </a:p>
          <a:p>
            <a:r>
              <a:rPr lang="en-US" dirty="0">
                <a:solidFill>
                  <a:schemeClr val="bg1"/>
                </a:solidFill>
              </a:rPr>
              <a:t> # --- SKIP CONNECTION (The "Express Highway") ---</a:t>
            </a:r>
          </a:p>
          <a:p>
            <a:r>
              <a:rPr lang="en-US" dirty="0">
                <a:solidFill>
                  <a:schemeClr val="bg1"/>
                </a:solidFill>
              </a:rPr>
              <a:t>  # If the main path changed the data's shape (e.g., made it smaller),</a:t>
            </a:r>
          </a:p>
          <a:p>
            <a:r>
              <a:rPr lang="en-US" dirty="0">
                <a:solidFill>
                  <a:schemeClr val="bg1"/>
                </a:solidFill>
              </a:rPr>
              <a:t>  #    we must adjust the skip connection to match.</a:t>
            </a:r>
          </a:p>
          <a:p>
            <a:r>
              <a:rPr lang="en-US" dirty="0">
                <a:solidFill>
                  <a:schemeClr val="bg1"/>
                </a:solidFill>
              </a:rPr>
              <a:t>  if shape(x) != shape(identity):</a:t>
            </a:r>
          </a:p>
          <a:p>
            <a:r>
              <a:rPr lang="en-US" dirty="0">
                <a:solidFill>
                  <a:schemeClr val="bg1"/>
                </a:solidFill>
              </a:rPr>
              <a:t>    identity = Conv_1x1(identity, </a:t>
            </a:r>
            <a:r>
              <a:rPr lang="en-US" dirty="0" err="1">
                <a:solidFill>
                  <a:schemeClr val="bg1"/>
                </a:solidFill>
              </a:rPr>
              <a:t>output_channels</a:t>
            </a:r>
            <a:r>
              <a:rPr lang="en-US" dirty="0">
                <a:solidFill>
                  <a:schemeClr val="bg1"/>
                </a:solidFill>
              </a:rPr>
              <a:t>, stride)</a:t>
            </a:r>
          </a:p>
          <a:p>
            <a:r>
              <a:rPr lang="en-US" dirty="0">
                <a:solidFill>
                  <a:schemeClr val="bg1"/>
                </a:solidFill>
              </a:rPr>
              <a:t> </a:t>
            </a:r>
          </a:p>
          <a:p>
            <a:r>
              <a:rPr lang="en-US" dirty="0">
                <a:solidFill>
                  <a:schemeClr val="bg1"/>
                </a:solidFill>
              </a:rPr>
              <a:t> # --- COMBINE THE PATHS ---</a:t>
            </a:r>
          </a:p>
          <a:p>
            <a:r>
              <a:rPr lang="en-US" dirty="0">
                <a:solidFill>
                  <a:schemeClr val="bg1"/>
                </a:solidFill>
              </a:rPr>
              <a:t>  # 3. Add the output of the main path and the skip connection.</a:t>
            </a:r>
          </a:p>
          <a:p>
            <a:r>
              <a:rPr lang="en-US" dirty="0">
                <a:solidFill>
                  <a:schemeClr val="bg1"/>
                </a:solidFill>
              </a:rPr>
              <a:t>  output = Add(x, identity)</a:t>
            </a:r>
          </a:p>
          <a:p>
            <a:r>
              <a:rPr lang="en-US" dirty="0">
                <a:solidFill>
                  <a:schemeClr val="bg1"/>
                </a:solidFill>
              </a:rPr>
              <a:t>  # 4. Apply the final activation function.</a:t>
            </a:r>
          </a:p>
          <a:p>
            <a:r>
              <a:rPr lang="en-US" dirty="0">
                <a:solidFill>
                  <a:schemeClr val="bg1"/>
                </a:solidFill>
              </a:rPr>
              <a:t>  output = </a:t>
            </a:r>
            <a:r>
              <a:rPr lang="en-US" dirty="0" err="1">
                <a:solidFill>
                  <a:schemeClr val="bg1"/>
                </a:solidFill>
              </a:rPr>
              <a:t>ReLU</a:t>
            </a:r>
            <a:r>
              <a:rPr lang="en-US" dirty="0">
                <a:solidFill>
                  <a:schemeClr val="bg1"/>
                </a:solidFill>
              </a:rPr>
              <a:t>(output)</a:t>
            </a:r>
          </a:p>
          <a:p>
            <a:r>
              <a:rPr lang="en-US" dirty="0">
                <a:solidFill>
                  <a:schemeClr val="bg1"/>
                </a:solidFill>
              </a:rPr>
              <a:t>  return output</a:t>
            </a:r>
          </a:p>
        </p:txBody>
      </p:sp>
      <p:sp>
        <p:nvSpPr>
          <p:cNvPr id="10" name="Slide Number Placeholder 9">
            <a:extLst>
              <a:ext uri="{FF2B5EF4-FFF2-40B4-BE49-F238E27FC236}">
                <a16:creationId xmlns:a16="http://schemas.microsoft.com/office/drawing/2014/main" id="{53FCC0AA-9FE6-BA6A-AE16-A1E438B3719B}"/>
              </a:ext>
            </a:extLst>
          </p:cNvPr>
          <p:cNvSpPr>
            <a:spLocks noGrp="1"/>
          </p:cNvSpPr>
          <p:nvPr>
            <p:ph type="sldNum" sz="quarter" idx="12"/>
          </p:nvPr>
        </p:nvSpPr>
        <p:spPr>
          <a:xfrm>
            <a:off x="15849600" y="9334202"/>
            <a:ext cx="2133600" cy="365125"/>
          </a:xfrm>
        </p:spPr>
        <p:txBody>
          <a:bodyPr/>
          <a:lstStyle/>
          <a:p>
            <a:fld id="{B6F15528-21DE-4FAA-801E-634DDDAF4B2B}" type="slidenum">
              <a:rPr lang="en-US" sz="1400" b="1" smtClean="0">
                <a:solidFill>
                  <a:schemeClr val="bg1"/>
                </a:solidFill>
                <a:latin typeface="Canva Sans" panose="020B0604020202020204" charset="0"/>
              </a:rPr>
              <a:t>6</a:t>
            </a:fld>
            <a:endParaRPr lang="en-US" b="1" dirty="0">
              <a:solidFill>
                <a:schemeClr val="bg1"/>
              </a:solidFill>
              <a:latin typeface="Canva Sans" panose="020B0604020202020204" charset="0"/>
            </a:endParaRPr>
          </a:p>
        </p:txBody>
      </p:sp>
    </p:spTree>
    <p:extLst>
      <p:ext uri="{BB962C8B-B14F-4D97-AF65-F5344CB8AC3E}">
        <p14:creationId xmlns:p14="http://schemas.microsoft.com/office/powerpoint/2010/main" val="2218588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a:solidFill>
                    <a:schemeClr val="bg1"/>
                  </a:solidFill>
                  <a:latin typeface="Canva Sans" panose="020B0604020202020204" charset="0"/>
                  <a:ea typeface="Fira Sans Bold"/>
                  <a:cs typeface="Fira Sans Bold"/>
                  <a:sym typeface="Fira Sans Bold"/>
                </a:rPr>
                <a:t>ResNet (Classification)</a:t>
              </a:r>
            </a:p>
          </p:txBody>
        </p:sp>
      </p:grpSp>
      <p:sp>
        <p:nvSpPr>
          <p:cNvPr id="5" name="TextBox 5"/>
          <p:cNvSpPr txBox="1"/>
          <p:nvPr/>
        </p:nvSpPr>
        <p:spPr>
          <a:xfrm>
            <a:off x="1028700" y="4220715"/>
            <a:ext cx="9844332" cy="2877587"/>
          </a:xfrm>
          <a:prstGeom prst="rect">
            <a:avLst/>
          </a:prstGeom>
        </p:spPr>
        <p:txBody>
          <a:bodyPr lIns="0" tIns="0" rIns="0" bIns="0" rtlCol="0" anchor="t">
            <a:spAutoFit/>
          </a:bodyPr>
          <a:lstStyle/>
          <a:p>
            <a:pPr algn="just">
              <a:lnSpc>
                <a:spcPts val="2635"/>
              </a:lnSpc>
            </a:pPr>
            <a:r>
              <a:rPr lang="en-US" sz="1885" b="1" spc="1" dirty="0">
                <a:solidFill>
                  <a:schemeClr val="bg1"/>
                </a:solidFill>
                <a:latin typeface="Canva Sans" panose="020B0604020202020204" charset="0"/>
                <a:ea typeface="Canva Sans Bold"/>
                <a:cs typeface="Canva Sans Bold"/>
                <a:sym typeface="Canva Sans Bold"/>
              </a:rPr>
              <a:t>Advantage</a:t>
            </a:r>
          </a:p>
          <a:p>
            <a:pPr algn="just">
              <a:lnSpc>
                <a:spcPts val="2495"/>
              </a:lnSpc>
            </a:pP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The skip connections enable </a:t>
            </a:r>
            <a:r>
              <a:rPr lang="en-US" sz="1785" spc="1" dirty="0" err="1">
                <a:solidFill>
                  <a:schemeClr val="bg1"/>
                </a:solidFill>
                <a:latin typeface="Canva Sans" panose="020B0604020202020204" charset="0"/>
                <a:ea typeface="Canva Sans" panose="020B0503030501040103"/>
                <a:cs typeface="Canva Sans" panose="020B0503030501040103"/>
                <a:sym typeface="Canva Sans" panose="020B0503030501040103"/>
              </a:rPr>
              <a:t>ResNet</a:t>
            </a: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 to train extremely deep networks, resulting in higher accuracy and reliability for image classification tasks.</a:t>
            </a:r>
          </a:p>
          <a:p>
            <a:pPr algn="just">
              <a:lnSpc>
                <a:spcPts val="2635"/>
              </a:lnSpc>
            </a:pPr>
            <a:endPar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endParaRPr>
          </a:p>
          <a:p>
            <a:pPr algn="just">
              <a:lnSpc>
                <a:spcPts val="2635"/>
              </a:lnSpc>
            </a:pPr>
            <a:r>
              <a:rPr lang="en-US" sz="1885" b="1" spc="1" dirty="0">
                <a:solidFill>
                  <a:schemeClr val="bg1"/>
                </a:solidFill>
                <a:latin typeface="Canva Sans" panose="020B0604020202020204" charset="0"/>
                <a:ea typeface="Canva Sans Bold"/>
                <a:cs typeface="Canva Sans Bold"/>
                <a:sym typeface="Canva Sans Bold"/>
              </a:rPr>
              <a:t>Clinical Example</a:t>
            </a:r>
          </a:p>
          <a:p>
            <a:pPr algn="just">
              <a:lnSpc>
                <a:spcPts val="2495"/>
              </a:lnSpc>
              <a:spcBef>
                <a:spcPct val="0"/>
              </a:spcBef>
            </a:pPr>
            <a:r>
              <a:rPr lang="en-US" sz="1785" spc="1" dirty="0" err="1">
                <a:solidFill>
                  <a:schemeClr val="bg1"/>
                </a:solidFill>
                <a:latin typeface="Canva Sans" panose="020B0604020202020204" charset="0"/>
                <a:ea typeface="Canva Sans" panose="020B0503030501040103"/>
                <a:cs typeface="Canva Sans" panose="020B0503030501040103"/>
                <a:sym typeface="Canva Sans" panose="020B0503030501040103"/>
              </a:rPr>
              <a:t>ResNet</a:t>
            </a: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 is used in medical imaging—such as detecting brain tumors on MRI scans or classifying skin lesions as cancerous or benign. By automating classification, </a:t>
            </a:r>
            <a:r>
              <a:rPr lang="en-US" sz="1785" spc="1" dirty="0" err="1">
                <a:solidFill>
                  <a:schemeClr val="bg1"/>
                </a:solidFill>
                <a:latin typeface="Canva Sans" panose="020B0604020202020204" charset="0"/>
                <a:ea typeface="Canva Sans" panose="020B0503030501040103"/>
                <a:cs typeface="Canva Sans" panose="020B0503030501040103"/>
                <a:sym typeface="Canva Sans" panose="020B0503030501040103"/>
              </a:rPr>
              <a:t>ResNet</a:t>
            </a:r>
            <a:r>
              <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rPr>
              <a:t> supports doctors in making quicker, more accurate decisions.</a:t>
            </a:r>
          </a:p>
          <a:p>
            <a:pPr marL="0" lvl="0" indent="0" algn="just">
              <a:lnSpc>
                <a:spcPts val="2495"/>
              </a:lnSpc>
              <a:spcBef>
                <a:spcPct val="0"/>
              </a:spcBef>
            </a:pPr>
            <a:endParaRPr lang="en-US" sz="1785" spc="1" dirty="0">
              <a:solidFill>
                <a:schemeClr val="bg1"/>
              </a:solidFill>
              <a:latin typeface="Canva Sans" panose="020B0604020202020204" charset="0"/>
              <a:ea typeface="Canva Sans" panose="020B0503030501040103"/>
              <a:cs typeface="Canva Sans" panose="020B0503030501040103"/>
              <a:sym typeface="Canva Sans" panose="020B0503030501040103"/>
            </a:endParaRPr>
          </a:p>
        </p:txBody>
      </p:sp>
      <p:sp>
        <p:nvSpPr>
          <p:cNvPr id="7" name="Freeform 7"/>
          <p:cNvSpPr/>
          <p:nvPr/>
        </p:nvSpPr>
        <p:spPr>
          <a:xfrm>
            <a:off x="11451290" y="2994151"/>
            <a:ext cx="5808010" cy="5368816"/>
          </a:xfrm>
          <a:custGeom>
            <a:avLst/>
            <a:gdLst/>
            <a:ahLst/>
            <a:cxnLst/>
            <a:rect l="l" t="t" r="r" b="b"/>
            <a:pathLst>
              <a:path w="5808010" h="5368816">
                <a:moveTo>
                  <a:pt x="0" y="0"/>
                </a:moveTo>
                <a:lnTo>
                  <a:pt x="5808010" y="0"/>
                </a:lnTo>
                <a:lnTo>
                  <a:pt x="5808010" y="5368816"/>
                </a:lnTo>
                <a:lnTo>
                  <a:pt x="0" y="53688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solidFill>
                <a:schemeClr val="bg1"/>
              </a:solidFill>
              <a:latin typeface="Canva Sans" panose="020B0604020202020204" charset="0"/>
            </a:endParaRPr>
          </a:p>
        </p:txBody>
      </p:sp>
      <p:sp>
        <p:nvSpPr>
          <p:cNvPr id="9" name="Slide Number Placeholder 8">
            <a:extLst>
              <a:ext uri="{FF2B5EF4-FFF2-40B4-BE49-F238E27FC236}">
                <a16:creationId xmlns:a16="http://schemas.microsoft.com/office/drawing/2014/main" id="{DF4DF45F-E476-B1DD-6E2E-EA929A417D50}"/>
              </a:ext>
            </a:extLst>
          </p:cNvPr>
          <p:cNvSpPr>
            <a:spLocks noGrp="1"/>
          </p:cNvSpPr>
          <p:nvPr>
            <p:ph type="sldNum" sz="quarter" idx="12"/>
          </p:nvPr>
        </p:nvSpPr>
        <p:spPr>
          <a:xfrm>
            <a:off x="15773400" y="9288631"/>
            <a:ext cx="2133600" cy="365125"/>
          </a:xfrm>
        </p:spPr>
        <p:txBody>
          <a:bodyPr/>
          <a:lstStyle/>
          <a:p>
            <a:fld id="{B6F15528-21DE-4FAA-801E-634DDDAF4B2B}" type="slidenum">
              <a:rPr lang="en-US" sz="1400" b="1" smtClean="0">
                <a:solidFill>
                  <a:schemeClr val="bg1"/>
                </a:solidFill>
                <a:latin typeface="Canva Sans" panose="020B0604020202020204" charset="0"/>
              </a:rPr>
              <a:t>7</a:t>
            </a:fld>
            <a:endParaRPr lang="en-US" b="1" dirty="0">
              <a:solidFill>
                <a:schemeClr val="bg1"/>
              </a:solidFill>
              <a:latin typeface="Canva Sans" panose="020B06040202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solidFill>
                  <a:schemeClr val="bg1"/>
                </a:solidFill>
                <a:latin typeface="Canva Sans" panose="020B0604020202020204" charset="0"/>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dirty="0">
                  <a:solidFill>
                    <a:schemeClr val="bg1"/>
                  </a:solidFill>
                  <a:latin typeface="Canva Sans" panose="020B0604020202020204" charset="0"/>
                  <a:ea typeface="Fira Sans Bold"/>
                  <a:cs typeface="Fira Sans Bold"/>
                  <a:sym typeface="Fira Sans Bold"/>
                </a:rPr>
                <a:t>YOLO (Detection)</a:t>
              </a:r>
            </a:p>
          </p:txBody>
        </p:sp>
      </p:grpSp>
      <p:sp>
        <p:nvSpPr>
          <p:cNvPr id="5" name="TextBox 5"/>
          <p:cNvSpPr txBox="1"/>
          <p:nvPr/>
        </p:nvSpPr>
        <p:spPr>
          <a:xfrm>
            <a:off x="1676400" y="2821142"/>
            <a:ext cx="10058400" cy="5358775"/>
          </a:xfrm>
          <a:prstGeom prst="rect">
            <a:avLst/>
          </a:prstGeom>
        </p:spPr>
        <p:txBody>
          <a:bodyPr wrap="square" lIns="0" tIns="0" rIns="0" bIns="0" rtlCol="0" anchor="t">
            <a:spAutoFit/>
          </a:bodyPr>
          <a:lstStyle/>
          <a:p>
            <a:pPr algn="just">
              <a:lnSpc>
                <a:spcPct val="150000"/>
              </a:lnSpc>
            </a:pPr>
            <a:r>
              <a:rPr lang="en-US" b="1" dirty="0">
                <a:solidFill>
                  <a:schemeClr val="bg1"/>
                </a:solidFill>
                <a:latin typeface="Canva Sans" panose="020B0604020202020204" charset="0"/>
                <a:cs typeface="Times New Roman" panose="02020503050405090304" pitchFamily="18" charset="0"/>
              </a:rPr>
              <a:t>What it is</a:t>
            </a:r>
            <a:r>
              <a:rPr lang="en-US" dirty="0">
                <a:solidFill>
                  <a:schemeClr val="bg1"/>
                </a:solidFill>
                <a:latin typeface="Canva Sans" panose="020B0604020202020204" charset="0"/>
                <a:cs typeface="Times New Roman" panose="02020503050405090304" pitchFamily="18" charset="0"/>
              </a:rPr>
              <a:t>: YOLO is a </a:t>
            </a:r>
            <a:r>
              <a:rPr lang="en-US" b="1" dirty="0">
                <a:solidFill>
                  <a:schemeClr val="bg1"/>
                </a:solidFill>
                <a:latin typeface="Canva Sans" panose="020B0604020202020204" charset="0"/>
                <a:cs typeface="Times New Roman" panose="02020503050405090304" pitchFamily="18" charset="0"/>
              </a:rPr>
              <a:t>single-stage object detection algorithm</a:t>
            </a:r>
            <a:r>
              <a:rPr lang="en-US" dirty="0">
                <a:solidFill>
                  <a:schemeClr val="bg1"/>
                </a:solidFill>
                <a:latin typeface="Canva Sans" panose="020B0604020202020204" charset="0"/>
                <a:cs typeface="Times New Roman" panose="02020503050405090304" pitchFamily="18" charset="0"/>
              </a:rPr>
              <a:t>. Instead of scanning an image region by region (like older methods), it looks at the whole image </a:t>
            </a:r>
            <a:r>
              <a:rPr lang="en-US" b="1" dirty="0">
                <a:solidFill>
                  <a:schemeClr val="bg1"/>
                </a:solidFill>
                <a:latin typeface="Canva Sans" panose="020B0604020202020204" charset="0"/>
                <a:cs typeface="Times New Roman" panose="02020503050405090304" pitchFamily="18" charset="0"/>
              </a:rPr>
              <a:t>once</a:t>
            </a:r>
            <a:r>
              <a:rPr lang="en-US" dirty="0">
                <a:solidFill>
                  <a:schemeClr val="bg1"/>
                </a:solidFill>
                <a:latin typeface="Canva Sans" panose="020B0604020202020204" charset="0"/>
                <a:cs typeface="Times New Roman" panose="02020503050405090304" pitchFamily="18" charset="0"/>
              </a:rPr>
              <a:t> and predicts bounding boxes + class probabilities directly.</a:t>
            </a:r>
          </a:p>
          <a:p>
            <a:pPr algn="just">
              <a:lnSpc>
                <a:spcPct val="150000"/>
              </a:lnSpc>
            </a:pPr>
            <a:r>
              <a:rPr lang="en-US" b="1" dirty="0">
                <a:solidFill>
                  <a:schemeClr val="bg1"/>
                </a:solidFill>
                <a:latin typeface="Canva Sans" panose="020B0604020202020204" charset="0"/>
                <a:cs typeface="Times New Roman" panose="02020503050405090304" pitchFamily="18" charset="0"/>
              </a:rPr>
              <a:t>Why it matters</a:t>
            </a:r>
            <a:r>
              <a:rPr lang="en-US" dirty="0">
                <a:solidFill>
                  <a:schemeClr val="bg1"/>
                </a:solidFill>
                <a:latin typeface="Canva Sans" panose="020B0604020202020204" charset="0"/>
                <a:cs typeface="Times New Roman" panose="02020503050405090304" pitchFamily="18" charset="0"/>
              </a:rPr>
              <a:t>: This makes YOLO </a:t>
            </a:r>
            <a:r>
              <a:rPr lang="en-US" b="1" dirty="0">
                <a:solidFill>
                  <a:schemeClr val="bg1"/>
                </a:solidFill>
                <a:latin typeface="Canva Sans" panose="020B0604020202020204" charset="0"/>
                <a:cs typeface="Times New Roman" panose="02020503050405090304" pitchFamily="18" charset="0"/>
              </a:rPr>
              <a:t>fast</a:t>
            </a:r>
            <a:r>
              <a:rPr lang="en-US" dirty="0">
                <a:solidFill>
                  <a:schemeClr val="bg1"/>
                </a:solidFill>
                <a:latin typeface="Canva Sans" panose="020B0604020202020204" charset="0"/>
                <a:cs typeface="Times New Roman" panose="02020503050405090304" pitchFamily="18" charset="0"/>
              </a:rPr>
              <a:t> and efficient, suitable for real-time detection.</a:t>
            </a:r>
          </a:p>
          <a:p>
            <a:pPr algn="just">
              <a:lnSpc>
                <a:spcPct val="150000"/>
              </a:lnSpc>
            </a:pPr>
            <a:r>
              <a:rPr lang="en-US" b="1" dirty="0">
                <a:solidFill>
                  <a:schemeClr val="bg1"/>
                </a:solidFill>
                <a:latin typeface="Canva Sans" panose="020B0604020202020204" charset="0"/>
                <a:cs typeface="Times New Roman" panose="02020503050405090304" pitchFamily="18" charset="0"/>
              </a:rPr>
              <a:t>How it works (briefly)</a:t>
            </a:r>
            <a:r>
              <a:rPr lang="en-US" dirty="0">
                <a:solidFill>
                  <a:schemeClr val="bg1"/>
                </a:solidFill>
                <a:latin typeface="Canva Sans" panose="020B0604020202020204" charset="0"/>
                <a:cs typeface="Times New Roman" panose="02020503050405090304" pitchFamily="18" charset="0"/>
              </a:rPr>
              <a:t>:</a:t>
            </a:r>
          </a:p>
          <a:p>
            <a:pPr lvl="1" algn="just">
              <a:lnSpc>
                <a:spcPct val="150000"/>
              </a:lnSpc>
            </a:pPr>
            <a:r>
              <a:rPr lang="en-US" dirty="0">
                <a:solidFill>
                  <a:schemeClr val="bg1"/>
                </a:solidFill>
                <a:latin typeface="Canva Sans" panose="020B0604020202020204" charset="0"/>
                <a:cs typeface="Times New Roman" panose="02020503050405090304" pitchFamily="18" charset="0"/>
              </a:rPr>
              <a:t>The image is divided into a grid.</a:t>
            </a:r>
          </a:p>
          <a:p>
            <a:pPr lvl="1" algn="just">
              <a:lnSpc>
                <a:spcPct val="150000"/>
              </a:lnSpc>
            </a:pPr>
            <a:r>
              <a:rPr lang="en-US" dirty="0">
                <a:solidFill>
                  <a:schemeClr val="bg1"/>
                </a:solidFill>
                <a:latin typeface="Canva Sans" panose="020B0604020202020204" charset="0"/>
                <a:cs typeface="Times New Roman" panose="02020503050405090304" pitchFamily="18" charset="0"/>
              </a:rPr>
              <a:t>Each grid cell predicts bounding boxes and the probability of objects (e.g., tumor, fracture, lesion).</a:t>
            </a:r>
          </a:p>
          <a:p>
            <a:pPr lvl="1" algn="just">
              <a:lnSpc>
                <a:spcPct val="150000"/>
              </a:lnSpc>
            </a:pPr>
            <a:r>
              <a:rPr lang="en-US" dirty="0">
                <a:solidFill>
                  <a:schemeClr val="bg1"/>
                </a:solidFill>
                <a:latin typeface="Canva Sans" panose="020B0604020202020204" charset="0"/>
                <a:cs typeface="Times New Roman" panose="02020503050405090304" pitchFamily="18" charset="0"/>
              </a:rPr>
              <a:t>A post-processing step (Non-Maximum Suppression) removes duplicate boxes.</a:t>
            </a:r>
          </a:p>
          <a:p>
            <a:pPr algn="just">
              <a:lnSpc>
                <a:spcPct val="150000"/>
              </a:lnSpc>
            </a:pPr>
            <a:r>
              <a:rPr lang="en-US" b="1" dirty="0">
                <a:solidFill>
                  <a:schemeClr val="bg1"/>
                </a:solidFill>
                <a:latin typeface="Canva Sans" panose="020B0604020202020204" charset="0"/>
                <a:cs typeface="Times New Roman" panose="02020503050405090304" pitchFamily="18" charset="0"/>
              </a:rPr>
              <a:t>Medical Applications</a:t>
            </a:r>
            <a:r>
              <a:rPr lang="en-US" dirty="0">
                <a:solidFill>
                  <a:schemeClr val="bg1"/>
                </a:solidFill>
                <a:latin typeface="Canva Sans" panose="020B0604020202020204" charset="0"/>
                <a:cs typeface="Times New Roman" panose="02020503050405090304" pitchFamily="18" charset="0"/>
              </a:rPr>
              <a:t>:</a:t>
            </a:r>
          </a:p>
          <a:p>
            <a:pPr lvl="1" algn="just">
              <a:lnSpc>
                <a:spcPct val="150000"/>
              </a:lnSpc>
            </a:pPr>
            <a:r>
              <a:rPr lang="en-US" dirty="0">
                <a:solidFill>
                  <a:schemeClr val="bg1"/>
                </a:solidFill>
                <a:latin typeface="Canva Sans" panose="020B0604020202020204" charset="0"/>
                <a:cs typeface="Times New Roman" panose="02020503050405090304" pitchFamily="18" charset="0"/>
              </a:rPr>
              <a:t>Detecting </a:t>
            </a:r>
            <a:r>
              <a:rPr lang="en-US" b="1" dirty="0">
                <a:solidFill>
                  <a:schemeClr val="bg1"/>
                </a:solidFill>
                <a:latin typeface="Canva Sans" panose="020B0604020202020204" charset="0"/>
                <a:cs typeface="Times New Roman" panose="02020503050405090304" pitchFamily="18" charset="0"/>
              </a:rPr>
              <a:t>lung nodules</a:t>
            </a:r>
            <a:r>
              <a:rPr lang="en-US" dirty="0">
                <a:solidFill>
                  <a:schemeClr val="bg1"/>
                </a:solidFill>
                <a:latin typeface="Canva Sans" panose="020B0604020202020204" charset="0"/>
                <a:cs typeface="Times New Roman" panose="02020503050405090304" pitchFamily="18" charset="0"/>
              </a:rPr>
              <a:t> in chest CT/X-ray.</a:t>
            </a:r>
          </a:p>
          <a:p>
            <a:pPr lvl="1" algn="just">
              <a:lnSpc>
                <a:spcPct val="150000"/>
              </a:lnSpc>
            </a:pPr>
            <a:r>
              <a:rPr lang="en-US" dirty="0">
                <a:solidFill>
                  <a:schemeClr val="bg1"/>
                </a:solidFill>
                <a:latin typeface="Canva Sans" panose="020B0604020202020204" charset="0"/>
                <a:cs typeface="Times New Roman" panose="02020503050405090304" pitchFamily="18" charset="0"/>
              </a:rPr>
              <a:t>Identifying </a:t>
            </a:r>
            <a:r>
              <a:rPr lang="en-US" b="1" dirty="0">
                <a:solidFill>
                  <a:schemeClr val="bg1"/>
                </a:solidFill>
                <a:latin typeface="Canva Sans" panose="020B0604020202020204" charset="0"/>
                <a:cs typeface="Times New Roman" panose="02020503050405090304" pitchFamily="18" charset="0"/>
              </a:rPr>
              <a:t>lesions</a:t>
            </a:r>
            <a:r>
              <a:rPr lang="en-US" dirty="0">
                <a:solidFill>
                  <a:schemeClr val="bg1"/>
                </a:solidFill>
                <a:latin typeface="Canva Sans" panose="020B0604020202020204" charset="0"/>
                <a:cs typeface="Times New Roman" panose="02020503050405090304" pitchFamily="18" charset="0"/>
              </a:rPr>
              <a:t> in CT/MRI.</a:t>
            </a:r>
          </a:p>
          <a:p>
            <a:pPr lvl="1" algn="just">
              <a:lnSpc>
                <a:spcPct val="150000"/>
              </a:lnSpc>
            </a:pPr>
            <a:r>
              <a:rPr lang="en-US" dirty="0">
                <a:solidFill>
                  <a:schemeClr val="bg1"/>
                </a:solidFill>
                <a:latin typeface="Canva Sans" panose="020B0604020202020204" charset="0"/>
                <a:cs typeface="Times New Roman" panose="02020503050405090304" pitchFamily="18" charset="0"/>
              </a:rPr>
              <a:t>Locating </a:t>
            </a:r>
            <a:r>
              <a:rPr lang="en-US" b="1" dirty="0">
                <a:solidFill>
                  <a:schemeClr val="bg1"/>
                </a:solidFill>
                <a:latin typeface="Canva Sans" panose="020B0604020202020204" charset="0"/>
                <a:cs typeface="Times New Roman" panose="02020503050405090304" pitchFamily="18" charset="0"/>
              </a:rPr>
              <a:t>fractures</a:t>
            </a:r>
            <a:r>
              <a:rPr lang="en-US" dirty="0">
                <a:solidFill>
                  <a:schemeClr val="bg1"/>
                </a:solidFill>
                <a:latin typeface="Canva Sans" panose="020B0604020202020204" charset="0"/>
                <a:cs typeface="Times New Roman" panose="02020503050405090304" pitchFamily="18" charset="0"/>
              </a:rPr>
              <a:t> in bone X-rays.</a:t>
            </a:r>
          </a:p>
        </p:txBody>
      </p:sp>
      <p:sp>
        <p:nvSpPr>
          <p:cNvPr id="15" name="Freeform 6"/>
          <p:cNvSpPr/>
          <p:nvPr/>
        </p:nvSpPr>
        <p:spPr>
          <a:xfrm>
            <a:off x="13373118" y="1908603"/>
            <a:ext cx="3962382" cy="7402084"/>
          </a:xfrm>
          <a:custGeom>
            <a:avLst/>
            <a:gdLst/>
            <a:ahLst/>
            <a:cxnLst/>
            <a:rect l="l" t="t" r="r" b="b"/>
            <a:pathLst>
              <a:path w="3962382" h="7402084">
                <a:moveTo>
                  <a:pt x="0" y="0"/>
                </a:moveTo>
                <a:lnTo>
                  <a:pt x="3962382" y="0"/>
                </a:lnTo>
                <a:lnTo>
                  <a:pt x="3962382" y="7402084"/>
                </a:lnTo>
                <a:lnTo>
                  <a:pt x="0" y="74020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solidFill>
                <a:schemeClr val="bg1"/>
              </a:solidFill>
              <a:latin typeface="Canva Sans" panose="020B0604020202020204" charset="0"/>
            </a:endParaRPr>
          </a:p>
        </p:txBody>
      </p:sp>
      <p:grpSp>
        <p:nvGrpSpPr>
          <p:cNvPr id="16" name="Group 7"/>
          <p:cNvGrpSpPr/>
          <p:nvPr/>
        </p:nvGrpSpPr>
        <p:grpSpPr>
          <a:xfrm>
            <a:off x="13944600" y="2476500"/>
            <a:ext cx="1209000" cy="1209000"/>
            <a:chOff x="0" y="0"/>
            <a:chExt cx="1612000" cy="1612000"/>
          </a:xfrm>
        </p:grpSpPr>
        <p:sp>
          <p:nvSpPr>
            <p:cNvPr id="17" name="Freeform 8"/>
            <p:cNvSpPr/>
            <p:nvPr/>
          </p:nvSpPr>
          <p:spPr>
            <a:xfrm>
              <a:off x="0" y="0"/>
              <a:ext cx="1611884" cy="1611884"/>
            </a:xfrm>
            <a:custGeom>
              <a:avLst/>
              <a:gdLst/>
              <a:ahLst/>
              <a:cxnLst/>
              <a:rect l="l" t="t" r="r" b="b"/>
              <a:pathLst>
                <a:path w="1611884" h="1611884">
                  <a:moveTo>
                    <a:pt x="0" y="805942"/>
                  </a:moveTo>
                  <a:cubicBezTo>
                    <a:pt x="0" y="360807"/>
                    <a:pt x="360807" y="0"/>
                    <a:pt x="805942" y="0"/>
                  </a:cubicBezTo>
                  <a:cubicBezTo>
                    <a:pt x="1251077" y="0"/>
                    <a:pt x="1611884" y="360807"/>
                    <a:pt x="1611884" y="805942"/>
                  </a:cubicBezTo>
                  <a:cubicBezTo>
                    <a:pt x="1611884" y="1251077"/>
                    <a:pt x="1251077" y="1611884"/>
                    <a:pt x="805942" y="1611884"/>
                  </a:cubicBezTo>
                  <a:cubicBezTo>
                    <a:pt x="360807" y="1611884"/>
                    <a:pt x="0" y="1251204"/>
                    <a:pt x="0" y="805942"/>
                  </a:cubicBezTo>
                  <a:close/>
                </a:path>
              </a:pathLst>
            </a:custGeom>
            <a:solidFill>
              <a:srgbClr val="8027EA"/>
            </a:solidFill>
          </p:spPr>
          <p:txBody>
            <a:bodyPr/>
            <a:lstStyle/>
            <a:p>
              <a:endParaRPr lang="en-US">
                <a:solidFill>
                  <a:schemeClr val="bg1"/>
                </a:solidFill>
                <a:latin typeface="Canva Sans" panose="020B0604020202020204" charset="0"/>
              </a:endParaRPr>
            </a:p>
          </p:txBody>
        </p:sp>
        <p:sp>
          <p:nvSpPr>
            <p:cNvPr id="18" name="TextBox 9"/>
            <p:cNvSpPr txBox="1"/>
            <p:nvPr/>
          </p:nvSpPr>
          <p:spPr>
            <a:xfrm>
              <a:off x="0" y="-9525"/>
              <a:ext cx="1612000" cy="1621525"/>
            </a:xfrm>
            <a:prstGeom prst="rect">
              <a:avLst/>
            </a:prstGeom>
          </p:spPr>
          <p:txBody>
            <a:bodyPr lIns="50800" tIns="50800" rIns="50800" bIns="50800" rtlCol="0" anchor="ctr"/>
            <a:lstStyle/>
            <a:p>
              <a:pPr algn="ctr">
                <a:lnSpc>
                  <a:spcPts val="4320"/>
                </a:lnSpc>
              </a:pPr>
              <a:r>
                <a:rPr lang="en-US" sz="3600" b="1" dirty="0">
                  <a:solidFill>
                    <a:schemeClr val="bg1"/>
                  </a:solidFill>
                  <a:latin typeface="Canva Sans" panose="020B0604020202020204" charset="0"/>
                  <a:ea typeface="Fira Sans Bold"/>
                  <a:cs typeface="Fira Sans Bold"/>
                  <a:sym typeface="Fira Sans Bold"/>
                </a:rPr>
                <a:t>04</a:t>
              </a:r>
            </a:p>
          </p:txBody>
        </p:sp>
      </p:grpSp>
      <p:sp>
        <p:nvSpPr>
          <p:cNvPr id="8" name="Slide Number Placeholder 7">
            <a:extLst>
              <a:ext uri="{FF2B5EF4-FFF2-40B4-BE49-F238E27FC236}">
                <a16:creationId xmlns:a16="http://schemas.microsoft.com/office/drawing/2014/main" id="{7D34A1B0-629F-317B-5511-AE7159EFD905}"/>
              </a:ext>
            </a:extLst>
          </p:cNvPr>
          <p:cNvSpPr>
            <a:spLocks noGrp="1"/>
          </p:cNvSpPr>
          <p:nvPr>
            <p:ph type="sldNum" sz="quarter" idx="12"/>
          </p:nvPr>
        </p:nvSpPr>
        <p:spPr>
          <a:xfrm>
            <a:off x="15544800" y="9639300"/>
            <a:ext cx="2133600" cy="365125"/>
          </a:xfrm>
        </p:spPr>
        <p:txBody>
          <a:bodyPr/>
          <a:lstStyle/>
          <a:p>
            <a:fld id="{B6F15528-21DE-4FAA-801E-634DDDAF4B2B}" type="slidenum">
              <a:rPr lang="en-US" sz="1400" b="1" smtClean="0">
                <a:solidFill>
                  <a:schemeClr val="bg1"/>
                </a:solidFill>
                <a:latin typeface="Canva Sans" panose="020B0604020202020204" charset="0"/>
              </a:rPr>
              <a:t>8</a:t>
            </a:fld>
            <a:endParaRPr lang="en-US" b="1" dirty="0">
              <a:solidFill>
                <a:schemeClr val="bg1"/>
              </a:solidFill>
              <a:latin typeface="Canva Sans" panose="020B060402020202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solidFill>
                  <a:schemeClr val="bg1"/>
                </a:solidFill>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dirty="0">
                  <a:solidFill>
                    <a:schemeClr val="bg1"/>
                  </a:solidFill>
                  <a:latin typeface="Fira Sans Bold"/>
                  <a:ea typeface="Fira Sans Bold"/>
                  <a:cs typeface="Fira Sans Bold"/>
                  <a:sym typeface="Fira Sans Bold"/>
                </a:rPr>
                <a:t>ARCHITECTURE </a:t>
              </a:r>
            </a:p>
          </p:txBody>
        </p:sp>
      </p:grpSp>
      <p:pic>
        <p:nvPicPr>
          <p:cNvPr id="3074" name="Picture 2" descr="Introduction to YOLO Object Detection: Understanding the Basic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1181100"/>
            <a:ext cx="13165336" cy="665809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459912A8-62E5-2C77-0985-5257EFC00716}"/>
              </a:ext>
            </a:extLst>
          </p:cNvPr>
          <p:cNvSpPr>
            <a:spLocks noGrp="1"/>
          </p:cNvSpPr>
          <p:nvPr>
            <p:ph type="sldNum" sz="quarter" idx="12"/>
          </p:nvPr>
        </p:nvSpPr>
        <p:spPr>
          <a:xfrm>
            <a:off x="15832336" y="9410700"/>
            <a:ext cx="2133600" cy="365125"/>
          </a:xfrm>
        </p:spPr>
        <p:txBody>
          <a:bodyPr/>
          <a:lstStyle/>
          <a:p>
            <a:fld id="{B6F15528-21DE-4FAA-801E-634DDDAF4B2B}" type="slidenum">
              <a:rPr lang="en-US" sz="1400" b="1" smtClean="0">
                <a:solidFill>
                  <a:schemeClr val="bg1"/>
                </a:solidFill>
                <a:latin typeface="Canva Sans" panose="020B0604020202020204" charset="0"/>
              </a:rPr>
              <a:t>9</a:t>
            </a:fld>
            <a:endParaRPr lang="en-US" b="1" dirty="0">
              <a:solidFill>
                <a:schemeClr val="bg1"/>
              </a:solidFill>
              <a:latin typeface="Canva Sans" panose="020B06040202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7</a:t>
            </a:r>
          </a:p>
        </p:txBody>
      </p:sp>
      <p:sp>
        <p:nvSpPr>
          <p:cNvPr id="10" name="TextBox 5"/>
          <p:cNvSpPr txBox="1"/>
          <p:nvPr/>
        </p:nvSpPr>
        <p:spPr>
          <a:xfrm>
            <a:off x="1828800" y="1714500"/>
            <a:ext cx="7543800" cy="7516097"/>
          </a:xfrm>
          <a:prstGeom prst="rect">
            <a:avLst/>
          </a:prstGeom>
        </p:spPr>
        <p:txBody>
          <a:bodyPr wrap="square" lIns="0" tIns="0" rIns="0" bIns="0" rtlCol="0" anchor="t">
            <a:spAutoFit/>
          </a:bodyPr>
          <a:lstStyle/>
          <a:p>
            <a:pPr algn="just">
              <a:lnSpc>
                <a:spcPct val="150000"/>
              </a:lnSpc>
            </a:pPr>
            <a:r>
              <a:rPr lang="en-US" sz="2400" b="1" dirty="0">
                <a:solidFill>
                  <a:schemeClr val="bg1"/>
                </a:solidFill>
                <a:latin typeface="Canva Sans" panose="020B0604020202020204" charset="0"/>
                <a:cs typeface="Times New Roman" panose="02020503050405090304" pitchFamily="18" charset="0"/>
              </a:rPr>
              <a:t>Example :</a:t>
            </a:r>
          </a:p>
          <a:p>
            <a:pPr algn="just">
              <a:lnSpc>
                <a:spcPct val="150000"/>
              </a:lnSpc>
            </a:pPr>
            <a:r>
              <a:rPr lang="en-US" dirty="0">
                <a:solidFill>
                  <a:schemeClr val="bg1"/>
                </a:solidFill>
                <a:latin typeface="Canva Sans" panose="020B0604020202020204" charset="0"/>
                <a:cs typeface="Times New Roman" panose="02020503050405090304" pitchFamily="18" charset="0"/>
              </a:rPr>
              <a:t>This image set shows six chest X-rays with yellow bounding boxes labeled "COVID-19," illustrating the application of automated detection algorithms, likely YOLO or a similar object detection model, in identifying suspected COVID-19 cases based on radiographic features.</a:t>
            </a:r>
          </a:p>
          <a:p>
            <a:pPr marL="285750" indent="-285750" algn="just">
              <a:lnSpc>
                <a:spcPct val="150000"/>
              </a:lnSpc>
              <a:buFont typeface="Arial" panose="020B0604020202020204" pitchFamily="34" charset="0"/>
              <a:buChar char="•"/>
            </a:pPr>
            <a:r>
              <a:rPr lang="en-US" dirty="0">
                <a:solidFill>
                  <a:schemeClr val="bg1"/>
                </a:solidFill>
                <a:latin typeface="Canva Sans" panose="020B0604020202020204" charset="0"/>
                <a:cs typeface="Times New Roman" panose="02020503050405090304" pitchFamily="18" charset="0"/>
              </a:rPr>
              <a:t>Each X-ray displays a bounding box drawn over the lungs area, where the algorithm has detected patterns consistent with COVID-19 infection.</a:t>
            </a:r>
          </a:p>
          <a:p>
            <a:pPr marL="285750" indent="-285750" algn="just">
              <a:lnSpc>
                <a:spcPct val="150000"/>
              </a:lnSpc>
              <a:buFont typeface="Arial" panose="020B0604020202020204" pitchFamily="34" charset="0"/>
              <a:buChar char="•"/>
            </a:pPr>
            <a:r>
              <a:rPr lang="en-US" dirty="0">
                <a:solidFill>
                  <a:schemeClr val="bg1"/>
                </a:solidFill>
                <a:latin typeface="Canva Sans" panose="020B0604020202020204" charset="0"/>
                <a:cs typeface="Times New Roman" panose="02020503050405090304" pitchFamily="18" charset="0"/>
              </a:rPr>
              <a:t>The yellow box and label indicate that the AI model has flagged these regions for review as potential evidence of COVID-19.</a:t>
            </a:r>
          </a:p>
          <a:p>
            <a:pPr marL="285750" indent="-285750" algn="just">
              <a:lnSpc>
                <a:spcPct val="150000"/>
              </a:lnSpc>
              <a:buFont typeface="Arial" panose="020B0604020202020204" pitchFamily="34" charset="0"/>
              <a:buChar char="•"/>
            </a:pPr>
            <a:r>
              <a:rPr lang="en-US" dirty="0">
                <a:solidFill>
                  <a:schemeClr val="bg1"/>
                </a:solidFill>
                <a:latin typeface="Canva Sans" panose="020B0604020202020204" charset="0"/>
                <a:cs typeface="Times New Roman" panose="02020503050405090304" pitchFamily="18" charset="0"/>
              </a:rPr>
              <a:t>This approach allows rapid triage and supports radiologists by highlighting critical cases needing expert evaluation, enabling healthcare professionals to focus on suspected COVID-19 patients more efficiently.</a:t>
            </a:r>
          </a:p>
          <a:p>
            <a:pPr algn="just">
              <a:lnSpc>
                <a:spcPct val="150000"/>
              </a:lnSpc>
            </a:pPr>
            <a:r>
              <a:rPr lang="en-US" dirty="0">
                <a:solidFill>
                  <a:schemeClr val="bg1"/>
                </a:solidFill>
                <a:latin typeface="Canva Sans" panose="020B0604020202020204" charset="0"/>
                <a:cs typeface="Times New Roman" panose="02020503050405090304" pitchFamily="18" charset="0"/>
              </a:rPr>
              <a:t>Such object detection models quickly process large volumes of X-rays and help sort cases for further clinical testing, enhancing diagnostic speed and supporting pandemic response efforts.</a:t>
            </a:r>
          </a:p>
          <a:p>
            <a:pPr lvl="0" algn="just">
              <a:lnSpc>
                <a:spcPts val="2635"/>
              </a:lnSpc>
              <a:spcBef>
                <a:spcPct val="0"/>
              </a:spcBef>
            </a:pPr>
            <a:endParaRPr lang="en-US" sz="1885" b="1" spc="1" dirty="0">
              <a:solidFill>
                <a:schemeClr val="bg1"/>
              </a:solidFill>
              <a:latin typeface="Canva Sans" panose="020B0604020202020204" charset="0"/>
              <a:ea typeface="Canva Sans Bold"/>
              <a:cs typeface="Canva Sans Bold"/>
              <a:sym typeface="Canva Sans Bold"/>
            </a:endParaRPr>
          </a:p>
        </p:txBody>
      </p:sp>
      <p:pic>
        <p:nvPicPr>
          <p:cNvPr id="4100" name="Picture 4" descr="Revolutionizing Medical Imaging with YOLO: Detecting Bone Fractures in X- rays using Computer Vision | by Jaykumaran R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2900" y="2324100"/>
            <a:ext cx="6908800" cy="5080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6621799-3744-0799-49F6-B10231228A2D}"/>
              </a:ext>
            </a:extLst>
          </p:cNvPr>
          <p:cNvSpPr>
            <a:spLocks noGrp="1"/>
          </p:cNvSpPr>
          <p:nvPr>
            <p:ph type="sldNum" sz="quarter" idx="12"/>
          </p:nvPr>
        </p:nvSpPr>
        <p:spPr>
          <a:xfrm>
            <a:off x="15925800" y="9401476"/>
            <a:ext cx="2133600" cy="365125"/>
          </a:xfrm>
        </p:spPr>
        <p:txBody>
          <a:bodyPr/>
          <a:lstStyle/>
          <a:p>
            <a:fld id="{B6F15528-21DE-4FAA-801E-634DDDAF4B2B}" type="slidenum">
              <a:rPr lang="en-US" sz="1400" b="1" smtClean="0">
                <a:solidFill>
                  <a:schemeClr val="bg1"/>
                </a:solidFill>
                <a:latin typeface="Canva Sans" panose="020B0604020202020204" charset="0"/>
              </a:rPr>
              <a:t>10</a:t>
            </a:fld>
            <a:endParaRPr lang="en-US" b="1" dirty="0">
              <a:solidFill>
                <a:schemeClr val="bg1"/>
              </a:solidFill>
              <a:latin typeface="Canva Sans" panose="020B06040202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7</a:t>
            </a:r>
          </a:p>
        </p:txBody>
      </p:sp>
      <p:sp>
        <p:nvSpPr>
          <p:cNvPr id="3" name="TextBox 2"/>
          <p:cNvSpPr txBox="1"/>
          <p:nvPr/>
        </p:nvSpPr>
        <p:spPr>
          <a:xfrm>
            <a:off x="1143000" y="1596374"/>
            <a:ext cx="11506200" cy="7243691"/>
          </a:xfrm>
          <a:prstGeom prst="rect">
            <a:avLst/>
          </a:prstGeom>
          <a:noFill/>
        </p:spPr>
        <p:txBody>
          <a:bodyPr wrap="square">
            <a:spAutoFit/>
          </a:bodyPr>
          <a:lstStyle/>
          <a:p>
            <a:pPr algn="just">
              <a:lnSpc>
                <a:spcPct val="150000"/>
              </a:lnSpc>
            </a:pPr>
            <a:r>
              <a:rPr lang="en-US" b="1" dirty="0">
                <a:solidFill>
                  <a:schemeClr val="bg1"/>
                </a:solidFill>
                <a:effectLst/>
                <a:latin typeface="Canva Sans" panose="020B0604020202020204" charset="0"/>
                <a:cs typeface="Times New Roman" panose="02020503050405090304" pitchFamily="18" charset="0"/>
              </a:rPr>
              <a:t>Takeaways: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YOLO offers fast, real-time object detection ideal for urgent medical diagnoses.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It detects and localizes multiple abnormalities simultaneously.</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Effective in many medical imaging applications like lesion, tumor, fracture, and COVID-19 detection.</a:t>
            </a:r>
          </a:p>
          <a:p>
            <a:pPr algn="just">
              <a:lnSpc>
                <a:spcPct val="150000"/>
              </a:lnSpc>
            </a:pPr>
            <a:r>
              <a:rPr lang="en-US" b="1" dirty="0">
                <a:solidFill>
                  <a:schemeClr val="bg1"/>
                </a:solidFill>
                <a:effectLst/>
                <a:latin typeface="Canva Sans" panose="020B0604020202020204" charset="0"/>
                <a:cs typeface="Times New Roman" panose="02020503050405090304" pitchFamily="18" charset="0"/>
              </a:rPr>
              <a:t>Pros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Real-time processing suitable for time-sensitive clinical environments.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Computationally efficient with a unified detection and classification framework.</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High accuracy with contextual understanding of images.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Adaptable to different medical imaging domains.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Lower false positive rates due to global context analysis.</a:t>
            </a:r>
          </a:p>
          <a:p>
            <a:pPr algn="just">
              <a:lnSpc>
                <a:spcPct val="150000"/>
              </a:lnSpc>
            </a:pPr>
            <a:r>
              <a:rPr lang="en-US" b="1" dirty="0">
                <a:solidFill>
                  <a:schemeClr val="bg1"/>
                </a:solidFill>
                <a:effectLst/>
                <a:latin typeface="Canva Sans" panose="020B0604020202020204" charset="0"/>
                <a:cs typeface="Times New Roman" panose="02020503050405090304" pitchFamily="18" charset="0"/>
              </a:rPr>
              <a:t>Cons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Requires large, well-annotated datasets.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Struggles with detecting small or occluded objects.</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Performance sensitivity to object scale.</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Less effective with highly diverse object classes not covered in training data.</a:t>
            </a:r>
          </a:p>
          <a:p>
            <a:pPr marL="285750" indent="-285750" algn="just">
              <a:lnSpc>
                <a:spcPct val="150000"/>
              </a:lnSpc>
              <a:buFont typeface="Arial" panose="020B0604020202020204" pitchFamily="34" charset="0"/>
              <a:buChar char="•"/>
            </a:pPr>
            <a:r>
              <a:rPr lang="en-US" dirty="0">
                <a:solidFill>
                  <a:schemeClr val="bg1"/>
                </a:solidFill>
                <a:effectLst/>
                <a:latin typeface="Canva Sans" panose="020B0604020202020204" charset="0"/>
                <a:cs typeface="Times New Roman" panose="02020503050405090304" pitchFamily="18" charset="0"/>
              </a:rPr>
              <a:t>This balance of fast speed, accuracy, and adaptability makes YOLO models powerful but also dependent on good data and careful tuning for best clinical use.</a:t>
            </a:r>
          </a:p>
        </p:txBody>
      </p:sp>
      <p:sp>
        <p:nvSpPr>
          <p:cNvPr id="4" name="Freeform 35"/>
          <p:cNvSpPr/>
          <p:nvPr/>
        </p:nvSpPr>
        <p:spPr>
          <a:xfrm>
            <a:off x="13028350" y="1521654"/>
            <a:ext cx="4116650" cy="7243692"/>
          </a:xfrm>
          <a:custGeom>
            <a:avLst/>
            <a:gdLst/>
            <a:ahLst/>
            <a:cxnLst/>
            <a:rect l="l" t="t" r="r" b="b"/>
            <a:pathLst>
              <a:path w="4116650" h="7243692">
                <a:moveTo>
                  <a:pt x="0" y="0"/>
                </a:moveTo>
                <a:lnTo>
                  <a:pt x="4116650" y="0"/>
                </a:lnTo>
                <a:lnTo>
                  <a:pt x="4116650" y="7243692"/>
                </a:lnTo>
                <a:lnTo>
                  <a:pt x="0" y="72436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Slide Number Placeholder 4">
            <a:extLst>
              <a:ext uri="{FF2B5EF4-FFF2-40B4-BE49-F238E27FC236}">
                <a16:creationId xmlns:a16="http://schemas.microsoft.com/office/drawing/2014/main" id="{E0F5E4CD-27C8-4986-2462-C24F572F3733}"/>
              </a:ext>
            </a:extLst>
          </p:cNvPr>
          <p:cNvSpPr>
            <a:spLocks noGrp="1"/>
          </p:cNvSpPr>
          <p:nvPr>
            <p:ph type="sldNum" sz="quarter" idx="12"/>
          </p:nvPr>
        </p:nvSpPr>
        <p:spPr>
          <a:xfrm>
            <a:off x="15773400" y="9330339"/>
            <a:ext cx="2133600" cy="365125"/>
          </a:xfrm>
        </p:spPr>
        <p:txBody>
          <a:bodyPr/>
          <a:lstStyle/>
          <a:p>
            <a:fld id="{B6F15528-21DE-4FAA-801E-634DDDAF4B2B}" type="slidenum">
              <a:rPr lang="en-US" sz="1400" b="1" smtClean="0">
                <a:solidFill>
                  <a:schemeClr val="bg1"/>
                </a:solidFill>
                <a:latin typeface="Canva Sans" panose="020B0604020202020204" charset="0"/>
              </a:rPr>
              <a:t>11</a:t>
            </a:fld>
            <a:endParaRPr lang="en-US" b="1" dirty="0">
              <a:solidFill>
                <a:schemeClr val="bg1"/>
              </a:solidFill>
              <a:latin typeface="Canva Sans" panose="020B060402020202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latin typeface="Canva Sans" panose="020B0604020202020204" charset="0"/>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a:solidFill>
                    <a:srgbClr val="FFFFFF"/>
                  </a:solidFill>
                  <a:latin typeface="Canva Sans" panose="020B0604020202020204" charset="0"/>
                  <a:ea typeface="Fira Sans Bold"/>
                  <a:cs typeface="Fira Sans Bold"/>
                  <a:sym typeface="Fira Sans Bold"/>
                </a:rPr>
                <a:t>U-Net (Segmentation)</a:t>
              </a:r>
            </a:p>
          </p:txBody>
        </p:sp>
      </p:grpSp>
      <p:sp>
        <p:nvSpPr>
          <p:cNvPr id="5" name="TextBox 5"/>
          <p:cNvSpPr txBox="1"/>
          <p:nvPr/>
        </p:nvSpPr>
        <p:spPr>
          <a:xfrm>
            <a:off x="914400" y="3843228"/>
            <a:ext cx="9844332" cy="3582006"/>
          </a:xfrm>
          <a:prstGeom prst="rect">
            <a:avLst/>
          </a:prstGeom>
        </p:spPr>
        <p:txBody>
          <a:bodyPr lIns="0" tIns="0" rIns="0" bIns="0" rtlCol="0" anchor="t">
            <a:spAutoFit/>
          </a:bodyPr>
          <a:lstStyle/>
          <a:p>
            <a:pPr marL="0" lvl="0" indent="0" algn="just">
              <a:lnSpc>
                <a:spcPts val="2635"/>
              </a:lnSpc>
              <a:spcBef>
                <a:spcPct val="0"/>
              </a:spcBef>
            </a:pPr>
            <a:r>
              <a:rPr lang="en-US" b="1" spc="1" dirty="0">
                <a:solidFill>
                  <a:schemeClr val="bg1"/>
                </a:solidFill>
                <a:latin typeface="Canva Sans" panose="020B0604020202020204" charset="0"/>
                <a:ea typeface="Canva Sans Bold"/>
                <a:cs typeface="Times New Roman" panose="02020503050405090304" pitchFamily="18" charset="0"/>
                <a:sym typeface="Canva Sans Bold"/>
              </a:rPr>
              <a:t>What is U-Net ?</a:t>
            </a:r>
          </a:p>
          <a:p>
            <a:pPr lvl="0" algn="just">
              <a:lnSpc>
                <a:spcPts val="2635"/>
              </a:lnSpc>
              <a:spcBef>
                <a:spcPct val="0"/>
              </a:spcBef>
            </a:pPr>
            <a:r>
              <a:rPr lang="en-IN" dirty="0">
                <a:solidFill>
                  <a:schemeClr val="bg1"/>
                </a:solidFill>
                <a:latin typeface="Canva Sans" panose="020B0604020202020204" charset="0"/>
                <a:cs typeface="Times New Roman" panose="02020503050405090304" pitchFamily="18" charset="0"/>
              </a:rPr>
              <a:t>U-Net is a kind of neural network mainly used for image segmentation which means dividing an image into different parts to identify specific objects for example separating a </a:t>
            </a:r>
            <a:r>
              <a:rPr lang="en-IN" dirty="0" err="1">
                <a:solidFill>
                  <a:schemeClr val="bg1"/>
                </a:solidFill>
                <a:latin typeface="Canva Sans" panose="020B0604020202020204" charset="0"/>
                <a:cs typeface="Times New Roman" panose="02020503050405090304" pitchFamily="18" charset="0"/>
              </a:rPr>
              <a:t>tumor</a:t>
            </a:r>
            <a:r>
              <a:rPr lang="en-IN" dirty="0">
                <a:solidFill>
                  <a:schemeClr val="bg1"/>
                </a:solidFill>
                <a:latin typeface="Canva Sans" panose="020B0604020202020204" charset="0"/>
                <a:cs typeface="Times New Roman" panose="02020503050405090304" pitchFamily="18" charset="0"/>
              </a:rPr>
              <a:t> from healthy tissue in a medical scan. The name “U-Net” comes from the shape of its architecture which looks like the letter “U” when drawn. It is widely used in medical imaging because it performs well even with a small amount of </a:t>
            </a:r>
            <a:r>
              <a:rPr lang="en-IN" dirty="0" err="1">
                <a:solidFill>
                  <a:schemeClr val="bg1"/>
                </a:solidFill>
                <a:latin typeface="Canva Sans" panose="020B0604020202020204" charset="0"/>
                <a:cs typeface="Times New Roman" panose="02020503050405090304" pitchFamily="18" charset="0"/>
              </a:rPr>
              <a:t>labeled</a:t>
            </a:r>
            <a:r>
              <a:rPr lang="en-IN" dirty="0">
                <a:solidFill>
                  <a:schemeClr val="bg1"/>
                </a:solidFill>
                <a:latin typeface="Canva Sans" panose="020B0604020202020204" charset="0"/>
                <a:cs typeface="Times New Roman" panose="02020503050405090304" pitchFamily="18" charset="0"/>
              </a:rPr>
              <a:t> data.</a:t>
            </a:r>
          </a:p>
          <a:p>
            <a:pPr lvl="0" algn="just">
              <a:lnSpc>
                <a:spcPts val="2635"/>
              </a:lnSpc>
              <a:spcBef>
                <a:spcPct val="0"/>
              </a:spcBef>
            </a:pPr>
            <a:endParaRPr lang="en-IN" spc="1" dirty="0">
              <a:solidFill>
                <a:schemeClr val="bg1"/>
              </a:solidFill>
              <a:latin typeface="Canva Sans" panose="020B0604020202020204" charset="0"/>
              <a:ea typeface="Canva Sans Bold"/>
              <a:cs typeface="Times New Roman" panose="02020503050405090304" pitchFamily="18" charset="0"/>
              <a:sym typeface="Canva Sans Bold"/>
            </a:endParaRPr>
          </a:p>
          <a:p>
            <a:pPr lvl="0" eaLnBrk="0" fontAlgn="base" hangingPunct="0">
              <a:spcBef>
                <a:spcPct val="0"/>
              </a:spcBef>
              <a:spcAft>
                <a:spcPct val="0"/>
              </a:spcAft>
            </a:pPr>
            <a:endParaRPr lang="en-US" altLang="en-US" dirty="0">
              <a:solidFill>
                <a:schemeClr val="bg1"/>
              </a:solidFill>
              <a:latin typeface="Canva Sans" panose="020B0604020202020204" charset="0"/>
              <a:cs typeface="Times New Roman" panose="02020503050405090304" pitchFamily="18" charset="0"/>
            </a:endParaRPr>
          </a:p>
          <a:p>
            <a:pPr algn="just">
              <a:lnSpc>
                <a:spcPts val="2635"/>
              </a:lnSpc>
              <a:spcBef>
                <a:spcPct val="0"/>
              </a:spcBef>
            </a:pPr>
            <a:endParaRPr lang="en-US" b="1" spc="1" dirty="0">
              <a:solidFill>
                <a:schemeClr val="bg1"/>
              </a:solidFill>
              <a:latin typeface="Canva Sans" panose="020B0604020202020204" charset="0"/>
              <a:ea typeface="Canva Sans Bold"/>
              <a:cs typeface="Times New Roman" panose="02020503050405090304" pitchFamily="18" charset="0"/>
              <a:sym typeface="Canva Sans Bold"/>
            </a:endParaRPr>
          </a:p>
          <a:p>
            <a:pPr lvl="0" algn="just">
              <a:lnSpc>
                <a:spcPts val="2635"/>
              </a:lnSpc>
              <a:spcBef>
                <a:spcPct val="0"/>
              </a:spcBef>
            </a:pPr>
            <a:endParaRPr lang="en-US" b="1" spc="1" dirty="0">
              <a:solidFill>
                <a:schemeClr val="bg1"/>
              </a:solidFill>
              <a:latin typeface="Canva Sans" panose="020B0604020202020204" charset="0"/>
              <a:ea typeface="Canva Sans Bold"/>
              <a:cs typeface="Times New Roman" panose="02020503050405090304" pitchFamily="18" charset="0"/>
              <a:sym typeface="Canva Sans Bold"/>
            </a:endParaRPr>
          </a:p>
          <a:p>
            <a:pPr marL="0" lvl="0" indent="0" algn="just">
              <a:lnSpc>
                <a:spcPts val="2635"/>
              </a:lnSpc>
              <a:spcBef>
                <a:spcPct val="0"/>
              </a:spcBef>
            </a:pPr>
            <a:endParaRPr lang="en-US" b="1" spc="1" dirty="0">
              <a:solidFill>
                <a:schemeClr val="bg1"/>
              </a:solidFill>
              <a:latin typeface="Canva Sans" panose="020B0604020202020204" charset="0"/>
              <a:ea typeface="Canva Sans Bold"/>
              <a:cs typeface="Times New Roman" panose="02020503050405090304" pitchFamily="18" charset="0"/>
              <a:sym typeface="Canva Sans Bold"/>
            </a:endParaRPr>
          </a:p>
        </p:txBody>
      </p:sp>
      <p:sp>
        <p:nvSpPr>
          <p:cNvPr id="6" name="TextBox 6"/>
          <p:cNvSpPr txBox="1"/>
          <p:nvPr/>
        </p:nvSpPr>
        <p:spPr>
          <a:xfrm>
            <a:off x="17260960" y="9210675"/>
            <a:ext cx="149079" cy="337272"/>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604020202020204" charset="0"/>
                <a:ea typeface="Canva Sans" panose="020B0503030501040103"/>
                <a:cs typeface="Canva Sans" panose="020B0503030501040103"/>
                <a:sym typeface="Canva Sans" panose="020B0503030501040103"/>
              </a:rPr>
              <a:t>8</a:t>
            </a:r>
          </a:p>
        </p:txBody>
      </p:sp>
      <p:sp>
        <p:nvSpPr>
          <p:cNvPr id="7" name="Freeform 7"/>
          <p:cNvSpPr/>
          <p:nvPr/>
        </p:nvSpPr>
        <p:spPr>
          <a:xfrm>
            <a:off x="11451290" y="2994151"/>
            <a:ext cx="5808010" cy="5368816"/>
          </a:xfrm>
          <a:custGeom>
            <a:avLst/>
            <a:gdLst/>
            <a:ahLst/>
            <a:cxnLst/>
            <a:rect l="l" t="t" r="r" b="b"/>
            <a:pathLst>
              <a:path w="5808010" h="5368816">
                <a:moveTo>
                  <a:pt x="0" y="0"/>
                </a:moveTo>
                <a:lnTo>
                  <a:pt x="5808010" y="0"/>
                </a:lnTo>
                <a:lnTo>
                  <a:pt x="5808010" y="5368816"/>
                </a:lnTo>
                <a:lnTo>
                  <a:pt x="0" y="53688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latin typeface="Canva Sans" panose="020B0604020202020204" charset="0"/>
            </a:endParaRPr>
          </a:p>
        </p:txBody>
      </p:sp>
      <p:sp>
        <p:nvSpPr>
          <p:cNvPr id="9" name="Slide Number Placeholder 8">
            <a:extLst>
              <a:ext uri="{FF2B5EF4-FFF2-40B4-BE49-F238E27FC236}">
                <a16:creationId xmlns:a16="http://schemas.microsoft.com/office/drawing/2014/main" id="{1A4CE0BC-15D1-1816-4313-79D10EDF57A7}"/>
              </a:ext>
            </a:extLst>
          </p:cNvPr>
          <p:cNvSpPr>
            <a:spLocks noGrp="1"/>
          </p:cNvSpPr>
          <p:nvPr>
            <p:ph type="sldNum" sz="quarter" idx="12"/>
          </p:nvPr>
        </p:nvSpPr>
        <p:spPr>
          <a:xfrm>
            <a:off x="15773400" y="9268327"/>
            <a:ext cx="2133600" cy="365125"/>
          </a:xfrm>
        </p:spPr>
        <p:txBody>
          <a:bodyPr/>
          <a:lstStyle/>
          <a:p>
            <a:fld id="{B6F15528-21DE-4FAA-801E-634DDDAF4B2B}" type="slidenum">
              <a:rPr lang="en-US" sz="1400" b="1" smtClean="0">
                <a:solidFill>
                  <a:schemeClr val="bg1"/>
                </a:solidFill>
                <a:latin typeface="Canva Sans" panose="020B0604020202020204" charset="0"/>
              </a:rPr>
              <a:t>12</a:t>
            </a:fld>
            <a:endParaRPr lang="en-US" b="1" dirty="0">
              <a:solidFill>
                <a:schemeClr val="bg1"/>
              </a:solidFill>
              <a:latin typeface="Canva Sans" panose="020B06040202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latin typeface="Canva Sans" panose="020B0604020202020204" charset="0"/>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dirty="0">
                  <a:solidFill>
                    <a:srgbClr val="FFFFFF"/>
                  </a:solidFill>
                  <a:latin typeface="Canva Sans" panose="020B0604020202020204" charset="0"/>
                  <a:ea typeface="Fira Sans Bold"/>
                  <a:cs typeface="Fira Sans Bold"/>
                  <a:sym typeface="Fira Sans Bold"/>
                </a:rPr>
                <a:t>U-Net Architecture</a:t>
              </a:r>
            </a:p>
          </p:txBody>
        </p:sp>
      </p:grpSp>
      <p:sp>
        <p:nvSpPr>
          <p:cNvPr id="5" name="TextBox 5"/>
          <p:cNvSpPr txBox="1"/>
          <p:nvPr/>
        </p:nvSpPr>
        <p:spPr>
          <a:xfrm>
            <a:off x="609600" y="2453640"/>
            <a:ext cx="7950200" cy="7270750"/>
          </a:xfrm>
          <a:prstGeom prst="rect">
            <a:avLst/>
          </a:prstGeom>
        </p:spPr>
        <p:txBody>
          <a:bodyPr wrap="square" lIns="0" tIns="0" rIns="0" bIns="0" rtlCol="0" anchor="t">
            <a:noAutofit/>
          </a:bodyPr>
          <a:lstStyle/>
          <a:p>
            <a:pPr lvl="0" eaLnBrk="0" fontAlgn="base" hangingPunct="0">
              <a:spcBef>
                <a:spcPct val="0"/>
              </a:spcBef>
              <a:spcAft>
                <a:spcPct val="0"/>
              </a:spcAft>
            </a:pPr>
            <a:r>
              <a:rPr lang="en-US" altLang="en-US" dirty="0">
                <a:solidFill>
                  <a:schemeClr val="bg1"/>
                </a:solidFill>
                <a:latin typeface="Canva Sans" panose="020B0604020202020204" charset="0"/>
                <a:cs typeface="Times New Roman" panose="02020503050405090304" pitchFamily="18" charset="0"/>
              </a:rPr>
              <a:t>The architecture is symmetric and has three key parts:</a:t>
            </a:r>
          </a:p>
          <a:p>
            <a:pPr lvl="0" eaLnBrk="0" fontAlgn="base" hangingPunct="0">
              <a:spcBef>
                <a:spcPct val="0"/>
              </a:spcBef>
              <a:spcAft>
                <a:spcPct val="0"/>
              </a:spcAft>
            </a:pPr>
            <a:r>
              <a:rPr lang="en-US" altLang="en-US" b="1" dirty="0">
                <a:solidFill>
                  <a:schemeClr val="bg1"/>
                </a:solidFill>
                <a:latin typeface="Canva Sans" panose="020B0604020202020204" charset="0"/>
                <a:cs typeface="Times New Roman" panose="02020503050405090304" pitchFamily="18" charset="0"/>
              </a:rPr>
              <a:t>Contracting Path (Encoder):</a:t>
            </a:r>
            <a:endParaRPr lang="en-US" altLang="en-US" dirty="0">
              <a:solidFill>
                <a:schemeClr val="bg1"/>
              </a:solidFill>
              <a:latin typeface="Canva Sans" panose="020B0604020202020204" charset="0"/>
              <a:cs typeface="Times New Roman" panose="02020503050405090304" pitchFamily="18" charset="0"/>
            </a:endParaRPr>
          </a:p>
          <a:p>
            <a:pPr lvl="0" eaLnBrk="0" fontAlgn="base" hangingPunct="0">
              <a:spcBef>
                <a:spcPct val="0"/>
              </a:spcBef>
              <a:spcAft>
                <a:spcPct val="0"/>
              </a:spcAft>
              <a:buFontTx/>
              <a:buChar char="•"/>
            </a:pPr>
            <a:r>
              <a:rPr lang="en-US" altLang="en-US" dirty="0">
                <a:solidFill>
                  <a:schemeClr val="bg1"/>
                </a:solidFill>
                <a:latin typeface="Canva Sans" panose="020B0604020202020204" charset="0"/>
                <a:cs typeface="Times New Roman" panose="02020503050405090304" pitchFamily="18" charset="0"/>
              </a:rPr>
              <a:t> Uses small filters (3×3 pixels) to scan the image and find features.</a:t>
            </a:r>
          </a:p>
          <a:p>
            <a:pPr lvl="0" eaLnBrk="0" fontAlgn="base" hangingPunct="0">
              <a:spcBef>
                <a:spcPct val="0"/>
              </a:spcBef>
              <a:spcAft>
                <a:spcPct val="0"/>
              </a:spcAft>
              <a:buFontTx/>
              <a:buChar char="•"/>
            </a:pPr>
            <a:r>
              <a:rPr lang="en-US" altLang="en-US" dirty="0">
                <a:solidFill>
                  <a:schemeClr val="bg1"/>
                </a:solidFill>
                <a:latin typeface="Canva Sans" panose="020B0604020202020204" charset="0"/>
                <a:cs typeface="Times New Roman" panose="02020503050405090304" pitchFamily="18" charset="0"/>
              </a:rPr>
              <a:t> Apply an activation function called </a:t>
            </a:r>
            <a:r>
              <a:rPr lang="en-US" altLang="en-US" dirty="0" err="1">
                <a:solidFill>
                  <a:schemeClr val="bg1"/>
                </a:solidFill>
                <a:latin typeface="Canva Sans" panose="020B0604020202020204" charset="0"/>
                <a:cs typeface="Times New Roman" panose="02020503050405090304" pitchFamily="18" charset="0"/>
              </a:rPr>
              <a:t>ReLU</a:t>
            </a:r>
            <a:r>
              <a:rPr lang="en-US" altLang="en-US" dirty="0">
                <a:solidFill>
                  <a:schemeClr val="bg1"/>
                </a:solidFill>
                <a:latin typeface="Canva Sans" panose="020B0604020202020204" charset="0"/>
                <a:cs typeface="Times New Roman" panose="02020503050405090304" pitchFamily="18" charset="0"/>
              </a:rPr>
              <a:t> to add non-linearity help the model to learn better.</a:t>
            </a:r>
          </a:p>
          <a:p>
            <a:pPr lvl="0" eaLnBrk="0" fontAlgn="base" hangingPunct="0">
              <a:spcBef>
                <a:spcPct val="0"/>
              </a:spcBef>
              <a:spcAft>
                <a:spcPct val="0"/>
              </a:spcAft>
              <a:buFontTx/>
              <a:buChar char="•"/>
            </a:pPr>
            <a:r>
              <a:rPr lang="en-US" altLang="en-US" dirty="0">
                <a:solidFill>
                  <a:schemeClr val="bg1"/>
                </a:solidFill>
                <a:latin typeface="Canva Sans" panose="020B0604020202020204" charset="0"/>
                <a:cs typeface="Times New Roman" panose="02020503050405090304" pitchFamily="18" charset="0"/>
              </a:rPr>
              <a:t> Uses max pooling (2×2 filters) to shrink the image size while keeping important information. This helps the network focus on bigger features.</a:t>
            </a:r>
          </a:p>
          <a:p>
            <a:pPr lvl="0" eaLnBrk="0" fontAlgn="base" hangingPunct="0">
              <a:spcBef>
                <a:spcPct val="0"/>
              </a:spcBef>
              <a:spcAft>
                <a:spcPct val="0"/>
              </a:spcAft>
            </a:pPr>
            <a:r>
              <a:rPr lang="en-US" altLang="en-US" b="1" dirty="0">
                <a:solidFill>
                  <a:schemeClr val="bg1"/>
                </a:solidFill>
                <a:latin typeface="Canva Sans" panose="020B0604020202020204" charset="0"/>
                <a:cs typeface="Times New Roman" panose="02020503050405090304" pitchFamily="18" charset="0"/>
              </a:rPr>
              <a:t>Bottleneck:</a:t>
            </a:r>
            <a:endParaRPr lang="en-US" altLang="en-US" dirty="0">
              <a:solidFill>
                <a:schemeClr val="bg1"/>
              </a:solidFill>
              <a:latin typeface="Canva Sans" panose="020B0604020202020204" charset="0"/>
              <a:cs typeface="Times New Roman" panose="02020503050405090304" pitchFamily="18" charset="0"/>
            </a:endParaRPr>
          </a:p>
          <a:p>
            <a:pPr lvl="0" eaLnBrk="0" fontAlgn="base" hangingPunct="0">
              <a:spcBef>
                <a:spcPct val="0"/>
              </a:spcBef>
              <a:spcAft>
                <a:spcPct val="0"/>
              </a:spcAft>
            </a:pPr>
            <a:r>
              <a:rPr lang="en-US" altLang="en-US" dirty="0">
                <a:solidFill>
                  <a:schemeClr val="bg1"/>
                </a:solidFill>
                <a:latin typeface="Canva Sans" panose="020B0604020202020204" charset="0"/>
                <a:cs typeface="Times New Roman" panose="02020503050405090304" pitchFamily="18" charset="0"/>
              </a:rPr>
              <a:t>The middle of the “U” where the most compressed and abstract information is stored. It links the encoder and decoder.</a:t>
            </a:r>
          </a:p>
          <a:p>
            <a:pPr lvl="0" eaLnBrk="0" fontAlgn="base" hangingPunct="0">
              <a:spcBef>
                <a:spcPct val="0"/>
              </a:spcBef>
              <a:spcAft>
                <a:spcPct val="0"/>
              </a:spcAft>
            </a:pPr>
            <a:r>
              <a:rPr lang="en-US" altLang="en-US" b="1" dirty="0">
                <a:solidFill>
                  <a:schemeClr val="bg1"/>
                </a:solidFill>
                <a:latin typeface="Canva Sans" panose="020B0604020202020204" charset="0"/>
                <a:cs typeface="Times New Roman" panose="02020503050405090304" pitchFamily="18" charset="0"/>
              </a:rPr>
              <a:t>Expansive Path (Decoder):</a:t>
            </a:r>
            <a:endParaRPr lang="en-US" altLang="en-US" dirty="0">
              <a:solidFill>
                <a:schemeClr val="bg1"/>
              </a:solidFill>
              <a:latin typeface="Canva Sans" panose="020B0604020202020204" charset="0"/>
              <a:cs typeface="Times New Roman" panose="02020503050405090304" pitchFamily="18" charset="0"/>
            </a:endParaRPr>
          </a:p>
          <a:p>
            <a:pPr lvl="0" eaLnBrk="0" fontAlgn="base" hangingPunct="0">
              <a:spcBef>
                <a:spcPct val="0"/>
              </a:spcBef>
              <a:spcAft>
                <a:spcPct val="0"/>
              </a:spcAft>
              <a:buFontTx/>
              <a:buChar char="•"/>
            </a:pPr>
            <a:r>
              <a:rPr lang="en-US" altLang="en-US" dirty="0">
                <a:solidFill>
                  <a:schemeClr val="bg1"/>
                </a:solidFill>
                <a:latin typeface="Canva Sans" panose="020B0604020202020204" charset="0"/>
                <a:cs typeface="Times New Roman" panose="02020503050405090304" pitchFamily="18" charset="0"/>
              </a:rPr>
              <a:t> Uses up sampling </a:t>
            </a:r>
            <a:r>
              <a:rPr lang="en-US" altLang="en-US" dirty="0" err="1">
                <a:solidFill>
                  <a:schemeClr val="bg1"/>
                </a:solidFill>
                <a:latin typeface="Canva Sans" panose="020B0604020202020204" charset="0"/>
                <a:cs typeface="Times New Roman" panose="02020503050405090304" pitchFamily="18" charset="0"/>
              </a:rPr>
              <a:t>i.e</a:t>
            </a:r>
            <a:r>
              <a:rPr lang="en-US" altLang="en-US" dirty="0">
                <a:solidFill>
                  <a:schemeClr val="bg1"/>
                </a:solidFill>
                <a:latin typeface="Canva Sans" panose="020B0604020202020204" charset="0"/>
                <a:cs typeface="Times New Roman" panose="02020503050405090304" pitchFamily="18" charset="0"/>
              </a:rPr>
              <a:t> increasing image size to get back the original image size.</a:t>
            </a:r>
          </a:p>
          <a:p>
            <a:pPr lvl="0" eaLnBrk="0" fontAlgn="base" hangingPunct="0">
              <a:spcBef>
                <a:spcPct val="0"/>
              </a:spcBef>
              <a:spcAft>
                <a:spcPct val="0"/>
              </a:spcAft>
              <a:buFontTx/>
              <a:buChar char="•"/>
            </a:pPr>
            <a:r>
              <a:rPr lang="en-US" altLang="en-US" dirty="0">
                <a:solidFill>
                  <a:schemeClr val="bg1"/>
                </a:solidFill>
                <a:latin typeface="Canva Sans" panose="020B0604020202020204" charset="0"/>
                <a:cs typeface="Times New Roman" panose="02020503050405090304" pitchFamily="18" charset="0"/>
              </a:rPr>
              <a:t> Combines information from the encoder using “skip connections.” These connections help the decoder get spatial details that might have been lost when shrinking the image.</a:t>
            </a:r>
          </a:p>
          <a:p>
            <a:pPr lvl="0" eaLnBrk="0" fontAlgn="base" hangingPunct="0">
              <a:spcBef>
                <a:spcPct val="0"/>
              </a:spcBef>
              <a:spcAft>
                <a:spcPct val="0"/>
              </a:spcAft>
              <a:buFontTx/>
              <a:buChar char="•"/>
            </a:pPr>
            <a:r>
              <a:rPr lang="en-US" altLang="en-US" dirty="0">
                <a:solidFill>
                  <a:schemeClr val="bg1"/>
                </a:solidFill>
                <a:latin typeface="Canva Sans" panose="020B0604020202020204" charset="0"/>
                <a:cs typeface="Times New Roman" panose="02020503050405090304" pitchFamily="18" charset="0"/>
              </a:rPr>
              <a:t> Uses convolution layers again to clean up and refine the output.</a:t>
            </a:r>
          </a:p>
          <a:p>
            <a:pPr lvl="0" eaLnBrk="0" fontAlgn="base" hangingPunct="0">
              <a:spcBef>
                <a:spcPct val="0"/>
              </a:spcBef>
              <a:spcAft>
                <a:spcPct val="0"/>
              </a:spcAft>
            </a:pPr>
            <a:endParaRPr lang="en-US" altLang="en-US" sz="2800" dirty="0">
              <a:solidFill>
                <a:schemeClr val="bg1"/>
              </a:solidFill>
              <a:latin typeface="Canva Sans" panose="020B0604020202020204" charset="0"/>
              <a:cs typeface="Times New Roman" panose="02020503050405090304" pitchFamily="18" charset="0"/>
            </a:endParaRPr>
          </a:p>
          <a:p>
            <a:pPr lvl="0" algn="just">
              <a:lnSpc>
                <a:spcPts val="2635"/>
              </a:lnSpc>
              <a:spcBef>
                <a:spcPct val="0"/>
              </a:spcBef>
            </a:pPr>
            <a:r>
              <a:rPr lang="en-IN" dirty="0">
                <a:solidFill>
                  <a:schemeClr val="bg1"/>
                </a:solidFill>
                <a:latin typeface="Canva Sans" panose="020B0604020202020204" charset="0"/>
                <a:cs typeface="Times New Roman" panose="02020503050405090304" pitchFamily="18" charset="0"/>
              </a:rPr>
              <a:t>The image shows U-Net turning a 572×572 image into a smaller 388×388 segmented map. It shrinks the image to capture features then up samples to restore size using skip connections to keep details. The output labels each pixel as object or background.</a:t>
            </a:r>
            <a:endParaRPr lang="en-US" sz="1885" b="1" spc="1" dirty="0">
              <a:solidFill>
                <a:schemeClr val="bg1"/>
              </a:solidFill>
              <a:latin typeface="Canva Sans" panose="020B0604020202020204" charset="0"/>
              <a:ea typeface="Canva Sans Bold"/>
              <a:cs typeface="Times New Roman" panose="02020503050405090304" pitchFamily="18" charset="0"/>
              <a:sym typeface="Canva Sans Bold"/>
            </a:endParaRPr>
          </a:p>
        </p:txBody>
      </p:sp>
      <p:sp>
        <p:nvSpPr>
          <p:cNvPr id="6" name="TextBox 6"/>
          <p:cNvSpPr txBox="1"/>
          <p:nvPr/>
        </p:nvSpPr>
        <p:spPr>
          <a:xfrm>
            <a:off x="17260960" y="9210675"/>
            <a:ext cx="149079" cy="337272"/>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604020202020204" charset="0"/>
                <a:ea typeface="Canva Sans" panose="020B0503030501040103"/>
                <a:cs typeface="Canva Sans" panose="020B0503030501040103"/>
                <a:sym typeface="Canva Sans" panose="020B0503030501040103"/>
              </a:rPr>
              <a:t>8</a:t>
            </a:r>
          </a:p>
        </p:txBody>
      </p:sp>
      <p:pic>
        <p:nvPicPr>
          <p:cNvPr id="7" name="Picture 6" descr="Group14.jpg"/>
          <p:cNvPicPr>
            <a:picLocks noChangeAspect="1"/>
          </p:cNvPicPr>
          <p:nvPr/>
        </p:nvPicPr>
        <p:blipFill>
          <a:blip r:embed="rId3"/>
          <a:stretch>
            <a:fillRect/>
          </a:stretch>
        </p:blipFill>
        <p:spPr>
          <a:xfrm>
            <a:off x="8991600" y="2896870"/>
            <a:ext cx="8985885" cy="4493260"/>
          </a:xfrm>
          <a:prstGeom prst="rect">
            <a:avLst/>
          </a:prstGeom>
        </p:spPr>
      </p:pic>
      <p:sp>
        <p:nvSpPr>
          <p:cNvPr id="8" name="TextBox 7">
            <a:extLst>
              <a:ext uri="{FF2B5EF4-FFF2-40B4-BE49-F238E27FC236}">
                <a16:creationId xmlns:a16="http://schemas.microsoft.com/office/drawing/2014/main" id="{9FCBDA2E-B68C-E5C6-4F9D-7D17DB750EEE}"/>
              </a:ext>
            </a:extLst>
          </p:cNvPr>
          <p:cNvSpPr txBox="1"/>
          <p:nvPr/>
        </p:nvSpPr>
        <p:spPr>
          <a:xfrm>
            <a:off x="8839200" y="7725081"/>
            <a:ext cx="8900193" cy="369332"/>
          </a:xfrm>
          <a:prstGeom prst="rect">
            <a:avLst/>
          </a:prstGeom>
          <a:noFill/>
        </p:spPr>
        <p:txBody>
          <a:bodyPr wrap="none" rtlCol="0">
            <a:spAutoFit/>
          </a:bodyPr>
          <a:lstStyle/>
          <a:p>
            <a:r>
              <a:rPr lang="en-US" dirty="0">
                <a:solidFill>
                  <a:schemeClr val="bg1"/>
                </a:solidFill>
                <a:latin typeface="Canva Sans" panose="020B0604020202020204" charset="0"/>
              </a:rPr>
              <a:t>https://</a:t>
            </a:r>
            <a:r>
              <a:rPr lang="en-US" dirty="0" err="1">
                <a:solidFill>
                  <a:schemeClr val="bg1"/>
                </a:solidFill>
                <a:latin typeface="Canva Sans" panose="020B0604020202020204" charset="0"/>
              </a:rPr>
              <a:t>www.geeksforgeeks.org</a:t>
            </a:r>
            <a:r>
              <a:rPr lang="en-US" dirty="0">
                <a:solidFill>
                  <a:schemeClr val="bg1"/>
                </a:solidFill>
                <a:latin typeface="Canva Sans" panose="020B0604020202020204" charset="0"/>
              </a:rPr>
              <a:t>/machine-learning/u-net-architecture-explained/</a:t>
            </a:r>
          </a:p>
        </p:txBody>
      </p:sp>
      <p:sp>
        <p:nvSpPr>
          <p:cNvPr id="10" name="Slide Number Placeholder 9">
            <a:extLst>
              <a:ext uri="{FF2B5EF4-FFF2-40B4-BE49-F238E27FC236}">
                <a16:creationId xmlns:a16="http://schemas.microsoft.com/office/drawing/2014/main" id="{D5E40A91-15DF-F89D-8B08-DD982C5D2FDD}"/>
              </a:ext>
            </a:extLst>
          </p:cNvPr>
          <p:cNvSpPr>
            <a:spLocks noGrp="1"/>
          </p:cNvSpPr>
          <p:nvPr>
            <p:ph type="sldNum" sz="quarter" idx="12"/>
          </p:nvPr>
        </p:nvSpPr>
        <p:spPr>
          <a:xfrm>
            <a:off x="15773400" y="9210675"/>
            <a:ext cx="2133600" cy="365125"/>
          </a:xfrm>
        </p:spPr>
        <p:txBody>
          <a:bodyPr/>
          <a:lstStyle/>
          <a:p>
            <a:fld id="{B6F15528-21DE-4FAA-801E-634DDDAF4B2B}" type="slidenum">
              <a:rPr lang="en-US" sz="1400" b="1" smtClean="0">
                <a:solidFill>
                  <a:schemeClr val="bg1"/>
                </a:solidFill>
                <a:latin typeface="Canva Sans" panose="020B0604020202020204" charset="0"/>
              </a:rPr>
              <a:t>13</a:t>
            </a:fld>
            <a:endParaRPr lang="en-US" b="1" dirty="0">
              <a:solidFill>
                <a:schemeClr val="bg1"/>
              </a:solidFill>
              <a:latin typeface="Canva Sans" panose="020B0604020202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64C8FDA-FC44-0311-3AA7-C58C5B9361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988961D-4348-42DC-A2D9-B54F8165AAD3}"/>
              </a:ext>
            </a:extLst>
          </p:cNvPr>
          <p:cNvGrpSpPr/>
          <p:nvPr/>
        </p:nvGrpSpPr>
        <p:grpSpPr>
          <a:xfrm>
            <a:off x="914400" y="822950"/>
            <a:ext cx="16459200" cy="1275867"/>
            <a:chOff x="0" y="0"/>
            <a:chExt cx="21945600" cy="1701157"/>
          </a:xfrm>
        </p:grpSpPr>
        <p:sp>
          <p:nvSpPr>
            <p:cNvPr id="3" name="Freeform 3">
              <a:extLst>
                <a:ext uri="{FF2B5EF4-FFF2-40B4-BE49-F238E27FC236}">
                  <a16:creationId xmlns:a16="http://schemas.microsoft.com/office/drawing/2014/main" id="{C3C37A0D-3291-C17C-45BC-D297F55EBB71}"/>
                </a:ext>
              </a:extLst>
            </p:cNvPr>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p>
          </p:txBody>
        </p:sp>
        <p:sp>
          <p:nvSpPr>
            <p:cNvPr id="4" name="TextBox 4">
              <a:extLst>
                <a:ext uri="{FF2B5EF4-FFF2-40B4-BE49-F238E27FC236}">
                  <a16:creationId xmlns:a16="http://schemas.microsoft.com/office/drawing/2014/main" id="{DF144688-F6CB-26F0-5207-69E41D061942}"/>
                </a:ext>
              </a:extLst>
            </p:cNvPr>
            <p:cNvSpPr txBox="1"/>
            <p:nvPr/>
          </p:nvSpPr>
          <p:spPr>
            <a:xfrm>
              <a:off x="0" y="-9525"/>
              <a:ext cx="21945600" cy="1710682"/>
            </a:xfrm>
            <a:prstGeom prst="rect">
              <a:avLst/>
            </a:prstGeom>
          </p:spPr>
          <p:txBody>
            <a:bodyPr lIns="0" tIns="0" rIns="0" bIns="0" rtlCol="0" anchor="ctr"/>
            <a:lstStyle/>
            <a:p>
              <a:pPr algn="ctr">
                <a:lnSpc>
                  <a:spcPts val="6720"/>
                </a:lnSpc>
              </a:pPr>
              <a:r>
                <a:rPr lang="en-US" sz="5600" b="1" dirty="0">
                  <a:solidFill>
                    <a:srgbClr val="FFFFFF"/>
                  </a:solidFill>
                  <a:latin typeface="Fira Sans Bold"/>
                  <a:ea typeface="Fira Sans Bold"/>
                  <a:cs typeface="Fira Sans Bold"/>
                  <a:sym typeface="Fira Sans Bold"/>
                </a:rPr>
                <a:t>U-Net Flowchart</a:t>
              </a:r>
            </a:p>
          </p:txBody>
        </p:sp>
      </p:grpSp>
      <p:sp>
        <p:nvSpPr>
          <p:cNvPr id="5" name="TextBox 5">
            <a:extLst>
              <a:ext uri="{FF2B5EF4-FFF2-40B4-BE49-F238E27FC236}">
                <a16:creationId xmlns:a16="http://schemas.microsoft.com/office/drawing/2014/main" id="{A3D5572B-E93E-5292-21A8-5C97B47E1E92}"/>
              </a:ext>
            </a:extLst>
          </p:cNvPr>
          <p:cNvSpPr txBox="1"/>
          <p:nvPr/>
        </p:nvSpPr>
        <p:spPr>
          <a:xfrm>
            <a:off x="609600" y="2453640"/>
            <a:ext cx="7950200" cy="7270750"/>
          </a:xfrm>
          <a:prstGeom prst="rect">
            <a:avLst/>
          </a:prstGeom>
        </p:spPr>
        <p:txBody>
          <a:bodyPr wrap="square" lIns="0" tIns="0" rIns="0" bIns="0" rtlCol="0" anchor="t">
            <a:noAutofit/>
          </a:bodyPr>
          <a:lstStyle/>
          <a:p>
            <a:pPr lvl="0" eaLnBrk="0" fontAlgn="base" hangingPunct="0">
              <a:spcBef>
                <a:spcPct val="0"/>
              </a:spcBef>
              <a:spcAft>
                <a:spcPct val="0"/>
              </a:spcAft>
            </a:pPr>
            <a:endParaRPr lang="en-US" sz="1885" b="1" spc="1" dirty="0">
              <a:solidFill>
                <a:schemeClr val="bg1"/>
              </a:solidFill>
              <a:latin typeface="Times New Roman" panose="02020503050405090304" pitchFamily="18" charset="0"/>
              <a:ea typeface="Canva Sans Bold"/>
              <a:cs typeface="Times New Roman" panose="02020503050405090304" pitchFamily="18" charset="0"/>
              <a:sym typeface="Canva Sans Bold"/>
            </a:endParaRPr>
          </a:p>
        </p:txBody>
      </p:sp>
      <p:sp>
        <p:nvSpPr>
          <p:cNvPr id="6" name="TextBox 6">
            <a:extLst>
              <a:ext uri="{FF2B5EF4-FFF2-40B4-BE49-F238E27FC236}">
                <a16:creationId xmlns:a16="http://schemas.microsoft.com/office/drawing/2014/main" id="{F9358D8C-993D-4813-0290-82E6171D42DA}"/>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8</a:t>
            </a:r>
          </a:p>
        </p:txBody>
      </p:sp>
      <p:pic>
        <p:nvPicPr>
          <p:cNvPr id="9" name="Picture 8" descr="A diagram of a process&#10;&#10;AI-generated content may be incorrect.">
            <a:extLst>
              <a:ext uri="{FF2B5EF4-FFF2-40B4-BE49-F238E27FC236}">
                <a16:creationId xmlns:a16="http://schemas.microsoft.com/office/drawing/2014/main" id="{A6A5242C-3698-891A-E633-9C8FE6368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4237" y="2092547"/>
            <a:ext cx="4876800" cy="7315200"/>
          </a:xfrm>
          <a:prstGeom prst="rect">
            <a:avLst/>
          </a:prstGeom>
        </p:spPr>
      </p:pic>
      <p:sp>
        <p:nvSpPr>
          <p:cNvPr id="8" name="Slide Number Placeholder 7">
            <a:extLst>
              <a:ext uri="{FF2B5EF4-FFF2-40B4-BE49-F238E27FC236}">
                <a16:creationId xmlns:a16="http://schemas.microsoft.com/office/drawing/2014/main" id="{6CA66CC4-AC1A-F517-8C33-1C43F5B68469}"/>
              </a:ext>
            </a:extLst>
          </p:cNvPr>
          <p:cNvSpPr>
            <a:spLocks noGrp="1"/>
          </p:cNvSpPr>
          <p:nvPr>
            <p:ph type="sldNum" sz="quarter" idx="12"/>
          </p:nvPr>
        </p:nvSpPr>
        <p:spPr>
          <a:xfrm>
            <a:off x="15773400" y="9401476"/>
            <a:ext cx="2133600" cy="365125"/>
          </a:xfrm>
        </p:spPr>
        <p:txBody>
          <a:bodyPr/>
          <a:lstStyle/>
          <a:p>
            <a:fld id="{B6F15528-21DE-4FAA-801E-634DDDAF4B2B}" type="slidenum">
              <a:rPr lang="en-US" sz="1400" b="1" smtClean="0">
                <a:solidFill>
                  <a:schemeClr val="bg1"/>
                </a:solidFill>
                <a:latin typeface="Canva Sans" panose="020B0604020202020204" charset="0"/>
              </a:rPr>
              <a:t>14</a:t>
            </a:fld>
            <a:endParaRPr lang="en-US" b="1" dirty="0">
              <a:solidFill>
                <a:schemeClr val="bg1"/>
              </a:solidFill>
              <a:latin typeface="Canva Sans" panose="020B0604020202020204" charset="0"/>
            </a:endParaRPr>
          </a:p>
        </p:txBody>
      </p:sp>
    </p:spTree>
    <p:extLst>
      <p:ext uri="{BB962C8B-B14F-4D97-AF65-F5344CB8AC3E}">
        <p14:creationId xmlns:p14="http://schemas.microsoft.com/office/powerpoint/2010/main" val="3537079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D28DDD7-6C3D-5A2C-95B0-2B72CEC4B3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000925-BE87-018F-A30E-E03FB0F3A03C}"/>
              </a:ext>
            </a:extLst>
          </p:cNvPr>
          <p:cNvGrpSpPr/>
          <p:nvPr/>
        </p:nvGrpSpPr>
        <p:grpSpPr>
          <a:xfrm>
            <a:off x="914400" y="822950"/>
            <a:ext cx="16459200" cy="1275867"/>
            <a:chOff x="0" y="0"/>
            <a:chExt cx="21945600" cy="1701157"/>
          </a:xfrm>
        </p:grpSpPr>
        <p:sp>
          <p:nvSpPr>
            <p:cNvPr id="3" name="Freeform 3">
              <a:extLst>
                <a:ext uri="{FF2B5EF4-FFF2-40B4-BE49-F238E27FC236}">
                  <a16:creationId xmlns:a16="http://schemas.microsoft.com/office/drawing/2014/main" id="{83FE6E06-788F-2551-236A-029F052E2905}"/>
                </a:ext>
              </a:extLst>
            </p:cNvPr>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p>
          </p:txBody>
        </p:sp>
        <p:sp>
          <p:nvSpPr>
            <p:cNvPr id="4" name="TextBox 4">
              <a:extLst>
                <a:ext uri="{FF2B5EF4-FFF2-40B4-BE49-F238E27FC236}">
                  <a16:creationId xmlns:a16="http://schemas.microsoft.com/office/drawing/2014/main" id="{4D6FF172-374C-92AF-6407-00BC0FE66F9B}"/>
                </a:ext>
              </a:extLst>
            </p:cNvPr>
            <p:cNvSpPr txBox="1"/>
            <p:nvPr/>
          </p:nvSpPr>
          <p:spPr>
            <a:xfrm>
              <a:off x="0" y="-9525"/>
              <a:ext cx="21945600" cy="1710682"/>
            </a:xfrm>
            <a:prstGeom prst="rect">
              <a:avLst/>
            </a:prstGeom>
          </p:spPr>
          <p:txBody>
            <a:bodyPr lIns="0" tIns="0" rIns="0" bIns="0" rtlCol="0" anchor="ctr"/>
            <a:lstStyle/>
            <a:p>
              <a:pPr algn="ctr">
                <a:lnSpc>
                  <a:spcPts val="6720"/>
                </a:lnSpc>
              </a:pPr>
              <a:r>
                <a:rPr lang="en-US" sz="5600" b="1" dirty="0">
                  <a:solidFill>
                    <a:srgbClr val="FFFFFF"/>
                  </a:solidFill>
                  <a:latin typeface="Fira Sans Bold"/>
                  <a:ea typeface="Fira Sans Bold"/>
                  <a:cs typeface="Fira Sans Bold"/>
                  <a:sym typeface="Fira Sans Bold"/>
                </a:rPr>
                <a:t>The Core Idea</a:t>
              </a:r>
            </a:p>
          </p:txBody>
        </p:sp>
      </p:grpSp>
      <p:sp>
        <p:nvSpPr>
          <p:cNvPr id="5" name="TextBox 5">
            <a:extLst>
              <a:ext uri="{FF2B5EF4-FFF2-40B4-BE49-F238E27FC236}">
                <a16:creationId xmlns:a16="http://schemas.microsoft.com/office/drawing/2014/main" id="{58FE4A4E-447F-51D8-9428-181A60DF6F36}"/>
              </a:ext>
            </a:extLst>
          </p:cNvPr>
          <p:cNvSpPr txBox="1"/>
          <p:nvPr/>
        </p:nvSpPr>
        <p:spPr>
          <a:xfrm>
            <a:off x="533400" y="2139997"/>
            <a:ext cx="7950200" cy="7270750"/>
          </a:xfrm>
          <a:prstGeom prst="rect">
            <a:avLst/>
          </a:prstGeom>
        </p:spPr>
        <p:txBody>
          <a:bodyPr wrap="square" lIns="0" tIns="0" rIns="0" bIns="0" rtlCol="0" anchor="t">
            <a:noAutofit/>
          </a:bodyPr>
          <a:lstStyle/>
          <a:p>
            <a:pPr lvl="0" eaLnBrk="0" fontAlgn="base" hangingPunct="0">
              <a:spcBef>
                <a:spcPct val="0"/>
              </a:spcBef>
              <a:spcAft>
                <a:spcPct val="0"/>
              </a:spcAft>
            </a:pPr>
            <a:endParaRPr lang="en-US" sz="1885" b="1" spc="1" dirty="0">
              <a:solidFill>
                <a:schemeClr val="bg1"/>
              </a:solidFill>
              <a:latin typeface="Times New Roman" panose="02020503050405090304" pitchFamily="18" charset="0"/>
              <a:ea typeface="Canva Sans Bold"/>
              <a:cs typeface="Times New Roman" panose="02020503050405090304" pitchFamily="18" charset="0"/>
              <a:sym typeface="Canva Sans Bold"/>
            </a:endParaRPr>
          </a:p>
        </p:txBody>
      </p:sp>
      <p:sp>
        <p:nvSpPr>
          <p:cNvPr id="6" name="TextBox 6">
            <a:extLst>
              <a:ext uri="{FF2B5EF4-FFF2-40B4-BE49-F238E27FC236}">
                <a16:creationId xmlns:a16="http://schemas.microsoft.com/office/drawing/2014/main" id="{101EF16A-5BCC-4FB8-CB0C-CA76B4C70C2A}"/>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8</a:t>
            </a:r>
          </a:p>
        </p:txBody>
      </p:sp>
      <p:sp>
        <p:nvSpPr>
          <p:cNvPr id="8" name="Slide Number Placeholder 7">
            <a:extLst>
              <a:ext uri="{FF2B5EF4-FFF2-40B4-BE49-F238E27FC236}">
                <a16:creationId xmlns:a16="http://schemas.microsoft.com/office/drawing/2014/main" id="{4FAAF6A8-7E7C-9F75-F7F7-1BA411C78407}"/>
              </a:ext>
            </a:extLst>
          </p:cNvPr>
          <p:cNvSpPr>
            <a:spLocks noGrp="1"/>
          </p:cNvSpPr>
          <p:nvPr>
            <p:ph type="sldNum" sz="quarter" idx="12"/>
          </p:nvPr>
        </p:nvSpPr>
        <p:spPr>
          <a:xfrm>
            <a:off x="15773400" y="9401476"/>
            <a:ext cx="2133600" cy="365125"/>
          </a:xfrm>
        </p:spPr>
        <p:txBody>
          <a:bodyPr/>
          <a:lstStyle/>
          <a:p>
            <a:fld id="{B6F15528-21DE-4FAA-801E-634DDDAF4B2B}" type="slidenum">
              <a:rPr lang="en-US" sz="1400" b="1" smtClean="0">
                <a:solidFill>
                  <a:schemeClr val="bg1"/>
                </a:solidFill>
                <a:latin typeface="Canva Sans" panose="020B0604020202020204" charset="0"/>
              </a:rPr>
              <a:t>15</a:t>
            </a:fld>
            <a:endParaRPr lang="en-US" b="1" dirty="0">
              <a:solidFill>
                <a:schemeClr val="bg1"/>
              </a:solidFill>
              <a:latin typeface="Canva Sans" panose="020B0604020202020204" charset="0"/>
            </a:endParaRPr>
          </a:p>
        </p:txBody>
      </p:sp>
      <p:sp>
        <p:nvSpPr>
          <p:cNvPr id="12" name="Rectangle 2">
            <a:extLst>
              <a:ext uri="{FF2B5EF4-FFF2-40B4-BE49-F238E27FC236}">
                <a16:creationId xmlns:a16="http://schemas.microsoft.com/office/drawing/2014/main" id="{A5568821-21F9-4E3A-E5AC-49F01AB9D6F4}"/>
              </a:ext>
            </a:extLst>
          </p:cNvPr>
          <p:cNvSpPr>
            <a:spLocks noChangeArrowheads="1"/>
          </p:cNvSpPr>
          <p:nvPr/>
        </p:nvSpPr>
        <p:spPr bwMode="auto">
          <a:xfrm>
            <a:off x="533400" y="2448252"/>
            <a:ext cx="164592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Encoder (Contracting Path)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This is like a regular CNN feature extractor.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Each </a:t>
            </a:r>
            <a:r>
              <a:rPr kumimoji="0" lang="en-US" altLang="en-US" sz="20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Conv_Block</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does: Conv → Norm (optional) → </a:t>
            </a:r>
            <a:r>
              <a:rPr kumimoji="0" lang="en-US" altLang="en-US" sz="2000" b="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ReLU</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Conv → Norm → </a:t>
            </a:r>
            <a:r>
              <a:rPr kumimoji="0" lang="en-US" altLang="en-US" sz="2000" b="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ReLU</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After each block (except the last), a </a:t>
            </a:r>
            <a:r>
              <a:rPr kumimoji="0" lang="en-US" altLang="en-US" sz="20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MaxPool</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(2×2)</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halves H×W and doubles channels.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We </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save each block’s output</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as a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skip feature</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for later use in the decoder.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bg1"/>
              </a:solidFill>
              <a:latin typeface="Times New Roman" panose="02020603050405020304" pitchFamily="18" charset="0"/>
              <a:cs typeface="Times New Roman" panose="02020603050405020304" pitchFamily="18" charset="0"/>
            </a:endParaRPr>
          </a:p>
          <a:p>
            <a:pPr lvl="0"/>
            <a:r>
              <a:rPr lang="en-US" altLang="en-US" sz="2000" b="1" dirty="0">
                <a:solidFill>
                  <a:schemeClr val="bg1"/>
                </a:solidFill>
                <a:latin typeface="Times New Roman" panose="02020603050405020304" pitchFamily="18" charset="0"/>
                <a:cs typeface="Times New Roman" panose="02020603050405020304" pitchFamily="18" charset="0"/>
              </a:rPr>
              <a:t>Skip Connections (U-shaped bridges)</a:t>
            </a:r>
          </a:p>
          <a:p>
            <a:pPr lvl="0"/>
            <a:r>
              <a:rPr lang="en-US" altLang="en-US" sz="2000" dirty="0">
                <a:solidFill>
                  <a:schemeClr val="bg1"/>
                </a:solidFill>
                <a:latin typeface="Times New Roman" panose="02020603050405020304" pitchFamily="18" charset="0"/>
                <a:cs typeface="Times New Roman" panose="02020603050405020304" pitchFamily="18" charset="0"/>
              </a:rPr>
              <a:t>This is the special part of U-Net.</a:t>
            </a:r>
          </a:p>
          <a:p>
            <a:pPr lvl="0">
              <a:buFontTx/>
              <a:buChar char="•"/>
            </a:pPr>
            <a:r>
              <a:rPr lang="en-US" altLang="en-US" sz="2000" dirty="0">
                <a:solidFill>
                  <a:schemeClr val="bg1"/>
                </a:solidFill>
                <a:latin typeface="Times New Roman" panose="02020603050405020304" pitchFamily="18" charset="0"/>
                <a:cs typeface="Times New Roman" panose="02020603050405020304" pitchFamily="18" charset="0"/>
              </a:rPr>
              <a:t>For every encoder level ℓ, we keep the feature map SℓSℓ​.</a:t>
            </a:r>
          </a:p>
          <a:p>
            <a:pPr lvl="0">
              <a:buFontTx/>
              <a:buChar char="•"/>
            </a:pPr>
            <a:r>
              <a:rPr lang="en-US" altLang="en-US" sz="2000" dirty="0">
                <a:solidFill>
                  <a:schemeClr val="bg1"/>
                </a:solidFill>
                <a:latin typeface="Times New Roman" panose="02020603050405020304" pitchFamily="18" charset="0"/>
                <a:cs typeface="Times New Roman" panose="02020603050405020304" pitchFamily="18" charset="0"/>
              </a:rPr>
              <a:t>In the decoder, when we </a:t>
            </a:r>
            <a:r>
              <a:rPr lang="en-US" altLang="en-US" sz="2000" dirty="0" err="1">
                <a:solidFill>
                  <a:schemeClr val="bg1"/>
                </a:solidFill>
                <a:latin typeface="Times New Roman" panose="02020603050405020304" pitchFamily="18" charset="0"/>
                <a:cs typeface="Times New Roman" panose="02020603050405020304" pitchFamily="18" charset="0"/>
              </a:rPr>
              <a:t>upsample</a:t>
            </a:r>
            <a:r>
              <a:rPr lang="en-US" altLang="en-US" sz="2000" dirty="0">
                <a:solidFill>
                  <a:schemeClr val="bg1"/>
                </a:solidFill>
                <a:latin typeface="Times New Roman" panose="02020603050405020304" pitchFamily="18" charset="0"/>
                <a:cs typeface="Times New Roman" panose="02020603050405020304" pitchFamily="18" charset="0"/>
              </a:rPr>
              <a:t> back to that resolution, we </a:t>
            </a:r>
            <a:r>
              <a:rPr lang="en-US" altLang="en-US" sz="2000" b="1" dirty="0">
                <a:solidFill>
                  <a:schemeClr val="bg1"/>
                </a:solidFill>
                <a:latin typeface="Times New Roman" panose="02020603050405020304" pitchFamily="18" charset="0"/>
                <a:cs typeface="Times New Roman" panose="02020603050405020304" pitchFamily="18" charset="0"/>
              </a:rPr>
              <a:t>concatenate</a:t>
            </a:r>
            <a:r>
              <a:rPr lang="en-US" altLang="en-US" sz="2000" dirty="0">
                <a:solidFill>
                  <a:schemeClr val="bg1"/>
                </a:solidFill>
                <a:latin typeface="Times New Roman" panose="02020603050405020304" pitchFamily="18" charset="0"/>
                <a:cs typeface="Times New Roman" panose="02020603050405020304" pitchFamily="18" charset="0"/>
              </a:rPr>
              <a:t> the </a:t>
            </a:r>
            <a:r>
              <a:rPr lang="en-US" altLang="en-US" sz="2000" dirty="0" err="1">
                <a:solidFill>
                  <a:schemeClr val="bg1"/>
                </a:solidFill>
                <a:latin typeface="Times New Roman" panose="02020603050405020304" pitchFamily="18" charset="0"/>
                <a:cs typeface="Times New Roman" panose="02020603050405020304" pitchFamily="18" charset="0"/>
              </a:rPr>
              <a:t>upsampled</a:t>
            </a:r>
            <a:r>
              <a:rPr lang="en-US" altLang="en-US" sz="2000" dirty="0">
                <a:solidFill>
                  <a:schemeClr val="bg1"/>
                </a:solidFill>
                <a:latin typeface="Times New Roman" panose="02020603050405020304" pitchFamily="18" charset="0"/>
                <a:cs typeface="Times New Roman" panose="02020603050405020304" pitchFamily="18" charset="0"/>
              </a:rPr>
              <a:t> features with SℓSℓ​.</a:t>
            </a:r>
          </a:p>
          <a:p>
            <a:pPr lvl="0">
              <a:buFontTx/>
              <a:buChar char="•"/>
            </a:pPr>
            <a:r>
              <a:rPr lang="en-US" altLang="en-US" sz="2000" dirty="0">
                <a:solidFill>
                  <a:schemeClr val="bg1"/>
                </a:solidFill>
                <a:latin typeface="Times New Roman" panose="02020603050405020304" pitchFamily="18" charset="0"/>
                <a:cs typeface="Times New Roman" panose="02020603050405020304" pitchFamily="18" charset="0"/>
              </a:rPr>
              <a:t>If shapes don’t match (due to “valid” padding or odd sizes), </a:t>
            </a:r>
            <a:r>
              <a:rPr lang="en-US" altLang="en-US" sz="2000" b="1" dirty="0">
                <a:solidFill>
                  <a:schemeClr val="bg1"/>
                </a:solidFill>
                <a:latin typeface="Times New Roman" panose="02020603050405020304" pitchFamily="18" charset="0"/>
                <a:cs typeface="Times New Roman" panose="02020603050405020304" pitchFamily="18" charset="0"/>
              </a:rPr>
              <a:t>center-crop or pad</a:t>
            </a:r>
            <a:r>
              <a:rPr lang="en-US" altLang="en-US" sz="2000" dirty="0">
                <a:solidFill>
                  <a:schemeClr val="bg1"/>
                </a:solidFill>
                <a:latin typeface="Times New Roman" panose="02020603050405020304" pitchFamily="18" charset="0"/>
                <a:cs typeface="Times New Roman" panose="02020603050405020304" pitchFamily="18" charset="0"/>
              </a:rPr>
              <a:t> the encoder feature so concatenation is valid.</a:t>
            </a:r>
          </a:p>
          <a:p>
            <a:pPr lvl="0"/>
            <a:endParaRPr lang="en-US" altLang="en-US" sz="2000" dirty="0">
              <a:solidFill>
                <a:schemeClr val="bg1"/>
              </a:solidFill>
              <a:latin typeface="Times New Roman" panose="02020603050405020304" pitchFamily="18" charset="0"/>
              <a:cs typeface="Times New Roman" panose="02020603050405020304" pitchFamily="18" charset="0"/>
            </a:endParaRPr>
          </a:p>
          <a:p>
            <a:pPr lvl="0"/>
            <a:endParaRPr lang="en-US" altLang="en-US" sz="2000" dirty="0">
              <a:solidFill>
                <a:schemeClr val="bg1"/>
              </a:solidFill>
              <a:latin typeface="Times New Roman" panose="02020603050405020304" pitchFamily="18" charset="0"/>
              <a:cs typeface="Times New Roman" panose="02020603050405020304" pitchFamily="18" charset="0"/>
            </a:endParaRPr>
          </a:p>
          <a:p>
            <a:pPr lvl="0"/>
            <a:endParaRPr lang="en-US" altLang="en-US" sz="2000" dirty="0">
              <a:solidFill>
                <a:schemeClr val="bg1"/>
              </a:solidFill>
              <a:latin typeface="Times New Roman" panose="02020603050405020304" pitchFamily="18" charset="0"/>
              <a:cs typeface="Times New Roman" panose="02020603050405020304" pitchFamily="18" charset="0"/>
            </a:endParaRPr>
          </a:p>
        </p:txBody>
      </p:sp>
      <p:sp>
        <p:nvSpPr>
          <p:cNvPr id="18" name="Rectangle 8">
            <a:extLst>
              <a:ext uri="{FF2B5EF4-FFF2-40B4-BE49-F238E27FC236}">
                <a16:creationId xmlns:a16="http://schemas.microsoft.com/office/drawing/2014/main" id="{15DCF41A-FE87-90F7-37AF-2F09D03A8BDF}"/>
              </a:ext>
            </a:extLst>
          </p:cNvPr>
          <p:cNvSpPr>
            <a:spLocks noChangeArrowheads="1"/>
          </p:cNvSpPr>
          <p:nvPr/>
        </p:nvSpPr>
        <p:spPr bwMode="auto">
          <a:xfrm>
            <a:off x="533400" y="6026884"/>
            <a:ext cx="164592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Decoder (Expansive Path) + Final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Each decoder level does: </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Up-sample ×2</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ConvTranspose</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or </a:t>
            </a:r>
            <a:r>
              <a:rPr kumimoji="0" lang="en-US" altLang="en-US" sz="2000" b="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Upsample+Conv</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a:t>
            </a:r>
            <a:r>
              <a:rPr kumimoji="0" lang="en-US" altLang="en-US" sz="20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Concat</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with skip SℓSℓ​ → </a:t>
            </a:r>
            <a:r>
              <a:rPr kumimoji="0" lang="en-US" altLang="en-US" sz="20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Conv_Block</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for refinement.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the end, a </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1×1 Conv</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maps channels to the number of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Apply </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Sigmoid</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(binary) or </a:t>
            </a:r>
            <a:r>
              <a:rPr kumimoji="0" lang="en-US" altLang="en-US" sz="20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Softmax</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(multi-class) to get the segmentation map.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371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6C87916-EFB8-DCF9-A2B0-17458D557DAA}"/>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5C5D78CC-4CD8-766D-2501-F08180C7E4C7}"/>
              </a:ext>
            </a:extLst>
          </p:cNvPr>
          <p:cNvSpPr/>
          <p:nvPr/>
        </p:nvSpPr>
        <p:spPr>
          <a:xfrm>
            <a:off x="914400" y="822950"/>
            <a:ext cx="16459200" cy="127586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p>
        </p:txBody>
      </p:sp>
      <p:sp>
        <p:nvSpPr>
          <p:cNvPr id="5" name="TextBox 5">
            <a:extLst>
              <a:ext uri="{FF2B5EF4-FFF2-40B4-BE49-F238E27FC236}">
                <a16:creationId xmlns:a16="http://schemas.microsoft.com/office/drawing/2014/main" id="{4B18A565-4B8C-6AB7-035A-34E88531C874}"/>
              </a:ext>
            </a:extLst>
          </p:cNvPr>
          <p:cNvSpPr txBox="1"/>
          <p:nvPr/>
        </p:nvSpPr>
        <p:spPr>
          <a:xfrm>
            <a:off x="533400" y="2139997"/>
            <a:ext cx="7950200" cy="7270750"/>
          </a:xfrm>
          <a:prstGeom prst="rect">
            <a:avLst/>
          </a:prstGeom>
        </p:spPr>
        <p:txBody>
          <a:bodyPr wrap="square" lIns="0" tIns="0" rIns="0" bIns="0" rtlCol="0" anchor="t">
            <a:noAutofit/>
          </a:bodyPr>
          <a:lstStyle/>
          <a:p>
            <a:pPr lvl="0" eaLnBrk="0" fontAlgn="base" hangingPunct="0">
              <a:spcBef>
                <a:spcPct val="0"/>
              </a:spcBef>
              <a:spcAft>
                <a:spcPct val="0"/>
              </a:spcAft>
            </a:pPr>
            <a:endParaRPr lang="en-US" sz="1885" b="1" spc="1" dirty="0">
              <a:solidFill>
                <a:schemeClr val="bg1"/>
              </a:solidFill>
              <a:latin typeface="Times New Roman" panose="02020503050405090304" pitchFamily="18" charset="0"/>
              <a:ea typeface="Canva Sans Bold"/>
              <a:cs typeface="Times New Roman" panose="02020503050405090304" pitchFamily="18" charset="0"/>
              <a:sym typeface="Canva Sans Bold"/>
            </a:endParaRPr>
          </a:p>
        </p:txBody>
      </p:sp>
      <p:sp>
        <p:nvSpPr>
          <p:cNvPr id="6" name="TextBox 6">
            <a:extLst>
              <a:ext uri="{FF2B5EF4-FFF2-40B4-BE49-F238E27FC236}">
                <a16:creationId xmlns:a16="http://schemas.microsoft.com/office/drawing/2014/main" id="{3BC58581-626C-169C-2B49-FB357DC1D7C8}"/>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8</a:t>
            </a:r>
          </a:p>
        </p:txBody>
      </p:sp>
      <p:sp>
        <p:nvSpPr>
          <p:cNvPr id="8" name="Slide Number Placeholder 7">
            <a:extLst>
              <a:ext uri="{FF2B5EF4-FFF2-40B4-BE49-F238E27FC236}">
                <a16:creationId xmlns:a16="http://schemas.microsoft.com/office/drawing/2014/main" id="{0D96739B-4F30-D781-FC52-E5001ED5C563}"/>
              </a:ext>
            </a:extLst>
          </p:cNvPr>
          <p:cNvSpPr>
            <a:spLocks noGrp="1"/>
          </p:cNvSpPr>
          <p:nvPr>
            <p:ph type="sldNum" sz="quarter" idx="12"/>
          </p:nvPr>
        </p:nvSpPr>
        <p:spPr>
          <a:xfrm>
            <a:off x="15773400" y="9401476"/>
            <a:ext cx="2133600" cy="365125"/>
          </a:xfrm>
        </p:spPr>
        <p:txBody>
          <a:bodyPr/>
          <a:lstStyle/>
          <a:p>
            <a:fld id="{B6F15528-21DE-4FAA-801E-634DDDAF4B2B}" type="slidenum">
              <a:rPr lang="en-US" sz="1400" b="1" smtClean="0">
                <a:solidFill>
                  <a:schemeClr val="bg1"/>
                </a:solidFill>
                <a:latin typeface="Canva Sans" panose="020B0604020202020204" charset="0"/>
              </a:rPr>
              <a:t>16</a:t>
            </a:fld>
            <a:endParaRPr lang="en-US" b="1" dirty="0">
              <a:solidFill>
                <a:schemeClr val="bg1"/>
              </a:solidFill>
              <a:latin typeface="Canva Sans" panose="020B0604020202020204" charset="0"/>
            </a:endParaRPr>
          </a:p>
        </p:txBody>
      </p:sp>
      <p:sp>
        <p:nvSpPr>
          <p:cNvPr id="19" name="TextBox 18">
            <a:extLst>
              <a:ext uri="{FF2B5EF4-FFF2-40B4-BE49-F238E27FC236}">
                <a16:creationId xmlns:a16="http://schemas.microsoft.com/office/drawing/2014/main" id="{149CDB7C-2107-AD73-7220-39A5A2DDDF31}"/>
              </a:ext>
            </a:extLst>
          </p:cNvPr>
          <p:cNvSpPr txBox="1"/>
          <p:nvPr/>
        </p:nvSpPr>
        <p:spPr>
          <a:xfrm>
            <a:off x="381000" y="244764"/>
            <a:ext cx="7543800" cy="10064294"/>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Pseudo code</a:t>
            </a:r>
          </a:p>
          <a:p>
            <a:endParaRPr lang="en-US" b="1"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Up block: either ConvTranspose2d(k=2,s=2) or Upsample×2 + Conv3x3</a:t>
            </a:r>
          </a:p>
          <a:p>
            <a:r>
              <a:rPr lang="en-US" dirty="0">
                <a:solidFill>
                  <a:schemeClr val="bg1"/>
                </a:solidFill>
                <a:latin typeface="Times New Roman" panose="02020603050405020304" pitchFamily="18" charset="0"/>
                <a:cs typeface="Times New Roman" panose="02020603050405020304" pitchFamily="18" charset="0"/>
              </a:rPr>
              <a:t>function </a:t>
            </a:r>
            <a:r>
              <a:rPr lang="en-US" dirty="0" err="1">
                <a:solidFill>
                  <a:schemeClr val="bg1"/>
                </a:solidFill>
                <a:latin typeface="Times New Roman" panose="02020603050405020304" pitchFamily="18" charset="0"/>
                <a:cs typeface="Times New Roman" panose="02020603050405020304" pitchFamily="18" charset="0"/>
              </a:rPr>
              <a:t>Up_Block</a:t>
            </a:r>
            <a:r>
              <a:rPr lang="en-US" dirty="0">
                <a:solidFill>
                  <a:schemeClr val="bg1"/>
                </a:solidFill>
                <a:latin typeface="Times New Roman" panose="02020603050405020304" pitchFamily="18" charset="0"/>
                <a:cs typeface="Times New Roman" panose="02020603050405020304" pitchFamily="18" charset="0"/>
              </a:rPr>
              <a:t>(x, </a:t>
            </a:r>
            <a:r>
              <a:rPr lang="en-US" dirty="0" err="1">
                <a:solidFill>
                  <a:schemeClr val="bg1"/>
                </a:solidFill>
                <a:latin typeface="Times New Roman" panose="02020603050405020304" pitchFamily="18" charset="0"/>
                <a:cs typeface="Times New Roman" panose="02020603050405020304" pitchFamily="18" charset="0"/>
              </a:rPr>
              <a:t>out_channels</a:t>
            </a:r>
            <a:r>
              <a:rPr lang="en-US" dirty="0">
                <a:solidFill>
                  <a:schemeClr val="bg1"/>
                </a:solidFill>
                <a:latin typeface="Times New Roman" panose="02020603050405020304" pitchFamily="18" charset="0"/>
                <a:cs typeface="Times New Roman" panose="02020603050405020304" pitchFamily="18" charset="0"/>
              </a:rPr>
              <a:t>):</a:t>
            </a:r>
          </a:p>
          <a:p>
            <a:r>
              <a:rPr lang="en-US" dirty="0">
                <a:solidFill>
                  <a:schemeClr val="bg1"/>
                </a:solidFill>
                <a:latin typeface="Times New Roman" panose="02020603050405020304" pitchFamily="18" charset="0"/>
                <a:cs typeface="Times New Roman" panose="02020603050405020304" pitchFamily="18" charset="0"/>
              </a:rPr>
              <a:t>    x = ConvTranspose2x2(x, </a:t>
            </a:r>
            <a:r>
              <a:rPr lang="en-US" dirty="0" err="1">
                <a:solidFill>
                  <a:schemeClr val="bg1"/>
                </a:solidFill>
                <a:latin typeface="Times New Roman" panose="02020603050405020304" pitchFamily="18" charset="0"/>
                <a:cs typeface="Times New Roman" panose="02020603050405020304" pitchFamily="18" charset="0"/>
              </a:rPr>
              <a:t>out_channels</a:t>
            </a:r>
            <a:r>
              <a:rPr lang="en-US" dirty="0">
                <a:solidFill>
                  <a:schemeClr val="bg1"/>
                </a:solidFill>
                <a:latin typeface="Times New Roman" panose="02020603050405020304" pitchFamily="18" charset="0"/>
                <a:cs typeface="Times New Roman" panose="02020603050405020304" pitchFamily="18" charset="0"/>
              </a:rPr>
              <a:t>)   # or </a:t>
            </a:r>
            <a:r>
              <a:rPr lang="en-US" dirty="0" err="1">
                <a:solidFill>
                  <a:schemeClr val="bg1"/>
                </a:solidFill>
                <a:latin typeface="Times New Roman" panose="02020603050405020304" pitchFamily="18" charset="0"/>
                <a:cs typeface="Times New Roman" panose="02020603050405020304" pitchFamily="18" charset="0"/>
              </a:rPr>
              <a:t>Upsample</a:t>
            </a:r>
            <a:r>
              <a:rPr lang="en-US" dirty="0">
                <a:solidFill>
                  <a:schemeClr val="bg1"/>
                </a:solidFill>
                <a:latin typeface="Times New Roman" panose="02020603050405020304" pitchFamily="18" charset="0"/>
                <a:cs typeface="Times New Roman" panose="02020603050405020304" pitchFamily="18" charset="0"/>
              </a:rPr>
              <a:t>(scale=2) → Conv3x3</a:t>
            </a:r>
          </a:p>
          <a:p>
            <a:r>
              <a:rPr lang="en-US" dirty="0">
                <a:solidFill>
                  <a:schemeClr val="bg1"/>
                </a:solidFill>
                <a:latin typeface="Times New Roman" panose="02020603050405020304" pitchFamily="18" charset="0"/>
                <a:cs typeface="Times New Roman" panose="02020603050405020304" pitchFamily="18" charset="0"/>
              </a:rPr>
              <a:t>    return x</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 U-Net forward ----------</a:t>
            </a:r>
          </a:p>
          <a:p>
            <a:r>
              <a:rPr lang="en-US" dirty="0">
                <a:solidFill>
                  <a:schemeClr val="bg1"/>
                </a:solidFill>
                <a:latin typeface="Times New Roman" panose="02020603050405020304" pitchFamily="18" charset="0"/>
                <a:cs typeface="Times New Roman" panose="02020603050405020304" pitchFamily="18" charset="0"/>
              </a:rPr>
              <a:t># L = number of encoder/decoder levels (e.g., 4); F0 = base channels (e.g., 64)</a:t>
            </a:r>
          </a:p>
          <a:p>
            <a:r>
              <a:rPr lang="en-US" dirty="0">
                <a:solidFill>
                  <a:schemeClr val="bg1"/>
                </a:solidFill>
                <a:latin typeface="Times New Roman" panose="02020603050405020304" pitchFamily="18" charset="0"/>
                <a:cs typeface="Times New Roman" panose="02020603050405020304" pitchFamily="18" charset="0"/>
              </a:rPr>
              <a:t>function </a:t>
            </a:r>
            <a:r>
              <a:rPr lang="en-US" dirty="0" err="1">
                <a:solidFill>
                  <a:schemeClr val="bg1"/>
                </a:solidFill>
                <a:latin typeface="Times New Roman" panose="02020603050405020304" pitchFamily="18" charset="0"/>
                <a:cs typeface="Times New Roman" panose="02020603050405020304" pitchFamily="18" charset="0"/>
              </a:rPr>
              <a:t>UNet_Forward</a:t>
            </a:r>
            <a:r>
              <a:rPr lang="en-US" dirty="0">
                <a:solidFill>
                  <a:schemeClr val="bg1"/>
                </a:solidFill>
                <a:latin typeface="Times New Roman" panose="02020603050405020304" pitchFamily="18" charset="0"/>
                <a:cs typeface="Times New Roman" panose="02020603050405020304" pitchFamily="18" charset="0"/>
              </a:rPr>
              <a:t>(input, L=4, F0=64, K=1):</a:t>
            </a:r>
          </a:p>
          <a:p>
            <a:r>
              <a:rPr lang="en-US" dirty="0">
                <a:solidFill>
                  <a:schemeClr val="bg1"/>
                </a:solidFill>
                <a:latin typeface="Times New Roman" panose="02020603050405020304" pitchFamily="18" charset="0"/>
                <a:cs typeface="Times New Roman" panose="02020603050405020304" pitchFamily="18" charset="0"/>
              </a:rPr>
              <a:t>    skips = []</a:t>
            </a:r>
          </a:p>
          <a:p>
            <a:r>
              <a:rPr lang="en-US" dirty="0">
                <a:solidFill>
                  <a:schemeClr val="bg1"/>
                </a:solidFill>
                <a:latin typeface="Times New Roman" panose="02020603050405020304" pitchFamily="18" charset="0"/>
                <a:cs typeface="Times New Roman" panose="02020603050405020304" pitchFamily="18" charset="0"/>
              </a:rPr>
              <a:t>    x = input</a:t>
            </a:r>
          </a:p>
          <a:p>
            <a:r>
              <a:rPr lang="en-US" dirty="0">
                <a:solidFill>
                  <a:schemeClr val="bg1"/>
                </a:solidFill>
                <a:latin typeface="Times New Roman" panose="02020603050405020304" pitchFamily="18" charset="0"/>
                <a:cs typeface="Times New Roman" panose="02020603050405020304" pitchFamily="18" charset="0"/>
              </a:rPr>
              <a:t>    channels = F0</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 ----- Encoder -----</a:t>
            </a:r>
          </a:p>
          <a:p>
            <a:r>
              <a:rPr lang="en-US" dirty="0">
                <a:solidFill>
                  <a:schemeClr val="bg1"/>
                </a:solidFill>
                <a:latin typeface="Times New Roman" panose="02020603050405020304" pitchFamily="18" charset="0"/>
                <a:cs typeface="Times New Roman" panose="02020603050405020304" pitchFamily="18" charset="0"/>
              </a:rPr>
              <a:t>    for ℓ in 1..L:</a:t>
            </a:r>
          </a:p>
          <a:p>
            <a:r>
              <a:rPr lang="en-US" dirty="0">
                <a:solidFill>
                  <a:schemeClr val="bg1"/>
                </a:solidFill>
                <a:latin typeface="Times New Roman" panose="02020603050405020304" pitchFamily="18" charset="0"/>
                <a:cs typeface="Times New Roman" panose="02020603050405020304" pitchFamily="18" charset="0"/>
              </a:rPr>
              <a:t>        x = </a:t>
            </a:r>
            <a:r>
              <a:rPr lang="en-US" dirty="0" err="1">
                <a:solidFill>
                  <a:schemeClr val="bg1"/>
                </a:solidFill>
                <a:latin typeface="Times New Roman" panose="02020603050405020304" pitchFamily="18" charset="0"/>
                <a:cs typeface="Times New Roman" panose="02020603050405020304" pitchFamily="18" charset="0"/>
              </a:rPr>
              <a:t>Conv_Block</a:t>
            </a:r>
            <a:r>
              <a:rPr lang="en-US" dirty="0">
                <a:solidFill>
                  <a:schemeClr val="bg1"/>
                </a:solidFill>
                <a:latin typeface="Times New Roman" panose="02020603050405020304" pitchFamily="18" charset="0"/>
                <a:cs typeface="Times New Roman" panose="02020603050405020304" pitchFamily="18" charset="0"/>
              </a:rPr>
              <a:t>(x, channels)     # features at this scale</a:t>
            </a:r>
          </a:p>
          <a:p>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skips.append</a:t>
            </a:r>
            <a:r>
              <a:rPr lang="en-US" dirty="0">
                <a:solidFill>
                  <a:schemeClr val="bg1"/>
                </a:solidFill>
                <a:latin typeface="Times New Roman" panose="02020603050405020304" pitchFamily="18" charset="0"/>
                <a:cs typeface="Times New Roman" panose="02020603050405020304" pitchFamily="18" charset="0"/>
              </a:rPr>
              <a:t>(x)                  # save for skip connection</a:t>
            </a:r>
          </a:p>
          <a:p>
            <a:r>
              <a:rPr lang="en-US" dirty="0">
                <a:solidFill>
                  <a:schemeClr val="bg1"/>
                </a:solidFill>
                <a:latin typeface="Times New Roman" panose="02020603050405020304" pitchFamily="18" charset="0"/>
                <a:cs typeface="Times New Roman" panose="02020603050405020304" pitchFamily="18" charset="0"/>
              </a:rPr>
              <a:t>        if ℓ &lt; L:                        # no pool after last encoder block</a:t>
            </a:r>
          </a:p>
          <a:p>
            <a:r>
              <a:rPr lang="en-US" dirty="0">
                <a:solidFill>
                  <a:schemeClr val="bg1"/>
                </a:solidFill>
                <a:latin typeface="Times New Roman" panose="02020603050405020304" pitchFamily="18" charset="0"/>
                <a:cs typeface="Times New Roman" panose="02020603050405020304" pitchFamily="18" charset="0"/>
              </a:rPr>
              <a:t>            x = MaxPool2x2(x)</a:t>
            </a:r>
          </a:p>
          <a:p>
            <a:r>
              <a:rPr lang="en-US" dirty="0">
                <a:solidFill>
                  <a:schemeClr val="bg1"/>
                </a:solidFill>
                <a:latin typeface="Times New Roman" panose="02020603050405020304" pitchFamily="18" charset="0"/>
                <a:cs typeface="Times New Roman" panose="02020603050405020304" pitchFamily="18" charset="0"/>
              </a:rPr>
              <a:t>            channels = channels * 2      # double channels each down step</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 ----- Bottleneck -----</a:t>
            </a:r>
          </a:p>
          <a:p>
            <a:r>
              <a:rPr lang="en-US" dirty="0">
                <a:solidFill>
                  <a:schemeClr val="bg1"/>
                </a:solidFill>
                <a:latin typeface="Times New Roman" panose="02020603050405020304" pitchFamily="18" charset="0"/>
                <a:cs typeface="Times New Roman" panose="02020603050405020304" pitchFamily="18" charset="0"/>
              </a:rPr>
              <a:t>    x = </a:t>
            </a:r>
            <a:r>
              <a:rPr lang="en-US" dirty="0" err="1">
                <a:solidFill>
                  <a:schemeClr val="bg1"/>
                </a:solidFill>
                <a:latin typeface="Times New Roman" panose="02020603050405020304" pitchFamily="18" charset="0"/>
                <a:cs typeface="Times New Roman" panose="02020603050405020304" pitchFamily="18" charset="0"/>
              </a:rPr>
              <a:t>Conv_Block</a:t>
            </a:r>
            <a:r>
              <a:rPr lang="en-US" dirty="0">
                <a:solidFill>
                  <a:schemeClr val="bg1"/>
                </a:solidFill>
                <a:latin typeface="Times New Roman" panose="02020603050405020304" pitchFamily="18" charset="0"/>
                <a:cs typeface="Times New Roman" panose="02020603050405020304" pitchFamily="18" charset="0"/>
              </a:rPr>
              <a:t>(x, channels * 2)      # deeper, richer features</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 ----- Decoder -----</a:t>
            </a:r>
          </a:p>
          <a:p>
            <a:r>
              <a:rPr lang="en-US" dirty="0">
                <a:solidFill>
                  <a:schemeClr val="bg1"/>
                </a:solidFill>
                <a:latin typeface="Times New Roman" panose="02020603050405020304" pitchFamily="18" charset="0"/>
                <a:cs typeface="Times New Roman" panose="02020603050405020304" pitchFamily="18" charset="0"/>
              </a:rPr>
              <a:t>    for ℓ in L..1:                        # go back up</a:t>
            </a:r>
          </a:p>
          <a:p>
            <a:r>
              <a:rPr lang="en-US" dirty="0">
                <a:solidFill>
                  <a:schemeClr val="bg1"/>
                </a:solidFill>
                <a:latin typeface="Times New Roman" panose="02020603050405020304" pitchFamily="18" charset="0"/>
                <a:cs typeface="Times New Roman" panose="02020603050405020304" pitchFamily="18" charset="0"/>
              </a:rPr>
              <a:t>        x = </a:t>
            </a:r>
            <a:r>
              <a:rPr lang="en-US" dirty="0" err="1">
                <a:solidFill>
                  <a:schemeClr val="bg1"/>
                </a:solidFill>
                <a:latin typeface="Times New Roman" panose="02020603050405020304" pitchFamily="18" charset="0"/>
                <a:cs typeface="Times New Roman" panose="02020603050405020304" pitchFamily="18" charset="0"/>
              </a:rPr>
              <a:t>Up_Block</a:t>
            </a:r>
            <a:r>
              <a:rPr lang="en-US" dirty="0">
                <a:solidFill>
                  <a:schemeClr val="bg1"/>
                </a:solidFill>
                <a:latin typeface="Times New Roman" panose="02020603050405020304" pitchFamily="18" charset="0"/>
                <a:cs typeface="Times New Roman" panose="02020603050405020304" pitchFamily="18" charset="0"/>
              </a:rPr>
              <a:t>(x, channels)         # </a:t>
            </a:r>
            <a:r>
              <a:rPr lang="en-US" dirty="0" err="1">
                <a:solidFill>
                  <a:schemeClr val="bg1"/>
                </a:solidFill>
                <a:latin typeface="Times New Roman" panose="02020603050405020304" pitchFamily="18" charset="0"/>
                <a:cs typeface="Times New Roman" panose="02020603050405020304" pitchFamily="18" charset="0"/>
              </a:rPr>
              <a:t>upsample</a:t>
            </a:r>
            <a:r>
              <a:rPr lang="en-US" dirty="0">
                <a:solidFill>
                  <a:schemeClr val="bg1"/>
                </a:solidFill>
                <a:latin typeface="Times New Roman" panose="02020603050405020304" pitchFamily="18" charset="0"/>
                <a:cs typeface="Times New Roman" panose="02020603050405020304" pitchFamily="18" charset="0"/>
              </a:rPr>
              <a:t> by 2</a:t>
            </a:r>
          </a:p>
          <a:p>
            <a:r>
              <a:rPr lang="en-US" dirty="0">
                <a:solidFill>
                  <a:schemeClr val="bg1"/>
                </a:solidFill>
                <a:latin typeface="Times New Roman" panose="02020603050405020304" pitchFamily="18" charset="0"/>
                <a:cs typeface="Times New Roman" panose="02020603050405020304" pitchFamily="18" charset="0"/>
              </a:rPr>
              <a:t>        s = skips[ℓ]                      # encoder feature at this scale</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 If shapes mismatch (valid padding / odd dims): crop or pad 's'</a:t>
            </a:r>
          </a:p>
          <a:p>
            <a:r>
              <a:rPr lang="en-US" dirty="0">
                <a:solidFill>
                  <a:schemeClr val="bg1"/>
                </a:solidFill>
                <a:latin typeface="Times New Roman" panose="02020603050405020304" pitchFamily="18" charset="0"/>
                <a:cs typeface="Times New Roman" panose="02020603050405020304" pitchFamily="18" charset="0"/>
              </a:rPr>
              <a:t>        if shape(s).H != shape(x).H or shape(s).W != shape(x).W:</a:t>
            </a:r>
          </a:p>
          <a:p>
            <a:r>
              <a:rPr lang="en-US" dirty="0">
                <a:solidFill>
                  <a:schemeClr val="bg1"/>
                </a:solidFill>
                <a:latin typeface="Times New Roman" panose="02020603050405020304" pitchFamily="18" charset="0"/>
                <a:cs typeface="Times New Roman" panose="02020603050405020304" pitchFamily="18" charset="0"/>
              </a:rPr>
              <a:t>            s = </a:t>
            </a:r>
            <a:r>
              <a:rPr lang="en-US" dirty="0" err="1">
                <a:solidFill>
                  <a:schemeClr val="bg1"/>
                </a:solidFill>
                <a:latin typeface="Times New Roman" panose="02020603050405020304" pitchFamily="18" charset="0"/>
                <a:cs typeface="Times New Roman" panose="02020603050405020304" pitchFamily="18" charset="0"/>
              </a:rPr>
              <a:t>CenterCropOrPad</a:t>
            </a:r>
            <a:r>
              <a:rPr lang="en-US" dirty="0">
                <a:solidFill>
                  <a:schemeClr val="bg1"/>
                </a:solidFill>
                <a:latin typeface="Times New Roman" panose="02020603050405020304" pitchFamily="18" charset="0"/>
                <a:cs typeface="Times New Roman" panose="02020603050405020304" pitchFamily="18" charset="0"/>
              </a:rPr>
              <a:t>(s, </a:t>
            </a:r>
            <a:r>
              <a:rPr lang="en-US" dirty="0" err="1">
                <a:solidFill>
                  <a:schemeClr val="bg1"/>
                </a:solidFill>
                <a:latin typeface="Times New Roman" panose="02020603050405020304" pitchFamily="18" charset="0"/>
                <a:cs typeface="Times New Roman" panose="02020603050405020304" pitchFamily="18" charset="0"/>
              </a:rPr>
              <a:t>targetHW</a:t>
            </a:r>
            <a:r>
              <a:rPr lang="en-US" dirty="0">
                <a:solidFill>
                  <a:schemeClr val="bg1"/>
                </a:solidFill>
                <a:latin typeface="Times New Roman" panose="02020603050405020304" pitchFamily="18" charset="0"/>
                <a:cs typeface="Times New Roman" panose="02020603050405020304" pitchFamily="18" charset="0"/>
              </a:rPr>
              <a:t>=(shape(x).H, shape(x).W))</a:t>
            </a:r>
          </a:p>
          <a:p>
            <a:endParaRPr lang="en-US"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08B9F3E-A9DC-6CE2-06C1-8BE0498D000A}"/>
              </a:ext>
            </a:extLst>
          </p:cNvPr>
          <p:cNvSpPr txBox="1"/>
          <p:nvPr/>
        </p:nvSpPr>
        <p:spPr>
          <a:xfrm>
            <a:off x="8458200" y="822950"/>
            <a:ext cx="6705600" cy="3693319"/>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 x = </a:t>
            </a:r>
            <a:r>
              <a:rPr lang="en-US" dirty="0" err="1">
                <a:solidFill>
                  <a:schemeClr val="bg1"/>
                </a:solidFill>
                <a:latin typeface="Times New Roman" panose="02020603050405020304" pitchFamily="18" charset="0"/>
                <a:cs typeface="Times New Roman" panose="02020603050405020304" pitchFamily="18" charset="0"/>
              </a:rPr>
              <a:t>ConcatChannels</a:t>
            </a:r>
            <a:r>
              <a:rPr lang="en-US" dirty="0">
                <a:solidFill>
                  <a:schemeClr val="bg1"/>
                </a:solidFill>
                <a:latin typeface="Times New Roman" panose="02020603050405020304" pitchFamily="18" charset="0"/>
                <a:cs typeface="Times New Roman" panose="02020603050405020304" pitchFamily="18" charset="0"/>
              </a:rPr>
              <a:t>(x, s)          # skip connection (</a:t>
            </a:r>
            <a:r>
              <a:rPr lang="en-US" dirty="0" err="1">
                <a:solidFill>
                  <a:schemeClr val="bg1"/>
                </a:solidFill>
                <a:latin typeface="Times New Roman" panose="02020603050405020304" pitchFamily="18" charset="0"/>
                <a:cs typeface="Times New Roman" panose="02020603050405020304" pitchFamily="18" charset="0"/>
              </a:rPr>
              <a:t>concat</a:t>
            </a:r>
            <a:r>
              <a:rPr lang="en-US" dirty="0">
                <a:solidFill>
                  <a:schemeClr val="bg1"/>
                </a:solidFill>
                <a:latin typeface="Times New Roman" panose="02020603050405020304" pitchFamily="18" charset="0"/>
                <a:cs typeface="Times New Roman" panose="02020603050405020304" pitchFamily="18" charset="0"/>
              </a:rPr>
              <a:t>)</a:t>
            </a:r>
          </a:p>
          <a:p>
            <a:r>
              <a:rPr lang="en-US" dirty="0">
                <a:solidFill>
                  <a:schemeClr val="bg1"/>
                </a:solidFill>
                <a:latin typeface="Times New Roman" panose="02020603050405020304" pitchFamily="18" charset="0"/>
                <a:cs typeface="Times New Roman" panose="02020603050405020304" pitchFamily="18" charset="0"/>
              </a:rPr>
              <a:t>        x = </a:t>
            </a:r>
            <a:r>
              <a:rPr lang="en-US" dirty="0" err="1">
                <a:solidFill>
                  <a:schemeClr val="bg1"/>
                </a:solidFill>
                <a:latin typeface="Times New Roman" panose="02020603050405020304" pitchFamily="18" charset="0"/>
                <a:cs typeface="Times New Roman" panose="02020603050405020304" pitchFamily="18" charset="0"/>
              </a:rPr>
              <a:t>Conv_Block</a:t>
            </a:r>
            <a:r>
              <a:rPr lang="en-US" dirty="0">
                <a:solidFill>
                  <a:schemeClr val="bg1"/>
                </a:solidFill>
                <a:latin typeface="Times New Roman" panose="02020603050405020304" pitchFamily="18" charset="0"/>
                <a:cs typeface="Times New Roman" panose="02020603050405020304" pitchFamily="18" charset="0"/>
              </a:rPr>
              <a:t>(x, channels)       # refine fused features</a:t>
            </a:r>
          </a:p>
          <a:p>
            <a:r>
              <a:rPr lang="en-US" dirty="0">
                <a:solidFill>
                  <a:schemeClr val="bg1"/>
                </a:solidFill>
                <a:latin typeface="Times New Roman" panose="02020603050405020304" pitchFamily="18" charset="0"/>
                <a:cs typeface="Times New Roman" panose="02020603050405020304" pitchFamily="18" charset="0"/>
              </a:rPr>
              <a:t>        channels = channels // 2          # halve channels as we go up</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 ----- Head -----</a:t>
            </a:r>
          </a:p>
          <a:p>
            <a:r>
              <a:rPr lang="en-US" dirty="0">
                <a:solidFill>
                  <a:schemeClr val="bg1"/>
                </a:solidFill>
                <a:latin typeface="Times New Roman" panose="02020603050405020304" pitchFamily="18" charset="0"/>
                <a:cs typeface="Times New Roman" panose="02020603050405020304" pitchFamily="18" charset="0"/>
              </a:rPr>
              <a:t>    logits = Conv1x1(x, </a:t>
            </a:r>
            <a:r>
              <a:rPr lang="en-US" dirty="0" err="1">
                <a:solidFill>
                  <a:schemeClr val="bg1"/>
                </a:solidFill>
                <a:latin typeface="Times New Roman" panose="02020603050405020304" pitchFamily="18" charset="0"/>
                <a:cs typeface="Times New Roman" panose="02020603050405020304" pitchFamily="18" charset="0"/>
              </a:rPr>
              <a:t>out_channels</a:t>
            </a:r>
            <a:r>
              <a:rPr lang="en-US" dirty="0">
                <a:solidFill>
                  <a:schemeClr val="bg1"/>
                </a:solidFill>
                <a:latin typeface="Times New Roman" panose="02020603050405020304" pitchFamily="18" charset="0"/>
                <a:cs typeface="Times New Roman" panose="02020603050405020304" pitchFamily="18" charset="0"/>
              </a:rPr>
              <a:t>=K)</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if K == 1:</a:t>
            </a:r>
          </a:p>
          <a:p>
            <a:r>
              <a:rPr lang="en-US" dirty="0">
                <a:solidFill>
                  <a:schemeClr val="bg1"/>
                </a:solidFill>
                <a:latin typeface="Times New Roman" panose="02020603050405020304" pitchFamily="18" charset="0"/>
                <a:cs typeface="Times New Roman" panose="02020603050405020304" pitchFamily="18" charset="0"/>
              </a:rPr>
              <a:t>        probs = Sigmoid(logits)           # binary segmentation</a:t>
            </a:r>
          </a:p>
          <a:p>
            <a:r>
              <a:rPr lang="en-US" dirty="0">
                <a:solidFill>
                  <a:schemeClr val="bg1"/>
                </a:solidFill>
                <a:latin typeface="Times New Roman" panose="02020603050405020304" pitchFamily="18" charset="0"/>
                <a:cs typeface="Times New Roman" panose="02020603050405020304" pitchFamily="18" charset="0"/>
              </a:rPr>
              <a:t>    else:</a:t>
            </a:r>
          </a:p>
          <a:p>
            <a:r>
              <a:rPr lang="en-US" dirty="0">
                <a:solidFill>
                  <a:schemeClr val="bg1"/>
                </a:solidFill>
                <a:latin typeface="Times New Roman" panose="02020603050405020304" pitchFamily="18" charset="0"/>
                <a:cs typeface="Times New Roman" panose="02020603050405020304" pitchFamily="18" charset="0"/>
              </a:rPr>
              <a:t>        probs = </a:t>
            </a:r>
            <a:r>
              <a:rPr lang="en-US" dirty="0" err="1">
                <a:solidFill>
                  <a:schemeClr val="bg1"/>
                </a:solidFill>
                <a:latin typeface="Times New Roman" panose="02020603050405020304" pitchFamily="18" charset="0"/>
                <a:cs typeface="Times New Roman" panose="02020603050405020304" pitchFamily="18" charset="0"/>
              </a:rPr>
              <a:t>Softmax</a:t>
            </a:r>
            <a:r>
              <a:rPr lang="en-US" dirty="0">
                <a:solidFill>
                  <a:schemeClr val="bg1"/>
                </a:solidFill>
                <a:latin typeface="Times New Roman" panose="02020603050405020304" pitchFamily="18" charset="0"/>
                <a:cs typeface="Times New Roman" panose="02020603050405020304" pitchFamily="18" charset="0"/>
              </a:rPr>
              <a:t>(logits, dim="channels")  # multi-class</a:t>
            </a:r>
          </a:p>
          <a:p>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    return probs   # per-pixel probabilities (H×W×K)</a:t>
            </a:r>
            <a:endParaRPr lang="en-US" dirty="0"/>
          </a:p>
        </p:txBody>
      </p:sp>
    </p:spTree>
    <p:extLst>
      <p:ext uri="{BB962C8B-B14F-4D97-AF65-F5344CB8AC3E}">
        <p14:creationId xmlns:p14="http://schemas.microsoft.com/office/powerpoint/2010/main" val="405075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latin typeface="Canva Sans" panose="020B0604020202020204" charset="0"/>
              </a:endParaRPr>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a:solidFill>
                    <a:srgbClr val="FFFFFF"/>
                  </a:solidFill>
                  <a:latin typeface="Canva Sans" panose="020B0604020202020204" charset="0"/>
                  <a:ea typeface="Fira Sans Bold"/>
                  <a:cs typeface="Fira Sans Bold"/>
                  <a:sym typeface="Fira Sans Bold"/>
                </a:rPr>
                <a:t>Distinctive Key Highlights</a:t>
              </a:r>
            </a:p>
          </p:txBody>
        </p:sp>
      </p:grpSp>
      <p:sp>
        <p:nvSpPr>
          <p:cNvPr id="5" name="TextBox 5"/>
          <p:cNvSpPr txBox="1"/>
          <p:nvPr/>
        </p:nvSpPr>
        <p:spPr>
          <a:xfrm>
            <a:off x="1028700" y="2843445"/>
            <a:ext cx="12456904" cy="5914792"/>
          </a:xfrm>
          <a:prstGeom prst="rect">
            <a:avLst/>
          </a:prstGeom>
        </p:spPr>
        <p:txBody>
          <a:bodyPr lIns="0" tIns="0" rIns="0" bIns="0" rtlCol="0" anchor="t">
            <a:spAutoFit/>
          </a:bodyPr>
          <a:lstStyle/>
          <a:p>
            <a:pPr algn="just">
              <a:lnSpc>
                <a:spcPts val="2635"/>
              </a:lnSpc>
            </a:pPr>
            <a:r>
              <a:rPr lang="en-US" sz="1885" b="1" spc="1" dirty="0" err="1">
                <a:solidFill>
                  <a:srgbClr val="FFFFFF"/>
                </a:solidFill>
                <a:latin typeface="Canva Sans" panose="020B0604020202020204" charset="0"/>
                <a:ea typeface="Canva Sans Bold"/>
                <a:cs typeface="Canva Sans Bold"/>
                <a:sym typeface="Canva Sans Bold"/>
              </a:rPr>
              <a:t>ResNet</a:t>
            </a:r>
            <a:r>
              <a:rPr lang="en-US" sz="1885" b="1" spc="1" dirty="0">
                <a:solidFill>
                  <a:srgbClr val="FFFFFF"/>
                </a:solidFill>
                <a:latin typeface="Canva Sans" panose="020B0604020202020204" charset="0"/>
                <a:ea typeface="Canva Sans Bold"/>
                <a:cs typeface="Canva Sans Bold"/>
                <a:sym typeface="Canva Sans Bold"/>
              </a:rPr>
              <a:t> – Revolutionizing Deep Learning Classification</a:t>
            </a:r>
          </a:p>
          <a:p>
            <a:pPr algn="just">
              <a:lnSpc>
                <a:spcPts val="2495"/>
              </a:lnSpc>
            </a:pPr>
            <a:r>
              <a:rPr lang="en-US" sz="1785" spc="1" dirty="0">
                <a:solidFill>
                  <a:srgbClr val="FFFFFF"/>
                </a:solidFill>
                <a:latin typeface="Canva Sans" panose="020B0604020202020204" charset="0"/>
                <a:ea typeface="Canva Sans" panose="020B0503030501040103"/>
                <a:cs typeface="Canva Sans" panose="020B0503030501040103"/>
                <a:sym typeface="Canva Sans" panose="020B0503030501040103"/>
              </a:rPr>
              <a:t>Innovation: Skip connections act as express lanes, letting information travel across layers without getting lost—empowering ultra-deep networks.</a:t>
            </a:r>
          </a:p>
          <a:p>
            <a:pPr algn="just">
              <a:lnSpc>
                <a:spcPts val="2635"/>
              </a:lnSpc>
            </a:pPr>
            <a:endParaRPr lang="en-US" sz="1785" spc="1" dirty="0">
              <a:solidFill>
                <a:srgbClr val="FFFFFF"/>
              </a:solidFill>
              <a:latin typeface="Canva Sans" panose="020B0604020202020204" charset="0"/>
              <a:ea typeface="Canva Sans" panose="020B0503030501040103"/>
              <a:cs typeface="Canva Sans" panose="020B0503030501040103"/>
              <a:sym typeface="Canva Sans" panose="020B0503030501040103"/>
            </a:endParaRPr>
          </a:p>
          <a:p>
            <a:pPr algn="just">
              <a:lnSpc>
                <a:spcPts val="2635"/>
              </a:lnSpc>
            </a:pPr>
            <a:r>
              <a:rPr lang="en-US" sz="1885" b="1" spc="1" dirty="0">
                <a:solidFill>
                  <a:srgbClr val="FFFFFF"/>
                </a:solidFill>
                <a:latin typeface="Canva Sans" panose="020B0604020202020204" charset="0"/>
                <a:ea typeface="Canva Sans Bold"/>
                <a:cs typeface="Canva Sans Bold"/>
                <a:sym typeface="Canva Sans Bold"/>
              </a:rPr>
              <a:t>YOLO (You Only Look Once) – Real-Time Object Detection</a:t>
            </a:r>
          </a:p>
          <a:p>
            <a:pPr algn="just">
              <a:lnSpc>
                <a:spcPts val="2495"/>
              </a:lnSpc>
            </a:pPr>
            <a:r>
              <a:rPr lang="en-US" sz="1785" spc="1" dirty="0">
                <a:solidFill>
                  <a:srgbClr val="FFFFFF"/>
                </a:solidFill>
                <a:latin typeface="Canva Sans" panose="020B0604020202020204" charset="0"/>
                <a:ea typeface="Canva Sans" panose="020B0503030501040103"/>
                <a:cs typeface="Canva Sans" panose="020B0503030501040103"/>
                <a:sym typeface="Canva Sans" panose="020B0503030501040103"/>
              </a:rPr>
              <a:t>Standout Feature: Processes the entire image in a single pass to locate and label regions of interest, providing live feedback for clinical screening and emergency diagnostics.</a:t>
            </a:r>
          </a:p>
          <a:p>
            <a:pPr algn="just">
              <a:lnSpc>
                <a:spcPts val="2635"/>
              </a:lnSpc>
            </a:pPr>
            <a:endParaRPr lang="en-US" sz="1785" spc="1" dirty="0">
              <a:solidFill>
                <a:srgbClr val="FFFFFF"/>
              </a:solidFill>
              <a:latin typeface="Canva Sans" panose="020B0604020202020204" charset="0"/>
              <a:ea typeface="Canva Sans" panose="020B0503030501040103"/>
              <a:cs typeface="Canva Sans" panose="020B0503030501040103"/>
              <a:sym typeface="Canva Sans" panose="020B0503030501040103"/>
            </a:endParaRPr>
          </a:p>
          <a:p>
            <a:pPr algn="just">
              <a:lnSpc>
                <a:spcPts val="2635"/>
              </a:lnSpc>
            </a:pPr>
            <a:r>
              <a:rPr lang="en-US" sz="1885" b="1" spc="1" dirty="0">
                <a:solidFill>
                  <a:srgbClr val="FFFFFF"/>
                </a:solidFill>
                <a:latin typeface="Canva Sans" panose="020B0604020202020204" charset="0"/>
                <a:ea typeface="Canva Sans Bold"/>
                <a:cs typeface="Canva Sans Bold"/>
                <a:sym typeface="Canva Sans Bold"/>
              </a:rPr>
              <a:t>U-Net – Precision Image Segmentation</a:t>
            </a:r>
          </a:p>
          <a:p>
            <a:pPr algn="just">
              <a:lnSpc>
                <a:spcPts val="2635"/>
              </a:lnSpc>
            </a:pPr>
            <a:r>
              <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rPr>
              <a:t>Signature: The “U”-shaped architecture combines context and detail, capturing both the big picture and fine structure—creating accurate masks even from small datasets.</a:t>
            </a:r>
          </a:p>
          <a:p>
            <a:pPr algn="just">
              <a:lnSpc>
                <a:spcPts val="2635"/>
              </a:lnSpc>
            </a:pPr>
            <a:endPar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endParaRPr>
          </a:p>
          <a:p>
            <a:pPr algn="just">
              <a:lnSpc>
                <a:spcPts val="2635"/>
              </a:lnSpc>
            </a:pPr>
            <a:r>
              <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rPr>
              <a:t>Breakthrough Impact: These models together accelerate medical workflow:</a:t>
            </a:r>
          </a:p>
          <a:p>
            <a:pPr marL="407035" lvl="1" indent="-203200" algn="just">
              <a:lnSpc>
                <a:spcPts val="2635"/>
              </a:lnSpc>
              <a:buFont typeface="Arial" panose="020B0604020202090204"/>
              <a:buChar char="•"/>
            </a:pPr>
            <a:r>
              <a:rPr lang="en-US" sz="1885" spc="1" dirty="0" err="1">
                <a:solidFill>
                  <a:srgbClr val="FFFFFF"/>
                </a:solidFill>
                <a:latin typeface="Canva Sans" panose="020B0604020202020204" charset="0"/>
                <a:ea typeface="Canva Sans" panose="020B0503030501040103"/>
                <a:cs typeface="Canva Sans" panose="020B0503030501040103"/>
                <a:sym typeface="Canva Sans" panose="020B0503030501040103"/>
              </a:rPr>
              <a:t>ResNet</a:t>
            </a:r>
            <a:r>
              <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rPr>
              <a:t> classifies complex patterns.</a:t>
            </a:r>
          </a:p>
          <a:p>
            <a:pPr marL="407035" lvl="1" indent="-203200" algn="just">
              <a:lnSpc>
                <a:spcPts val="2635"/>
              </a:lnSpc>
              <a:buFont typeface="Arial" panose="020B0604020202090204"/>
              <a:buChar char="•"/>
            </a:pPr>
            <a:r>
              <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rPr>
              <a:t>YOLO detects abnormalities instantly.</a:t>
            </a:r>
          </a:p>
          <a:p>
            <a:pPr marL="407035" lvl="1" indent="-203200" algn="just">
              <a:lnSpc>
                <a:spcPts val="2635"/>
              </a:lnSpc>
              <a:buFont typeface="Arial" panose="020B0604020202090204"/>
              <a:buChar char="•"/>
            </a:pPr>
            <a:r>
              <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rPr>
              <a:t>U-Net outlines every clinical detail with pixel-level accuracy.</a:t>
            </a:r>
          </a:p>
          <a:p>
            <a:pPr algn="just">
              <a:lnSpc>
                <a:spcPts val="2635"/>
              </a:lnSpc>
            </a:pPr>
            <a:endPar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endParaRPr>
          </a:p>
          <a:p>
            <a:pPr marL="0" lvl="0" indent="0" algn="just">
              <a:lnSpc>
                <a:spcPts val="2635"/>
              </a:lnSpc>
              <a:spcBef>
                <a:spcPct val="0"/>
              </a:spcBef>
            </a:pPr>
            <a:r>
              <a:rPr lang="en-US" sz="1885" spc="1" dirty="0">
                <a:solidFill>
                  <a:srgbClr val="FFFFFF"/>
                </a:solidFill>
                <a:latin typeface="Canva Sans" panose="020B0604020202020204" charset="0"/>
                <a:ea typeface="Canva Sans" panose="020B0503030501040103"/>
                <a:cs typeface="Canva Sans" panose="020B0503030501040103"/>
                <a:sym typeface="Canva Sans" panose="020B0503030501040103"/>
              </a:rPr>
              <a:t>They make AI not only faster and smarter, but deeply trustworthy—reshaping the future of healthcare.</a:t>
            </a:r>
          </a:p>
        </p:txBody>
      </p:sp>
      <p:sp>
        <p:nvSpPr>
          <p:cNvPr id="6" name="TextBox 6"/>
          <p:cNvSpPr txBox="1"/>
          <p:nvPr/>
        </p:nvSpPr>
        <p:spPr>
          <a:xfrm>
            <a:off x="17263365" y="9210675"/>
            <a:ext cx="144270" cy="337272"/>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604020202020204" charset="0"/>
                <a:ea typeface="Canva Sans" panose="020B0503030501040103"/>
                <a:cs typeface="Canva Sans" panose="020B0503030501040103"/>
                <a:sym typeface="Canva Sans" panose="020B0503030501040103"/>
              </a:rPr>
              <a:t>9</a:t>
            </a:r>
          </a:p>
        </p:txBody>
      </p:sp>
      <p:sp>
        <p:nvSpPr>
          <p:cNvPr id="7" name="Freeform 7"/>
          <p:cNvSpPr/>
          <p:nvPr/>
        </p:nvSpPr>
        <p:spPr>
          <a:xfrm>
            <a:off x="14150148" y="2023440"/>
            <a:ext cx="2743208" cy="7234860"/>
          </a:xfrm>
          <a:custGeom>
            <a:avLst/>
            <a:gdLst/>
            <a:ahLst/>
            <a:cxnLst/>
            <a:rect l="l" t="t" r="r" b="b"/>
            <a:pathLst>
              <a:path w="2743208" h="7234860">
                <a:moveTo>
                  <a:pt x="0" y="0"/>
                </a:moveTo>
                <a:lnTo>
                  <a:pt x="2743208" y="0"/>
                </a:lnTo>
                <a:lnTo>
                  <a:pt x="2743208" y="7234860"/>
                </a:lnTo>
                <a:lnTo>
                  <a:pt x="0" y="7234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latin typeface="Canva Sans" panose="020B0604020202020204" charset="0"/>
            </a:endParaRPr>
          </a:p>
        </p:txBody>
      </p:sp>
      <p:sp>
        <p:nvSpPr>
          <p:cNvPr id="9" name="Slide Number Placeholder 8">
            <a:extLst>
              <a:ext uri="{FF2B5EF4-FFF2-40B4-BE49-F238E27FC236}">
                <a16:creationId xmlns:a16="http://schemas.microsoft.com/office/drawing/2014/main" id="{AC8ADE89-DDC1-6473-2D6E-BC9FF19296C1}"/>
              </a:ext>
            </a:extLst>
          </p:cNvPr>
          <p:cNvSpPr>
            <a:spLocks noGrp="1"/>
          </p:cNvSpPr>
          <p:nvPr>
            <p:ph type="sldNum" sz="quarter" idx="12"/>
          </p:nvPr>
        </p:nvSpPr>
        <p:spPr>
          <a:xfrm>
            <a:off x="15697200" y="9547947"/>
            <a:ext cx="2133600" cy="365125"/>
          </a:xfrm>
        </p:spPr>
        <p:txBody>
          <a:bodyPr/>
          <a:lstStyle/>
          <a:p>
            <a:fld id="{B6F15528-21DE-4FAA-801E-634DDDAF4B2B}" type="slidenum">
              <a:rPr lang="en-US" sz="1400" b="1" smtClean="0">
                <a:solidFill>
                  <a:schemeClr val="bg1"/>
                </a:solidFill>
                <a:latin typeface="Canva Sans" panose="020B0604020202020204" charset="0"/>
              </a:rPr>
              <a:t>17</a:t>
            </a:fld>
            <a:endParaRPr lang="en-US" b="1" dirty="0">
              <a:solidFill>
                <a:schemeClr val="bg1"/>
              </a:solidFill>
              <a:latin typeface="Canva Sans" panose="020B060402020202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14400" y="822950"/>
            <a:ext cx="16459200" cy="1275867"/>
            <a:chOff x="0" y="0"/>
            <a:chExt cx="21945600" cy="1701157"/>
          </a:xfrm>
        </p:grpSpPr>
        <p:sp>
          <p:nvSpPr>
            <p:cNvPr id="3" name="Freeform 3"/>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p>
          </p:txBody>
        </p:sp>
        <p:sp>
          <p:nvSpPr>
            <p:cNvPr id="4" name="TextBox 4"/>
            <p:cNvSpPr txBox="1"/>
            <p:nvPr/>
          </p:nvSpPr>
          <p:spPr>
            <a:xfrm>
              <a:off x="0" y="-9525"/>
              <a:ext cx="21945600" cy="1710682"/>
            </a:xfrm>
            <a:prstGeom prst="rect">
              <a:avLst/>
            </a:prstGeom>
          </p:spPr>
          <p:txBody>
            <a:bodyPr lIns="0" tIns="0" rIns="0" bIns="0" rtlCol="0" anchor="ctr"/>
            <a:lstStyle/>
            <a:p>
              <a:pPr algn="ctr">
                <a:lnSpc>
                  <a:spcPts val="6720"/>
                </a:lnSpc>
              </a:pPr>
              <a:r>
                <a:rPr lang="en-US" sz="5600" b="1">
                  <a:solidFill>
                    <a:srgbClr val="FFFFFF"/>
                  </a:solidFill>
                  <a:latin typeface="Fira Sans Bold"/>
                  <a:ea typeface="Fira Sans Bold"/>
                  <a:cs typeface="Fira Sans Bold"/>
                  <a:sym typeface="Fira Sans Bold"/>
                </a:rPr>
                <a:t>Conclusion </a:t>
              </a:r>
            </a:p>
          </p:txBody>
        </p:sp>
      </p:grpSp>
      <p:sp>
        <p:nvSpPr>
          <p:cNvPr id="5" name="TextBox 5"/>
          <p:cNvSpPr txBox="1"/>
          <p:nvPr/>
        </p:nvSpPr>
        <p:spPr>
          <a:xfrm>
            <a:off x="1335218" y="2909042"/>
            <a:ext cx="12456904" cy="4468916"/>
          </a:xfrm>
          <a:prstGeom prst="rect">
            <a:avLst/>
          </a:prstGeom>
        </p:spPr>
        <p:txBody>
          <a:bodyPr lIns="0" tIns="0" rIns="0" bIns="0" rtlCol="0" anchor="t">
            <a:spAutoFit/>
          </a:bodyPr>
          <a:lstStyle/>
          <a:p>
            <a:pPr marL="385445" lvl="1" indent="-192405" algn="just">
              <a:lnSpc>
                <a:spcPts val="2495"/>
              </a:lnSpc>
              <a:buFont typeface="Arial" panose="020B0604020202090204"/>
              <a:buChar char="•"/>
            </a:pPr>
            <a:r>
              <a:rPr lang="en-US" sz="1785" dirty="0">
                <a:solidFill>
                  <a:srgbClr val="FFFFFF"/>
                </a:solidFill>
                <a:latin typeface="Canva Sans" panose="020B0503030501040103"/>
                <a:ea typeface="Canva Sans" panose="020B0503030501040103"/>
                <a:cs typeface="Canva Sans" panose="020B0503030501040103"/>
                <a:sym typeface="Canva Sans" panose="020B0503030501040103"/>
              </a:rPr>
              <a:t>This project explored state-of-the-art AI models—</a:t>
            </a:r>
            <a:r>
              <a:rPr lang="en-US" sz="1785" dirty="0" err="1">
                <a:solidFill>
                  <a:srgbClr val="FFFFFF"/>
                </a:solidFill>
                <a:latin typeface="Canva Sans" panose="020B0503030501040103"/>
                <a:ea typeface="Canva Sans" panose="020B0503030501040103"/>
                <a:cs typeface="Canva Sans" panose="020B0503030501040103"/>
                <a:sym typeface="Canva Sans" panose="020B0503030501040103"/>
              </a:rPr>
              <a:t>ResNet</a:t>
            </a:r>
            <a:r>
              <a:rPr lang="en-US" sz="1785" dirty="0">
                <a:solidFill>
                  <a:srgbClr val="FFFFFF"/>
                </a:solidFill>
                <a:latin typeface="Canva Sans" panose="020B0503030501040103"/>
                <a:ea typeface="Canva Sans" panose="020B0503030501040103"/>
                <a:cs typeface="Canva Sans" panose="020B0503030501040103"/>
                <a:sym typeface="Canva Sans" panose="020B0503030501040103"/>
              </a:rPr>
              <a:t>, YOLO, and U-Net—applied to medical imaging, focusing on their unique strengths in classification, detection, and segmentation tasks.</a:t>
            </a:r>
          </a:p>
          <a:p>
            <a:pPr marL="770255" lvl="2" indent="-256540" algn="just">
              <a:lnSpc>
                <a:spcPts val="2495"/>
              </a:lnSpc>
              <a:buFont typeface="Arial" panose="020B0604020202090204"/>
              <a:buChar char="⚬"/>
            </a:pPr>
            <a:r>
              <a:rPr lang="en-US" sz="1785" dirty="0" err="1">
                <a:solidFill>
                  <a:srgbClr val="FFFFFF"/>
                </a:solidFill>
                <a:latin typeface="Canva Sans" panose="020B0503030501040103"/>
                <a:ea typeface="Canva Sans" panose="020B0503030501040103"/>
                <a:cs typeface="Canva Sans" panose="020B0503030501040103"/>
                <a:sym typeface="Canva Sans" panose="020B0503030501040103"/>
              </a:rPr>
              <a:t>ResNet</a:t>
            </a:r>
            <a:r>
              <a:rPr lang="en-US" sz="1785" dirty="0">
                <a:solidFill>
                  <a:srgbClr val="FFFFFF"/>
                </a:solidFill>
                <a:latin typeface="Canva Sans" panose="020B0503030501040103"/>
                <a:ea typeface="Canva Sans" panose="020B0503030501040103"/>
                <a:cs typeface="Canva Sans" panose="020B0503030501040103"/>
                <a:sym typeface="Canva Sans" panose="020B0503030501040103"/>
              </a:rPr>
              <a:t>: Accurate image classification using deep networks and skip connections.</a:t>
            </a:r>
          </a:p>
          <a:p>
            <a:pPr marL="770255" lvl="2" indent="-256540" algn="just">
              <a:lnSpc>
                <a:spcPts val="2495"/>
              </a:lnSpc>
              <a:buFont typeface="Arial" panose="020B0604020202090204"/>
              <a:buChar char="⚬"/>
            </a:pPr>
            <a:r>
              <a:rPr lang="en-US" sz="1785" dirty="0">
                <a:solidFill>
                  <a:srgbClr val="FFFFFF"/>
                </a:solidFill>
                <a:latin typeface="Canva Sans" panose="020B0503030501040103"/>
                <a:ea typeface="Canva Sans" panose="020B0503030501040103"/>
                <a:cs typeface="Canva Sans" panose="020B0503030501040103"/>
                <a:sym typeface="Canva Sans" panose="020B0503030501040103"/>
              </a:rPr>
              <a:t>YOLO: Fast, real-time detection of multiple abnormalities in clinical scans.</a:t>
            </a:r>
          </a:p>
          <a:p>
            <a:pPr marL="770255" lvl="2" indent="-256540" algn="just">
              <a:lnSpc>
                <a:spcPts val="2495"/>
              </a:lnSpc>
              <a:buFont typeface="Arial" panose="020B0604020202090204"/>
              <a:buChar char="⚬"/>
            </a:pPr>
            <a:r>
              <a:rPr lang="en-US" sz="1785" dirty="0">
                <a:solidFill>
                  <a:srgbClr val="FFFFFF"/>
                </a:solidFill>
                <a:latin typeface="Canva Sans" panose="020B0503030501040103"/>
                <a:ea typeface="Canva Sans" panose="020B0503030501040103"/>
                <a:cs typeface="Canva Sans" panose="020B0503030501040103"/>
                <a:sym typeface="Canva Sans" panose="020B0503030501040103"/>
              </a:rPr>
              <a:t>U-Net: High-precision segmentation to outline organs or lesions.</a:t>
            </a:r>
          </a:p>
          <a:p>
            <a:pPr algn="just">
              <a:lnSpc>
                <a:spcPts val="2495"/>
              </a:lnSpc>
            </a:pPr>
            <a:endParaRPr lang="en-US" sz="1785" dirty="0">
              <a:solidFill>
                <a:srgbClr val="FFFFFF"/>
              </a:solidFill>
              <a:latin typeface="Canva Sans" panose="020B0503030501040103"/>
              <a:ea typeface="Canva Sans" panose="020B0503030501040103"/>
              <a:cs typeface="Canva Sans" panose="020B0503030501040103"/>
              <a:sym typeface="Canva Sans" panose="020B0503030501040103"/>
            </a:endParaRPr>
          </a:p>
          <a:p>
            <a:pPr marL="385445" lvl="1" indent="-192405" algn="just">
              <a:lnSpc>
                <a:spcPts val="2495"/>
              </a:lnSpc>
              <a:buFont typeface="Arial" panose="020B0604020202090204"/>
              <a:buChar char="•"/>
            </a:pPr>
            <a:r>
              <a:rPr lang="en-US" sz="1785" dirty="0">
                <a:solidFill>
                  <a:srgbClr val="FFFFFF"/>
                </a:solidFill>
                <a:latin typeface="Canva Sans" panose="020B0503030501040103"/>
                <a:ea typeface="Canva Sans" panose="020B0503030501040103"/>
                <a:cs typeface="Canva Sans" panose="020B0503030501040103"/>
                <a:sym typeface="Canva Sans" panose="020B0503030501040103"/>
              </a:rPr>
              <a:t>Drawing from our selected research paper and guided by project proposal requirements, we found that these advanced deep learning models have achieved remarkable accuracy and reliability across diverse clinical applications, including detection of brain tumors, skin cancer, cardiac diseases, and more. However, challenges remain—especially concerning limited annotated datasets and class imbalance—which point to the need for future research in transfer learning, federated learning, and integration of domain knowledge.</a:t>
            </a:r>
          </a:p>
          <a:p>
            <a:pPr algn="just">
              <a:lnSpc>
                <a:spcPts val="2495"/>
              </a:lnSpc>
            </a:pPr>
            <a:endParaRPr lang="en-US" sz="1785" dirty="0">
              <a:solidFill>
                <a:srgbClr val="FFFFFF"/>
              </a:solidFill>
              <a:latin typeface="Canva Sans" panose="020B0503030501040103"/>
              <a:ea typeface="Canva Sans" panose="020B0503030501040103"/>
              <a:cs typeface="Canva Sans" panose="020B0503030501040103"/>
              <a:sym typeface="Canva Sans" panose="020B0503030501040103"/>
            </a:endParaRPr>
          </a:p>
          <a:p>
            <a:pPr marL="385445" lvl="1" indent="-192405" algn="just">
              <a:lnSpc>
                <a:spcPts val="2495"/>
              </a:lnSpc>
              <a:buFont typeface="Arial" panose="020B0604020202090204"/>
              <a:buChar char="•"/>
            </a:pPr>
            <a:r>
              <a:rPr lang="en-US" sz="1785" dirty="0">
                <a:solidFill>
                  <a:srgbClr val="FFFFFF"/>
                </a:solidFill>
                <a:latin typeface="Canva Sans" panose="020B0503030501040103"/>
                <a:ea typeface="Canva Sans" panose="020B0503030501040103"/>
                <a:cs typeface="Canva Sans" panose="020B0503030501040103"/>
                <a:sym typeface="Canva Sans" panose="020B0503030501040103"/>
              </a:rPr>
              <a:t>This work aligns with the proposal guidelines, thoroughly explaining and teaching each model’s architecture and clinical application, and highlighting their relevance through clear examples and project findings.</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10</a:t>
            </a:r>
          </a:p>
        </p:txBody>
      </p:sp>
      <p:sp>
        <p:nvSpPr>
          <p:cNvPr id="7" name="Freeform 7"/>
          <p:cNvSpPr/>
          <p:nvPr/>
        </p:nvSpPr>
        <p:spPr>
          <a:xfrm>
            <a:off x="15466963" y="2331318"/>
            <a:ext cx="2445480" cy="5033086"/>
          </a:xfrm>
          <a:custGeom>
            <a:avLst/>
            <a:gdLst/>
            <a:ahLst/>
            <a:cxnLst/>
            <a:rect l="l" t="t" r="r" b="b"/>
            <a:pathLst>
              <a:path w="2445480" h="5033086">
                <a:moveTo>
                  <a:pt x="0" y="0"/>
                </a:moveTo>
                <a:lnTo>
                  <a:pt x="2445480" y="0"/>
                </a:lnTo>
                <a:lnTo>
                  <a:pt x="2445480" y="5033086"/>
                </a:lnTo>
                <a:lnTo>
                  <a:pt x="0" y="50330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13792122" y="4701807"/>
            <a:ext cx="4120321" cy="4228950"/>
          </a:xfrm>
          <a:custGeom>
            <a:avLst/>
            <a:gdLst/>
            <a:ahLst/>
            <a:cxnLst/>
            <a:rect l="l" t="t" r="r" b="b"/>
            <a:pathLst>
              <a:path w="4120321" h="4228950">
                <a:moveTo>
                  <a:pt x="0" y="0"/>
                </a:moveTo>
                <a:lnTo>
                  <a:pt x="4120321" y="0"/>
                </a:lnTo>
                <a:lnTo>
                  <a:pt x="4120321" y="4228951"/>
                </a:lnTo>
                <a:lnTo>
                  <a:pt x="0" y="42289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Slide Number Placeholder 9">
            <a:extLst>
              <a:ext uri="{FF2B5EF4-FFF2-40B4-BE49-F238E27FC236}">
                <a16:creationId xmlns:a16="http://schemas.microsoft.com/office/drawing/2014/main" id="{5C90CB7D-8C57-914F-FA17-4D3090E634C2}"/>
              </a:ext>
            </a:extLst>
          </p:cNvPr>
          <p:cNvSpPr>
            <a:spLocks noGrp="1"/>
          </p:cNvSpPr>
          <p:nvPr>
            <p:ph type="sldNum" sz="quarter" idx="12"/>
          </p:nvPr>
        </p:nvSpPr>
        <p:spPr>
          <a:xfrm>
            <a:off x="15622903" y="9310687"/>
            <a:ext cx="2133600" cy="365125"/>
          </a:xfrm>
        </p:spPr>
        <p:txBody>
          <a:bodyPr/>
          <a:lstStyle/>
          <a:p>
            <a:fld id="{B6F15528-21DE-4FAA-801E-634DDDAF4B2B}" type="slidenum">
              <a:rPr lang="en-US" sz="1400" b="1" smtClean="0">
                <a:solidFill>
                  <a:schemeClr val="bg1"/>
                </a:solidFill>
                <a:latin typeface="Canva Sans" panose="020B0604020202020204" charset="0"/>
              </a:rPr>
              <a:t>18</a:t>
            </a:fld>
            <a:endParaRPr lang="en-US" b="1" dirty="0">
              <a:solidFill>
                <a:schemeClr val="bg1"/>
              </a:solidFill>
              <a:latin typeface="Canva Sans" panose="020B060402020202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1E83A46-844E-569C-D61E-88DAD4B3177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DCEAD9F-99D9-4C3B-8E6C-BA0DB420B241}"/>
              </a:ext>
            </a:extLst>
          </p:cNvPr>
          <p:cNvGrpSpPr/>
          <p:nvPr/>
        </p:nvGrpSpPr>
        <p:grpSpPr>
          <a:xfrm>
            <a:off x="914400" y="822950"/>
            <a:ext cx="16459200" cy="1275867"/>
            <a:chOff x="0" y="0"/>
            <a:chExt cx="21945600" cy="1701157"/>
          </a:xfrm>
        </p:grpSpPr>
        <p:sp>
          <p:nvSpPr>
            <p:cNvPr id="3" name="Freeform 3">
              <a:extLst>
                <a:ext uri="{FF2B5EF4-FFF2-40B4-BE49-F238E27FC236}">
                  <a16:creationId xmlns:a16="http://schemas.microsoft.com/office/drawing/2014/main" id="{5D6CF621-4C2A-8D3B-B037-31C686F8AC92}"/>
                </a:ext>
              </a:extLst>
            </p:cNvPr>
            <p:cNvSpPr/>
            <p:nvPr/>
          </p:nvSpPr>
          <p:spPr>
            <a:xfrm>
              <a:off x="0" y="0"/>
              <a:ext cx="21945600" cy="1701157"/>
            </a:xfrm>
            <a:custGeom>
              <a:avLst/>
              <a:gdLst/>
              <a:ahLst/>
              <a:cxnLst/>
              <a:rect l="l" t="t" r="r" b="b"/>
              <a:pathLst>
                <a:path w="21945600" h="1701157">
                  <a:moveTo>
                    <a:pt x="0" y="0"/>
                  </a:moveTo>
                  <a:lnTo>
                    <a:pt x="21945600" y="0"/>
                  </a:lnTo>
                  <a:lnTo>
                    <a:pt x="21945600" y="1701157"/>
                  </a:lnTo>
                  <a:lnTo>
                    <a:pt x="0" y="1701157"/>
                  </a:lnTo>
                  <a:close/>
                </a:path>
              </a:pathLst>
            </a:custGeom>
            <a:solidFill>
              <a:srgbClr val="000000">
                <a:alpha val="0"/>
              </a:srgbClr>
            </a:solidFill>
          </p:spPr>
          <p:txBody>
            <a:bodyPr/>
            <a:lstStyle/>
            <a:p>
              <a:endParaRPr lang="en-US"/>
            </a:p>
          </p:txBody>
        </p:sp>
        <p:sp>
          <p:nvSpPr>
            <p:cNvPr id="4" name="TextBox 4">
              <a:extLst>
                <a:ext uri="{FF2B5EF4-FFF2-40B4-BE49-F238E27FC236}">
                  <a16:creationId xmlns:a16="http://schemas.microsoft.com/office/drawing/2014/main" id="{330C51B0-C02E-F75B-69E6-01A129ABBA88}"/>
                </a:ext>
              </a:extLst>
            </p:cNvPr>
            <p:cNvSpPr txBox="1"/>
            <p:nvPr/>
          </p:nvSpPr>
          <p:spPr>
            <a:xfrm>
              <a:off x="0" y="-9525"/>
              <a:ext cx="21945600" cy="1710682"/>
            </a:xfrm>
            <a:prstGeom prst="rect">
              <a:avLst/>
            </a:prstGeom>
          </p:spPr>
          <p:txBody>
            <a:bodyPr lIns="0" tIns="0" rIns="0" bIns="0" rtlCol="0" anchor="ctr"/>
            <a:lstStyle/>
            <a:p>
              <a:pPr algn="ctr">
                <a:lnSpc>
                  <a:spcPts val="6720"/>
                </a:lnSpc>
              </a:pPr>
              <a:r>
                <a:rPr lang="en-US" sz="5600" b="1" dirty="0">
                  <a:solidFill>
                    <a:srgbClr val="FFFFFF"/>
                  </a:solidFill>
                  <a:latin typeface="Fira Sans Bold"/>
                  <a:ea typeface="Fira Sans Bold"/>
                  <a:cs typeface="Fira Sans Bold"/>
                  <a:sym typeface="Fira Sans Bold"/>
                </a:rPr>
                <a:t>References </a:t>
              </a:r>
            </a:p>
          </p:txBody>
        </p:sp>
      </p:grpSp>
      <p:sp>
        <p:nvSpPr>
          <p:cNvPr id="6" name="TextBox 6">
            <a:extLst>
              <a:ext uri="{FF2B5EF4-FFF2-40B4-BE49-F238E27FC236}">
                <a16:creationId xmlns:a16="http://schemas.microsoft.com/office/drawing/2014/main" id="{D188D1CD-069D-2600-06D9-5D0C574FE7F8}"/>
              </a:ext>
            </a:extLst>
          </p:cNvPr>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10</a:t>
            </a:r>
          </a:p>
        </p:txBody>
      </p:sp>
      <p:sp>
        <p:nvSpPr>
          <p:cNvPr id="10" name="Rectangle 2">
            <a:extLst>
              <a:ext uri="{FF2B5EF4-FFF2-40B4-BE49-F238E27FC236}">
                <a16:creationId xmlns:a16="http://schemas.microsoft.com/office/drawing/2014/main" id="{F41E9EE4-E1C9-527E-1D9E-8BB8DD1F564E}"/>
              </a:ext>
            </a:extLst>
          </p:cNvPr>
          <p:cNvSpPr>
            <a:spLocks noChangeArrowheads="1"/>
          </p:cNvSpPr>
          <p:nvPr/>
        </p:nvSpPr>
        <p:spPr bwMode="auto">
          <a:xfrm>
            <a:off x="2319764" y="2600601"/>
            <a:ext cx="13648471"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dirty="0">
                <a:solidFill>
                  <a:schemeClr val="bg1"/>
                </a:solidFill>
                <a:latin typeface="Arial" panose="020B0604020202020204" pitchFamily="34" charset="0"/>
              </a:rPr>
              <a:t>1.</a:t>
            </a:r>
            <a:r>
              <a:rPr kumimoji="0" lang="en-US" altLang="en-US" sz="1800" b="1" i="0" u="none" strike="noStrike" cap="none" normalizeH="0" baseline="0" dirty="0">
                <a:ln>
                  <a:noFill/>
                </a:ln>
                <a:solidFill>
                  <a:schemeClr val="bg1"/>
                </a:solidFill>
                <a:effectLst/>
                <a:latin typeface="Arial" panose="020B0604020202020204" pitchFamily="34" charset="0"/>
              </a:rPr>
              <a:t>Liu, X., Gao, K., Liu, B., Pan, C., Liang, K., Yan, L., … Yu, Y. (2021).</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1" u="none" strike="noStrike" cap="none" normalizeH="0" baseline="0" dirty="0">
                <a:ln>
                  <a:noFill/>
                </a:ln>
                <a:solidFill>
                  <a:schemeClr val="bg1"/>
                </a:solidFill>
                <a:effectLst/>
                <a:latin typeface="Arial" panose="020B0604020202020204" pitchFamily="34" charset="0"/>
              </a:rPr>
              <a:t>Advances in Deep Learning-Based Medical Image Analysis.</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1" i="0" u="none" strike="noStrike" cap="none" normalizeH="0" baseline="0" dirty="0">
                <a:ln>
                  <a:noFill/>
                </a:ln>
                <a:solidFill>
                  <a:schemeClr val="bg1"/>
                </a:solidFill>
                <a:effectLst/>
                <a:latin typeface="Arial" panose="020B0604020202020204" pitchFamily="34" charset="0"/>
              </a:rPr>
              <a:t>Health Data Science, 2021</a:t>
            </a:r>
            <a:r>
              <a:rPr kumimoji="0" lang="en-US" altLang="en-US" sz="1800" b="0" i="0" u="none" strike="noStrike" cap="none" normalizeH="0" baseline="0" dirty="0">
                <a:ln>
                  <a:noFill/>
                </a:ln>
                <a:solidFill>
                  <a:schemeClr val="bg1"/>
                </a:solidFill>
                <a:effectLst/>
                <a:latin typeface="Arial" panose="020B0604020202020204" pitchFamily="34" charset="0"/>
              </a:rPr>
              <a:t>, Article ID 8786793.</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hlinkClick r:id="rId3" tooltip="https://doi.org/10.34133/2021/8786793">
                  <a:extLst>
                    <a:ext uri="{A12FA001-AC4F-418D-AE19-62706E023703}">
                      <ahyp:hlinkClr xmlns:ahyp="http://schemas.microsoft.com/office/drawing/2018/hyperlinkcolor" val="tx"/>
                    </a:ext>
                  </a:extLst>
                </a:hlinkClick>
              </a:rPr>
              <a:t>https://doi.org/10.34133/2021/8786793</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bg1"/>
                </a:solidFill>
                <a:effectLst/>
                <a:latin typeface="Arial" panose="020B0604020202020204" pitchFamily="34" charset="0"/>
              </a:rPr>
              <a:t>He, K., Zhang, X., Ren, S., &amp; Sun, J. (2016).</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1" u="none" strike="noStrike" cap="none" normalizeH="0" baseline="0" dirty="0">
                <a:ln>
                  <a:noFill/>
                </a:ln>
                <a:solidFill>
                  <a:schemeClr val="bg1"/>
                </a:solidFill>
                <a:effectLst/>
                <a:latin typeface="Arial" panose="020B0604020202020204" pitchFamily="34" charset="0"/>
              </a:rPr>
              <a:t>Deep Residual Learning for Image Recognition.</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1" i="0" u="none" strike="noStrike" cap="none" normalizeH="0" baseline="0" dirty="0">
                <a:ln>
                  <a:noFill/>
                </a:ln>
                <a:solidFill>
                  <a:schemeClr val="bg1"/>
                </a:solidFill>
                <a:effectLst/>
                <a:latin typeface="Arial" panose="020B0604020202020204" pitchFamily="34" charset="0"/>
              </a:rPr>
              <a:t>Proceedings of the IEEE Conference on Computer Vision and Pattern Recognition (CVPR)</a:t>
            </a:r>
            <a:r>
              <a:rPr kumimoji="0" lang="en-US" altLang="en-US" sz="1800" b="0" i="0" u="none" strike="noStrike" cap="none" normalizeH="0" baseline="0" dirty="0">
                <a:ln>
                  <a:noFill/>
                </a:ln>
                <a:solidFill>
                  <a:schemeClr val="bg1"/>
                </a:solidFill>
                <a:effectLst/>
                <a:latin typeface="Arial" panose="020B0604020202020204" pitchFamily="34" charset="0"/>
              </a:rPr>
              <a:t>, 770–778.</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hlinkClick r:id="rId4" tooltip="https://doi.org/10.1109/cvpr.2016.90">
                  <a:extLst>
                    <a:ext uri="{A12FA001-AC4F-418D-AE19-62706E023703}">
                      <ahyp:hlinkClr xmlns:ahyp="http://schemas.microsoft.com/office/drawing/2018/hyperlinkcolor" val="tx"/>
                    </a:ext>
                  </a:extLst>
                </a:hlinkClick>
              </a:rPr>
              <a:t>https://doi.org/10.1109/CVPR.2016.90</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bg1"/>
                </a:solidFill>
                <a:effectLst/>
                <a:latin typeface="Arial" panose="020B0604020202020204" pitchFamily="34" charset="0"/>
              </a:rPr>
              <a:t>Ronneberger</a:t>
            </a:r>
            <a:r>
              <a:rPr kumimoji="0" lang="en-US" altLang="en-US" sz="1800" b="1" i="0" u="none" strike="noStrike" cap="none" normalizeH="0" baseline="0" dirty="0">
                <a:ln>
                  <a:noFill/>
                </a:ln>
                <a:solidFill>
                  <a:schemeClr val="bg1"/>
                </a:solidFill>
                <a:effectLst/>
                <a:latin typeface="Arial" panose="020B0604020202020204" pitchFamily="34" charset="0"/>
              </a:rPr>
              <a:t>, O., Fischer, P., &amp; Brox, T. (2015).</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1" u="none" strike="noStrike" cap="none" normalizeH="0" baseline="0" dirty="0">
                <a:ln>
                  <a:noFill/>
                </a:ln>
                <a:solidFill>
                  <a:schemeClr val="bg1"/>
                </a:solidFill>
                <a:effectLst/>
                <a:latin typeface="Arial" panose="020B0604020202020204" pitchFamily="34" charset="0"/>
              </a:rPr>
              <a:t>U-Net: Convolutional Networks for Biomedical Image Segmentation.</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1" i="0" u="none" strike="noStrike" cap="none" normalizeH="0" baseline="0" dirty="0">
                <a:ln>
                  <a:noFill/>
                </a:ln>
                <a:solidFill>
                  <a:schemeClr val="bg1"/>
                </a:solidFill>
                <a:effectLst/>
                <a:latin typeface="Arial" panose="020B0604020202020204" pitchFamily="34" charset="0"/>
              </a:rPr>
              <a:t>International Conference on Medical Image Computing and Computer-Assisted Intervention (MICCAI)</a:t>
            </a:r>
            <a:r>
              <a:rPr kumimoji="0" lang="en-US" altLang="en-US" sz="1800" b="0" i="0" u="none" strike="noStrike" cap="none" normalizeH="0" baseline="0" dirty="0">
                <a:ln>
                  <a:noFill/>
                </a:ln>
                <a:solidFill>
                  <a:schemeClr val="bg1"/>
                </a:solidFill>
                <a:effectLst/>
                <a:latin typeface="Arial" panose="020B0604020202020204" pitchFamily="34" charset="0"/>
              </a:rPr>
              <a:t>, 234–241.</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hlinkClick r:id="rId5" tooltip="https://arxiv.org/abs/1505.04597">
                  <a:extLst>
                    <a:ext uri="{A12FA001-AC4F-418D-AE19-62706E023703}">
                      <ahyp:hlinkClr xmlns:ahyp="http://schemas.microsoft.com/office/drawing/2018/hyperlinkcolor" val="tx"/>
                    </a:ext>
                  </a:extLst>
                </a:hlinkClick>
              </a:rPr>
              <a:t>https://arxiv.org/abs/1505.04597</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bg1"/>
                </a:solidFill>
                <a:effectLst/>
                <a:latin typeface="Arial" panose="020B0604020202020204" pitchFamily="34" charset="0"/>
              </a:rPr>
              <a:t>Redmon, J., </a:t>
            </a:r>
            <a:r>
              <a:rPr kumimoji="0" lang="en-US" altLang="en-US" sz="1800" b="1" i="0" u="none" strike="noStrike" cap="none" normalizeH="0" baseline="0" dirty="0" err="1">
                <a:ln>
                  <a:noFill/>
                </a:ln>
                <a:solidFill>
                  <a:schemeClr val="bg1"/>
                </a:solidFill>
                <a:effectLst/>
                <a:latin typeface="Arial" panose="020B0604020202020204" pitchFamily="34" charset="0"/>
              </a:rPr>
              <a:t>Divvala</a:t>
            </a:r>
            <a:r>
              <a:rPr kumimoji="0" lang="en-US" altLang="en-US" sz="1800" b="1" i="0" u="none" strike="noStrike" cap="none" normalizeH="0" baseline="0" dirty="0">
                <a:ln>
                  <a:noFill/>
                </a:ln>
                <a:solidFill>
                  <a:schemeClr val="bg1"/>
                </a:solidFill>
                <a:effectLst/>
                <a:latin typeface="Arial" panose="020B0604020202020204" pitchFamily="34" charset="0"/>
              </a:rPr>
              <a:t>, S., </a:t>
            </a:r>
            <a:r>
              <a:rPr kumimoji="0" lang="en-US" altLang="en-US" sz="1800" b="1" i="0" u="none" strike="noStrike" cap="none" normalizeH="0" baseline="0" dirty="0" err="1">
                <a:ln>
                  <a:noFill/>
                </a:ln>
                <a:solidFill>
                  <a:schemeClr val="bg1"/>
                </a:solidFill>
                <a:effectLst/>
                <a:latin typeface="Arial" panose="020B0604020202020204" pitchFamily="34" charset="0"/>
              </a:rPr>
              <a:t>Girshick</a:t>
            </a:r>
            <a:r>
              <a:rPr kumimoji="0" lang="en-US" altLang="en-US" sz="1800" b="1" i="0" u="none" strike="noStrike" cap="none" normalizeH="0" baseline="0" dirty="0">
                <a:ln>
                  <a:noFill/>
                </a:ln>
                <a:solidFill>
                  <a:schemeClr val="bg1"/>
                </a:solidFill>
                <a:effectLst/>
                <a:latin typeface="Arial" panose="020B0604020202020204" pitchFamily="34" charset="0"/>
              </a:rPr>
              <a:t>, R., &amp; Farhadi, A. (2016).</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1" u="none" strike="noStrike" cap="none" normalizeH="0" baseline="0" dirty="0">
                <a:ln>
                  <a:noFill/>
                </a:ln>
                <a:solidFill>
                  <a:schemeClr val="bg1"/>
                </a:solidFill>
                <a:effectLst/>
                <a:latin typeface="Arial" panose="020B0604020202020204" pitchFamily="34" charset="0"/>
              </a:rPr>
              <a:t>You Only Look Once: Unified, Real-Time Object Detection.</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1" i="0" u="none" strike="noStrike" cap="none" normalizeH="0" baseline="0" dirty="0">
                <a:ln>
                  <a:noFill/>
                </a:ln>
                <a:solidFill>
                  <a:schemeClr val="bg1"/>
                </a:solidFill>
                <a:effectLst/>
                <a:latin typeface="Arial" panose="020B0604020202020204" pitchFamily="34" charset="0"/>
              </a:rPr>
              <a:t>Proceedings of the IEEE Conference on Computer Vision and Pattern Recognition (CVPR)</a:t>
            </a:r>
            <a:r>
              <a:rPr kumimoji="0" lang="en-US" altLang="en-US" sz="1800" b="0" i="0" u="none" strike="noStrike" cap="none" normalizeH="0" baseline="0" dirty="0">
                <a:ln>
                  <a:noFill/>
                </a:ln>
                <a:solidFill>
                  <a:schemeClr val="bg1"/>
                </a:solidFill>
                <a:effectLst/>
                <a:latin typeface="Arial" panose="020B0604020202020204" pitchFamily="34" charset="0"/>
              </a:rPr>
              <a:t>, 779–788.</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hlinkClick r:id="rId6" tooltip="https://arxiv.org/abs/1506.02640">
                  <a:extLst>
                    <a:ext uri="{A12FA001-AC4F-418D-AE19-62706E023703}">
                      <ahyp:hlinkClr xmlns:ahyp="http://schemas.microsoft.com/office/drawing/2018/hyperlinkcolor" val="tx"/>
                    </a:ext>
                  </a:extLst>
                </a:hlinkClick>
              </a:rPr>
              <a:t>https://arxiv.org/abs/1506.02640</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err="1">
                <a:ln>
                  <a:noFill/>
                </a:ln>
                <a:solidFill>
                  <a:schemeClr val="bg1"/>
                </a:solidFill>
                <a:effectLst/>
                <a:latin typeface="Arial" panose="020B0604020202020204" pitchFamily="34" charset="0"/>
              </a:rPr>
              <a:t>Litjens</a:t>
            </a:r>
            <a:r>
              <a:rPr kumimoji="0" lang="en-US" altLang="en-US" sz="1800" b="1" i="0" u="none" strike="noStrike" cap="none" normalizeH="0" baseline="0" dirty="0">
                <a:ln>
                  <a:noFill/>
                </a:ln>
                <a:solidFill>
                  <a:schemeClr val="bg1"/>
                </a:solidFill>
                <a:effectLst/>
                <a:latin typeface="Arial" panose="020B0604020202020204" pitchFamily="34" charset="0"/>
              </a:rPr>
              <a:t>, G., Kooi, T., </a:t>
            </a:r>
            <a:r>
              <a:rPr kumimoji="0" lang="en-US" altLang="en-US" sz="1800" b="1" i="0" u="none" strike="noStrike" cap="none" normalizeH="0" baseline="0" dirty="0" err="1">
                <a:ln>
                  <a:noFill/>
                </a:ln>
                <a:solidFill>
                  <a:schemeClr val="bg1"/>
                </a:solidFill>
                <a:effectLst/>
                <a:latin typeface="Arial" panose="020B0604020202020204" pitchFamily="34" charset="0"/>
              </a:rPr>
              <a:t>Bejnordi</a:t>
            </a:r>
            <a:r>
              <a:rPr kumimoji="0" lang="en-US" altLang="en-US" sz="1800" b="1" i="0" u="none" strike="noStrike" cap="none" normalizeH="0" baseline="0" dirty="0">
                <a:ln>
                  <a:noFill/>
                </a:ln>
                <a:solidFill>
                  <a:schemeClr val="bg1"/>
                </a:solidFill>
                <a:effectLst/>
                <a:latin typeface="Arial" panose="020B0604020202020204" pitchFamily="34" charset="0"/>
              </a:rPr>
              <a:t>, B. E., et al. (2017).</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1" u="none" strike="noStrike" cap="none" normalizeH="0" baseline="0" dirty="0">
                <a:ln>
                  <a:noFill/>
                </a:ln>
                <a:solidFill>
                  <a:schemeClr val="bg1"/>
                </a:solidFill>
                <a:effectLst/>
                <a:latin typeface="Arial" panose="020B0604020202020204" pitchFamily="34" charset="0"/>
              </a:rPr>
              <a:t>A Survey on Deep Learning in Medical Image </a:t>
            </a:r>
            <a:r>
              <a:rPr kumimoji="0" lang="en-US" altLang="en-US" sz="1800" b="0" i="1" u="none" strike="noStrike" cap="none" normalizeH="0" baseline="0" dirty="0" err="1">
                <a:ln>
                  <a:noFill/>
                </a:ln>
                <a:solidFill>
                  <a:schemeClr val="bg1"/>
                </a:solidFill>
                <a:effectLst/>
                <a:latin typeface="Arial" panose="020B0604020202020204" pitchFamily="34" charset="0"/>
              </a:rPr>
              <a:t>Analysis.</a:t>
            </a:r>
            <a:r>
              <a:rPr kumimoji="0" lang="en-US" altLang="en-US" sz="1800" b="1" i="0" u="none" strike="noStrike" cap="none" normalizeH="0" baseline="0" dirty="0" err="1">
                <a:ln>
                  <a:noFill/>
                </a:ln>
                <a:solidFill>
                  <a:schemeClr val="bg1"/>
                </a:solidFill>
                <a:effectLst/>
                <a:latin typeface="Arial" panose="020B0604020202020204" pitchFamily="34" charset="0"/>
              </a:rPr>
              <a:t>Medical</a:t>
            </a:r>
            <a:r>
              <a:rPr kumimoji="0" lang="en-US" altLang="en-US" sz="1800" b="1" i="0" u="none" strike="noStrike" cap="none" normalizeH="0" baseline="0" dirty="0">
                <a:ln>
                  <a:noFill/>
                </a:ln>
                <a:solidFill>
                  <a:schemeClr val="bg1"/>
                </a:solidFill>
                <a:effectLst/>
                <a:latin typeface="Arial" panose="020B0604020202020204" pitchFamily="34" charset="0"/>
              </a:rPr>
              <a:t> Image Analysis, 42</a:t>
            </a:r>
            <a:r>
              <a:rPr kumimoji="0" lang="en-US" altLang="en-US" sz="1800" b="0" i="0" u="none" strike="noStrike" cap="none" normalizeH="0" baseline="0" dirty="0">
                <a:ln>
                  <a:noFill/>
                </a:ln>
                <a:solidFill>
                  <a:schemeClr val="bg1"/>
                </a:solidFill>
                <a:effectLst/>
                <a:latin typeface="Arial" panose="020B0604020202020204" pitchFamily="34" charset="0"/>
              </a:rPr>
              <a:t>, 60–88.</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hlinkClick r:id="rId7" tooltip="https://doi.org/10.1016/j.media.2017.07.005">
                  <a:extLst>
                    <a:ext uri="{A12FA001-AC4F-418D-AE19-62706E023703}">
                      <ahyp:hlinkClr xmlns:ahyp="http://schemas.microsoft.com/office/drawing/2018/hyperlinkcolor" val="tx"/>
                    </a:ext>
                  </a:extLst>
                </a:hlinkClick>
              </a:rPr>
              <a:t>https://doi.org/10.1016/j.media.2017.07.005</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bg1"/>
                </a:solidFill>
                <a:effectLst/>
                <a:latin typeface="Arial" panose="020B0604020202020204" pitchFamily="34" charset="0"/>
              </a:rPr>
              <a:t>Esteva, A., </a:t>
            </a:r>
            <a:r>
              <a:rPr kumimoji="0" lang="en-US" altLang="en-US" sz="1800" b="1" i="0" u="none" strike="noStrike" cap="none" normalizeH="0" baseline="0" dirty="0" err="1">
                <a:ln>
                  <a:noFill/>
                </a:ln>
                <a:solidFill>
                  <a:schemeClr val="bg1"/>
                </a:solidFill>
                <a:effectLst/>
                <a:latin typeface="Arial" panose="020B0604020202020204" pitchFamily="34" charset="0"/>
              </a:rPr>
              <a:t>Kuprel</a:t>
            </a:r>
            <a:r>
              <a:rPr kumimoji="0" lang="en-US" altLang="en-US" sz="1800" b="1" i="0" u="none" strike="noStrike" cap="none" normalizeH="0" baseline="0" dirty="0">
                <a:ln>
                  <a:noFill/>
                </a:ln>
                <a:solidFill>
                  <a:schemeClr val="bg1"/>
                </a:solidFill>
                <a:effectLst/>
                <a:latin typeface="Arial" panose="020B0604020202020204" pitchFamily="34" charset="0"/>
              </a:rPr>
              <a:t>, B., Novoa, R. A., et al. (2017).</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1" u="none" strike="noStrike" cap="none" normalizeH="0" baseline="0" dirty="0">
                <a:ln>
                  <a:noFill/>
                </a:ln>
                <a:solidFill>
                  <a:schemeClr val="bg1"/>
                </a:solidFill>
                <a:effectLst/>
                <a:latin typeface="Arial" panose="020B0604020202020204" pitchFamily="34" charset="0"/>
              </a:rPr>
              <a:t>Dermatologist-level Classification of Skin Cancer with Deep Neural Networks.</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1" i="0" u="none" strike="noStrike" cap="none" normalizeH="0" baseline="0" dirty="0">
                <a:ln>
                  <a:noFill/>
                </a:ln>
                <a:solidFill>
                  <a:schemeClr val="bg1"/>
                </a:solidFill>
                <a:effectLst/>
                <a:latin typeface="Arial" panose="020B0604020202020204" pitchFamily="34" charset="0"/>
              </a:rPr>
              <a:t>Nature, 542</a:t>
            </a:r>
            <a:r>
              <a:rPr kumimoji="0" lang="en-US" altLang="en-US" sz="1800" b="0" i="0" u="none" strike="noStrike" cap="none" normalizeH="0" baseline="0" dirty="0">
                <a:ln>
                  <a:noFill/>
                </a:ln>
                <a:solidFill>
                  <a:schemeClr val="bg1"/>
                </a:solidFill>
                <a:effectLst/>
                <a:latin typeface="Arial" panose="020B0604020202020204" pitchFamily="34" charset="0"/>
              </a:rPr>
              <a:t>, 115–118.</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hlinkClick r:id="rId8" tooltip="https://doi.org/10.1038/nature21056">
                  <a:extLst>
                    <a:ext uri="{A12FA001-AC4F-418D-AE19-62706E023703}">
                      <ahyp:hlinkClr xmlns:ahyp="http://schemas.microsoft.com/office/drawing/2018/hyperlinkcolor" val="tx"/>
                    </a:ext>
                  </a:extLst>
                </a:hlinkClick>
              </a:rPr>
              <a:t>https://doi.org/10.1038/nature21056</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bg1"/>
                </a:solidFill>
                <a:effectLst/>
                <a:latin typeface="Arial" panose="020B0604020202020204" pitchFamily="34" charset="0"/>
              </a:rPr>
              <a:t>Shen, D., Wu, G., &amp; Suk, H. I. (2017).</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1" u="none" strike="noStrike" cap="none" normalizeH="0" baseline="0" dirty="0">
                <a:ln>
                  <a:noFill/>
                </a:ln>
                <a:solidFill>
                  <a:schemeClr val="bg1"/>
                </a:solidFill>
                <a:effectLst/>
                <a:latin typeface="Arial" panose="020B0604020202020204" pitchFamily="34" charset="0"/>
              </a:rPr>
              <a:t>Deep Learning in Medical Image Analysis.</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1" i="0" u="none" strike="noStrike" cap="none" normalizeH="0" baseline="0" dirty="0">
                <a:ln>
                  <a:noFill/>
                </a:ln>
                <a:solidFill>
                  <a:schemeClr val="bg1"/>
                </a:solidFill>
                <a:effectLst/>
                <a:latin typeface="Arial" panose="020B0604020202020204" pitchFamily="34" charset="0"/>
              </a:rPr>
              <a:t>Annual Review of Biomedical Engineering, 19</a:t>
            </a:r>
            <a:r>
              <a:rPr kumimoji="0" lang="en-US" altLang="en-US" sz="1800" b="0" i="0" u="none" strike="noStrike" cap="none" normalizeH="0" baseline="0" dirty="0">
                <a:ln>
                  <a:noFill/>
                </a:ln>
                <a:solidFill>
                  <a:schemeClr val="bg1"/>
                </a:solidFill>
                <a:effectLst/>
                <a:latin typeface="Arial" panose="020B0604020202020204" pitchFamily="34" charset="0"/>
              </a:rPr>
              <a:t>, 221–248.</a:t>
            </a: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hlinkClick r:id="rId9" tooltip="https://doi.org/10.1146/annurev-bioeng-071516-044442">
                  <a:extLst>
                    <a:ext uri="{A12FA001-AC4F-418D-AE19-62706E023703}">
                      <ahyp:hlinkClr xmlns:ahyp="http://schemas.microsoft.com/office/drawing/2018/hyperlinkcolor" val="tx"/>
                    </a:ext>
                  </a:extLst>
                </a:hlinkClick>
              </a:rPr>
              <a:t>https://doi.org/10.1146/annurev-bioeng-071516-044442</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9" name="Slide Number Placeholder 8">
            <a:extLst>
              <a:ext uri="{FF2B5EF4-FFF2-40B4-BE49-F238E27FC236}">
                <a16:creationId xmlns:a16="http://schemas.microsoft.com/office/drawing/2014/main" id="{92FA153C-3D87-521D-8094-57E39E1324AF}"/>
              </a:ext>
            </a:extLst>
          </p:cNvPr>
          <p:cNvSpPr>
            <a:spLocks noGrp="1"/>
          </p:cNvSpPr>
          <p:nvPr>
            <p:ph type="sldNum" sz="quarter" idx="12"/>
          </p:nvPr>
        </p:nvSpPr>
        <p:spPr>
          <a:xfrm>
            <a:off x="15773400" y="9410700"/>
            <a:ext cx="2133600" cy="365125"/>
          </a:xfrm>
        </p:spPr>
        <p:txBody>
          <a:bodyPr/>
          <a:lstStyle/>
          <a:p>
            <a:fld id="{B6F15528-21DE-4FAA-801E-634DDDAF4B2B}" type="slidenum">
              <a:rPr lang="en-US" sz="1400" b="1" smtClean="0">
                <a:solidFill>
                  <a:schemeClr val="bg1"/>
                </a:solidFill>
                <a:latin typeface="Canva Sans" panose="020B0604020202020204" charset="0"/>
              </a:rPr>
              <a:t>19</a:t>
            </a:fld>
            <a:endParaRPr lang="en-US" b="1" dirty="0">
              <a:solidFill>
                <a:schemeClr val="bg1"/>
              </a:solidFill>
              <a:latin typeface="Canva Sans" panose="020B0604020202020204" charset="0"/>
            </a:endParaRPr>
          </a:p>
        </p:txBody>
      </p:sp>
    </p:spTree>
    <p:extLst>
      <p:ext uri="{BB962C8B-B14F-4D97-AF65-F5344CB8AC3E}">
        <p14:creationId xmlns:p14="http://schemas.microsoft.com/office/powerpoint/2010/main" val="194636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323139" y="3657841"/>
            <a:ext cx="8237284" cy="2971317"/>
            <a:chOff x="0" y="0"/>
            <a:chExt cx="10983045" cy="3961757"/>
          </a:xfrm>
        </p:grpSpPr>
        <p:sp>
          <p:nvSpPr>
            <p:cNvPr id="3" name="Freeform 3"/>
            <p:cNvSpPr/>
            <p:nvPr/>
          </p:nvSpPr>
          <p:spPr>
            <a:xfrm>
              <a:off x="0" y="0"/>
              <a:ext cx="10983045" cy="3961757"/>
            </a:xfrm>
            <a:custGeom>
              <a:avLst/>
              <a:gdLst/>
              <a:ahLst/>
              <a:cxnLst/>
              <a:rect l="l" t="t" r="r" b="b"/>
              <a:pathLst>
                <a:path w="10983045" h="3961757">
                  <a:moveTo>
                    <a:pt x="0" y="0"/>
                  </a:moveTo>
                  <a:lnTo>
                    <a:pt x="10983045" y="0"/>
                  </a:lnTo>
                  <a:lnTo>
                    <a:pt x="10983045" y="3961757"/>
                  </a:lnTo>
                  <a:lnTo>
                    <a:pt x="0" y="3961757"/>
                  </a:lnTo>
                  <a:close/>
                </a:path>
              </a:pathLst>
            </a:custGeom>
            <a:solidFill>
              <a:srgbClr val="000000">
                <a:alpha val="0"/>
              </a:srgbClr>
            </a:solidFill>
          </p:spPr>
          <p:txBody>
            <a:bodyPr/>
            <a:lstStyle/>
            <a:p>
              <a:endParaRPr lang="en-US"/>
            </a:p>
          </p:txBody>
        </p:sp>
        <p:sp>
          <p:nvSpPr>
            <p:cNvPr id="4" name="TextBox 4"/>
            <p:cNvSpPr txBox="1"/>
            <p:nvPr/>
          </p:nvSpPr>
          <p:spPr>
            <a:xfrm>
              <a:off x="0" y="-9525"/>
              <a:ext cx="10983045" cy="3971282"/>
            </a:xfrm>
            <a:prstGeom prst="rect">
              <a:avLst/>
            </a:prstGeom>
          </p:spPr>
          <p:txBody>
            <a:bodyPr lIns="0" tIns="0" rIns="0" bIns="0" rtlCol="0" anchor="ctr"/>
            <a:lstStyle/>
            <a:p>
              <a:pPr algn="ctr">
                <a:lnSpc>
                  <a:spcPts val="6720"/>
                </a:lnSpc>
              </a:pPr>
              <a:r>
                <a:rPr lang="en-US" sz="5600" b="1">
                  <a:solidFill>
                    <a:srgbClr val="FFFFFF"/>
                  </a:solidFill>
                  <a:latin typeface="Fira Sans Bold"/>
                  <a:ea typeface="Fira Sans Bold"/>
                  <a:cs typeface="Fira Sans Bold"/>
                  <a:sym typeface="Fira Sans Bold"/>
                </a:rPr>
                <a:t>Discussion </a:t>
              </a:r>
            </a:p>
            <a:p>
              <a:pPr algn="ctr">
                <a:lnSpc>
                  <a:spcPts val="6720"/>
                </a:lnSpc>
              </a:pPr>
              <a:r>
                <a:rPr lang="en-US" sz="5600" b="1">
                  <a:solidFill>
                    <a:srgbClr val="FFFFFF"/>
                  </a:solidFill>
                  <a:latin typeface="Fira Sans Bold"/>
                  <a:ea typeface="Fira Sans Bold"/>
                  <a:cs typeface="Fira Sans Bold"/>
                  <a:sym typeface="Fira Sans Bold"/>
                </a:rPr>
                <a:t>and </a:t>
              </a:r>
            </a:p>
            <a:p>
              <a:pPr algn="ctr">
                <a:lnSpc>
                  <a:spcPts val="6720"/>
                </a:lnSpc>
              </a:pPr>
              <a:r>
                <a:rPr lang="en-US" sz="5600" b="1">
                  <a:solidFill>
                    <a:srgbClr val="FFFFFF"/>
                  </a:solidFill>
                  <a:latin typeface="Fira Sans Bold"/>
                  <a:ea typeface="Fira Sans Bold"/>
                  <a:cs typeface="Fira Sans Bold"/>
                  <a:sym typeface="Fira Sans Bold"/>
                </a:rPr>
                <a:t>Questions</a:t>
              </a:r>
            </a:p>
          </p:txBody>
        </p:sp>
      </p:grpSp>
      <p:sp>
        <p:nvSpPr>
          <p:cNvPr id="5" name="Freeform 5"/>
          <p:cNvSpPr/>
          <p:nvPr/>
        </p:nvSpPr>
        <p:spPr>
          <a:xfrm>
            <a:off x="10560424" y="1965021"/>
            <a:ext cx="6356958" cy="6356958"/>
          </a:xfrm>
          <a:custGeom>
            <a:avLst/>
            <a:gdLst/>
            <a:ahLst/>
            <a:cxnLst/>
            <a:rect l="l" t="t" r="r" b="b"/>
            <a:pathLst>
              <a:path w="6356958" h="6356958">
                <a:moveTo>
                  <a:pt x="0" y="0"/>
                </a:moveTo>
                <a:lnTo>
                  <a:pt x="6356958" y="0"/>
                </a:lnTo>
                <a:lnTo>
                  <a:pt x="6356958" y="6356958"/>
                </a:lnTo>
                <a:lnTo>
                  <a:pt x="0" y="6356958"/>
                </a:lnTo>
                <a:lnTo>
                  <a:pt x="0" y="0"/>
                </a:lnTo>
                <a:close/>
              </a:path>
            </a:pathLst>
          </a:custGeom>
          <a:blipFill>
            <a:blip r:embed="rId3"/>
            <a:stretch>
              <a:fillRect/>
            </a:stretch>
          </a:blipFill>
        </p:spPr>
        <p:txBody>
          <a:bodyPr/>
          <a:lstStyle/>
          <a:p>
            <a:endParaRPr lang="en-US"/>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11</a:t>
            </a:r>
          </a:p>
        </p:txBody>
      </p:sp>
      <p:sp>
        <p:nvSpPr>
          <p:cNvPr id="8" name="Slide Number Placeholder 7">
            <a:extLst>
              <a:ext uri="{FF2B5EF4-FFF2-40B4-BE49-F238E27FC236}">
                <a16:creationId xmlns:a16="http://schemas.microsoft.com/office/drawing/2014/main" id="{73813D5F-B3B9-0872-2296-B90DEA32FF15}"/>
              </a:ext>
            </a:extLst>
          </p:cNvPr>
          <p:cNvSpPr>
            <a:spLocks noGrp="1"/>
          </p:cNvSpPr>
          <p:nvPr>
            <p:ph type="sldNum" sz="quarter" idx="12"/>
          </p:nvPr>
        </p:nvSpPr>
        <p:spPr>
          <a:xfrm>
            <a:off x="15850582" y="9420726"/>
            <a:ext cx="2133600" cy="365125"/>
          </a:xfrm>
        </p:spPr>
        <p:txBody>
          <a:bodyPr/>
          <a:lstStyle/>
          <a:p>
            <a:fld id="{B6F15528-21DE-4FAA-801E-634DDDAF4B2B}" type="slidenum">
              <a:rPr lang="en-US" sz="1400" b="1" smtClean="0">
                <a:solidFill>
                  <a:schemeClr val="bg1"/>
                </a:solidFill>
                <a:latin typeface="Canva Sans" panose="020B0604020202020204" charset="0"/>
              </a:rPr>
              <a:t>20</a:t>
            </a:fld>
            <a:endParaRPr lang="en-US" b="1" dirty="0">
              <a:solidFill>
                <a:schemeClr val="bg1"/>
              </a:solidFill>
              <a:latin typeface="Canva Sans" panose="020B06040202020202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221</TotalTime>
  <Words>4484</Words>
  <Application>Microsoft Macintosh PowerPoint</Application>
  <PresentationFormat>Custom</PresentationFormat>
  <Paragraphs>414</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Calibri</vt:lpstr>
      <vt:lpstr>Canva Sans</vt:lpstr>
      <vt:lpstr>Fira Sans Bold</vt:lpstr>
      <vt:lpstr>Aptos</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Infographics by Slidesgo.pptx</dc:title>
  <dc:creator/>
  <cp:lastModifiedBy>Siddartha Bandi</cp:lastModifiedBy>
  <cp:revision>15</cp:revision>
  <dcterms:created xsi:type="dcterms:W3CDTF">2025-09-25T14:44:57Z</dcterms:created>
  <dcterms:modified xsi:type="dcterms:W3CDTF">2025-10-16T20:41:56Z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08DA77FADD13414D6955D56858FC169B_42</vt:lpwstr>
  </property>
  <property fmtid="{D5CDD505-2E9C-101B-9397-08002B2CF9AE}" pid="3" name="KSOProductBuildVer">
    <vt:lpwstr>1033-12.1.22533.22533</vt:lpwstr>
  </property>
</Properties>
</file>